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737360"/>
            <a:ext cx="9692640" cy="365760"/>
          </a:xfrm>
          <a:prstGeom prst="rect">
            <a:avLst/>
          </a:prstGeom>
          <a:noFill/>
        </p:spPr>
        <p:txBody>
          <a:bodyPr wrap="square" lIns="0" rIns="0" tIns="0" bIns="0">
            <a:spAutoFit/>
          </a:bodyPr>
          <a:lstStyle/>
          <a:p>
            <a:r>
              <a:rPr sz="1300" b="1" i="0">
                <a:solidFill>
                  <a:srgbClr val="17605B"/>
                </a:solidFill>
                <a:latin typeface="Segoe UI"/>
              </a:rPr>
              <a:t>ZERO-KNOWLEDGE PROOF OF TRAINING</a:t>
            </a:r>
          </a:p>
        </p:txBody>
      </p:sp>
      <p:sp>
        <p:nvSpPr>
          <p:cNvPr id="4" name="TextBox 3"/>
          <p:cNvSpPr txBox="1"/>
          <p:nvPr/>
        </p:nvSpPr>
        <p:spPr>
          <a:xfrm>
            <a:off x="1005840" y="2148840"/>
            <a:ext cx="9509760" cy="1645920"/>
          </a:xfrm>
          <a:prstGeom prst="rect">
            <a:avLst/>
          </a:prstGeom>
          <a:noFill/>
        </p:spPr>
        <p:txBody>
          <a:bodyPr wrap="square" lIns="0" rIns="0" tIns="0" bIns="0">
            <a:spAutoFit/>
          </a:bodyPr>
          <a:lstStyle/>
          <a:p>
            <a:pPr>
              <a:lnSpc>
                <a:spcPct val="105000"/>
              </a:lnSpc>
            </a:pPr>
            <a:r>
              <a:rPr sz="4000" b="1" i="0">
                <a:solidFill>
                  <a:srgbClr val="141821"/>
                </a:solidFill>
                <a:latin typeface="Segoe UI"/>
              </a:rPr>
              <a:t>Bằng chứng cho một lượt
huấn luyện Offline DQN</a:t>
            </a:r>
          </a:p>
        </p:txBody>
      </p:sp>
      <p:sp>
        <p:nvSpPr>
          <p:cNvPr id="5" name="TextBox 4"/>
          <p:cNvSpPr txBox="1"/>
          <p:nvPr/>
        </p:nvSpPr>
        <p:spPr>
          <a:xfrm>
            <a:off x="1005840" y="3794760"/>
            <a:ext cx="8595360" cy="822960"/>
          </a:xfrm>
          <a:prstGeom prst="rect">
            <a:avLst/>
          </a:prstGeom>
          <a:noFill/>
        </p:spPr>
        <p:txBody>
          <a:bodyPr wrap="square" lIns="0" rIns="0" tIns="0" bIns="0">
            <a:spAutoFit/>
          </a:bodyPr>
          <a:lstStyle/>
          <a:p>
            <a:pPr>
              <a:lnSpc>
                <a:spcPct val="130000"/>
              </a:lnSpc>
            </a:pPr>
            <a:r>
              <a:rPr sz="1500" b="0" i="0">
                <a:solidFill>
                  <a:srgbClr val="39424F"/>
                </a:solidFill>
                <a:latin typeface="Segoe UI"/>
              </a:rPr>
              <a:t>Chứng minh bằng mật mã rằng một chính sách điều khiển đã được huấn luyện đúng quy trình, trên đúng dữ liệu đã cam kết — mà không tiết lộ dữ liệu.</a:t>
            </a:r>
          </a:p>
        </p:txBody>
      </p:sp>
      <p:sp>
        <p:nvSpPr>
          <p:cNvPr id="6" name="Rectangle 5"/>
          <p:cNvSpPr/>
          <p:nvPr/>
        </p:nvSpPr>
        <p:spPr>
          <a:xfrm>
            <a:off x="1005840" y="4892040"/>
            <a:ext cx="9326880" cy="127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5166360"/>
            <a:ext cx="212598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294376"/>
            <a:ext cx="2125980" cy="457200"/>
          </a:xfrm>
          <a:prstGeom prst="rect">
            <a:avLst/>
          </a:prstGeom>
          <a:noFill/>
        </p:spPr>
        <p:txBody>
          <a:bodyPr wrap="square" lIns="0" rIns="0" tIns="0" bIns="0">
            <a:spAutoFit/>
          </a:bodyPr>
          <a:lstStyle/>
          <a:p>
            <a:r>
              <a:rPr sz="1700" b="1" i="0">
                <a:solidFill>
                  <a:srgbClr val="141821"/>
                </a:solidFill>
                <a:latin typeface="Segoe UI"/>
              </a:rPr>
              <a:t>SP1 6.1.0</a:t>
            </a:r>
          </a:p>
        </p:txBody>
      </p:sp>
      <p:sp>
        <p:nvSpPr>
          <p:cNvPr id="9" name="TextBox 8"/>
          <p:cNvSpPr txBox="1"/>
          <p:nvPr/>
        </p:nvSpPr>
        <p:spPr>
          <a:xfrm>
            <a:off x="1005840" y="5542660"/>
            <a:ext cx="212598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zkVM · STARK · guest RISC-V RV32IM</a:t>
            </a:r>
          </a:p>
        </p:txBody>
      </p:sp>
      <p:sp>
        <p:nvSpPr>
          <p:cNvPr id="10" name="Rectangle 9"/>
          <p:cNvSpPr/>
          <p:nvPr/>
        </p:nvSpPr>
        <p:spPr>
          <a:xfrm>
            <a:off x="3406140" y="5166360"/>
            <a:ext cx="212598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6140" y="5294376"/>
            <a:ext cx="2125980" cy="457200"/>
          </a:xfrm>
          <a:prstGeom prst="rect">
            <a:avLst/>
          </a:prstGeom>
          <a:noFill/>
        </p:spPr>
        <p:txBody>
          <a:bodyPr wrap="square" lIns="0" rIns="0" tIns="0" bIns="0">
            <a:spAutoFit/>
          </a:bodyPr>
          <a:lstStyle/>
          <a:p>
            <a:r>
              <a:rPr sz="1700" b="1" i="0">
                <a:solidFill>
                  <a:srgbClr val="141821"/>
                </a:solidFill>
                <a:latin typeface="Segoe UI"/>
              </a:rPr>
              <a:t>4 lớp · 8 quan hệ</a:t>
            </a:r>
          </a:p>
        </p:txBody>
      </p:sp>
      <p:sp>
        <p:nvSpPr>
          <p:cNvPr id="12" name="TextBox 11"/>
          <p:cNvSpPr txBox="1"/>
          <p:nvPr/>
        </p:nvSpPr>
        <p:spPr>
          <a:xfrm>
            <a:off x="3406140" y="5542660"/>
            <a:ext cx="212598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dữ liệu → quan hệ → backend → gộp</a:t>
            </a:r>
          </a:p>
        </p:txBody>
      </p:sp>
      <p:sp>
        <p:nvSpPr>
          <p:cNvPr id="13" name="Rectangle 12"/>
          <p:cNvSpPr/>
          <p:nvPr/>
        </p:nvSpPr>
        <p:spPr>
          <a:xfrm>
            <a:off x="5806440" y="5166360"/>
            <a:ext cx="212598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5294376"/>
            <a:ext cx="2125980" cy="457200"/>
          </a:xfrm>
          <a:prstGeom prst="rect">
            <a:avLst/>
          </a:prstGeom>
          <a:noFill/>
        </p:spPr>
        <p:txBody>
          <a:bodyPr wrap="square" lIns="0" rIns="0" tIns="0" bIns="0">
            <a:spAutoFit/>
          </a:bodyPr>
          <a:lstStyle/>
          <a:p>
            <a:r>
              <a:rPr sz="1700" b="1" i="0">
                <a:solidFill>
                  <a:srgbClr val="141821"/>
                </a:solidFill>
                <a:latin typeface="Segoe UI"/>
              </a:rPr>
              <a:t>26 cấu hình</a:t>
            </a:r>
          </a:p>
        </p:txBody>
      </p:sp>
      <p:sp>
        <p:nvSpPr>
          <p:cNvPr id="15" name="TextBox 14"/>
          <p:cNvSpPr txBox="1"/>
          <p:nvPr/>
        </p:nvSpPr>
        <p:spPr>
          <a:xfrm>
            <a:off x="5806440" y="5542660"/>
            <a:ext cx="212598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đã prove và verify, tất cả dưới một prover</a:t>
            </a:r>
          </a:p>
        </p:txBody>
      </p:sp>
      <p:sp>
        <p:nvSpPr>
          <p:cNvPr id="16" name="Rectangle 15"/>
          <p:cNvSpPr/>
          <p:nvPr/>
        </p:nvSpPr>
        <p:spPr>
          <a:xfrm>
            <a:off x="8206740" y="5166360"/>
            <a:ext cx="212598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6740" y="5294376"/>
            <a:ext cx="2125980" cy="457200"/>
          </a:xfrm>
          <a:prstGeom prst="rect">
            <a:avLst/>
          </a:prstGeom>
          <a:noFill/>
        </p:spPr>
        <p:txBody>
          <a:bodyPr wrap="square" lIns="0" rIns="0" tIns="0" bIns="0">
            <a:spAutoFit/>
          </a:bodyPr>
          <a:lstStyle/>
          <a:p>
            <a:r>
              <a:rPr sz="1700" b="1" i="0">
                <a:solidFill>
                  <a:srgbClr val="141821"/>
                </a:solidFill>
                <a:latin typeface="Segoe UI"/>
              </a:rPr>
              <a:t>4.992 bước</a:t>
            </a:r>
          </a:p>
        </p:txBody>
      </p:sp>
      <p:sp>
        <p:nvSpPr>
          <p:cNvPr id="18" name="TextBox 17"/>
          <p:cNvSpPr txBox="1"/>
          <p:nvPr/>
        </p:nvSpPr>
        <p:spPr>
          <a:xfrm>
            <a:off x="8206740" y="5542660"/>
            <a:ext cx="212598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một lượt huấn luyện dưới một proof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Rectangle 13"/>
          <p:cNvSpPr/>
          <p:nvPr/>
        </p:nvSpPr>
        <p:spPr>
          <a:xfrm>
            <a:off x="6400800" y="4472812"/>
            <a:ext cx="5120640" cy="842644"/>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4472812"/>
            <a:ext cx="38100" cy="84264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410712"/>
            <a:ext cx="5120640" cy="842644"/>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3410712"/>
            <a:ext cx="38100" cy="842644"/>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BỐI CẢNH</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Nộp mô hình thì không ai kiểm được gì</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Một công ty nộp cho cơ quan quản lý một chính sách điều khiển đã huấn luyện.</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a:t>
            </a:r>
          </a:p>
        </p:txBody>
      </p:sp>
      <p:sp>
        <p:nvSpPr>
          <p:cNvPr id="7" name="TextBox 6"/>
          <p:cNvSpPr txBox="1"/>
          <p:nvPr/>
        </p:nvSpPr>
        <p:spPr>
          <a:xfrm>
            <a:off x="658368" y="1965960"/>
            <a:ext cx="5212080" cy="365760"/>
          </a:xfrm>
          <a:prstGeom prst="rect">
            <a:avLst/>
          </a:prstGeom>
          <a:noFill/>
        </p:spPr>
        <p:txBody>
          <a:bodyPr wrap="square" lIns="0" rIns="0" tIns="0" bIns="0">
            <a:spAutoFit/>
          </a:bodyPr>
          <a:lstStyle/>
          <a:p>
            <a:pPr>
              <a:lnSpc>
                <a:spcPct val="124000"/>
              </a:lnSpc>
              <a:spcAft>
                <a:spcPts val="600"/>
              </a:spcAft>
            </a:pPr>
            <a:r>
              <a:rPr sz="1350" b="1" i="0">
                <a:solidFill>
                  <a:srgbClr val="141821"/>
                </a:solidFill>
                <a:latin typeface="Segoe UI"/>
              </a:rPr>
              <a:t>Chính sách</a:t>
            </a:r>
            <a:r>
              <a:rPr sz="1350" b="0" i="0">
                <a:solidFill>
                  <a:srgbClr val="39424F"/>
                </a:solidFill>
                <a:latin typeface="Segoe UI"/>
              </a:rPr>
              <a:t> = một tệp trọng số mạng nơ-ron, tức quy tắc *tình huống → hành động*: liều thuốc tuần tới cho một bệnh nhân, hay lệnh ga/phanh cho một chiếc xe.</a:t>
            </a:r>
          </a:p>
          <a:p>
            <a:pPr>
              <a:lnSpc>
                <a:spcPct val="124000"/>
              </a:lnSpc>
              <a:spcAft>
                <a:spcPts val="600"/>
              </a:spcAft>
            </a:pPr>
            <a:r>
              <a:rPr sz="1350" b="0" i="0">
                <a:solidFill>
                  <a:srgbClr val="39424F"/>
                </a:solidFill>
                <a:latin typeface="Segoe UI"/>
              </a:rPr>
              <a:t>Nhìn vào tệp trọng số, </a:t>
            </a:r>
            <a:r>
              <a:rPr sz="1350" b="1" i="0">
                <a:solidFill>
                  <a:srgbClr val="141821"/>
                </a:solidFill>
                <a:latin typeface="Segoe UI"/>
              </a:rPr>
              <a:t>không ai đọc ra được nó được huấn luyện thế nào</a:t>
            </a:r>
            <a:r>
              <a:rPr sz="1350" b="0" i="0">
                <a:solidFill>
                  <a:srgbClr val="39424F"/>
                </a:solidFill>
                <a:latin typeface="Segoe UI"/>
              </a:rPr>
              <a:t> — y như nhìn pho tượng không đọc ra được người thợ đã đục thế nào.</a:t>
            </a:r>
          </a:p>
        </p:txBody>
      </p:sp>
      <p:sp>
        <p:nvSpPr>
          <p:cNvPr id="8" name="TextBox 7"/>
          <p:cNvSpPr txBox="1"/>
          <p:nvPr/>
        </p:nvSpPr>
        <p:spPr>
          <a:xfrm>
            <a:off x="658368" y="3200400"/>
            <a:ext cx="5212080" cy="365760"/>
          </a:xfrm>
          <a:prstGeom prst="rect">
            <a:avLst/>
          </a:prstGeom>
          <a:noFill/>
        </p:spPr>
        <p:txBody>
          <a:bodyPr wrap="square" lIns="0" rIns="0" tIns="0" bIns="0">
            <a:spAutoFit/>
          </a:bodyPr>
          <a:lstStyle/>
          <a:p>
            <a:pPr>
              <a:lnSpc>
                <a:spcPct val="122000"/>
              </a:lnSpc>
              <a:spcAft>
                <a:spcPts val="700"/>
              </a:spcAft>
            </a:pPr>
            <a:r>
              <a:rPr sz="1350" b="1" i="0">
                <a:solidFill>
                  <a:srgbClr val="17605B"/>
                </a:solidFill>
                <a:latin typeface="Segoe UI"/>
              </a:rPr>
              <a:t>—  </a:t>
            </a:r>
            <a:r>
              <a:rPr sz="1350" b="0" i="0">
                <a:solidFill>
                  <a:srgbClr val="39424F"/>
                </a:solidFill>
                <a:latin typeface="Segoe UI"/>
              </a:rPr>
              <a:t>Sửa </a:t>
            </a:r>
            <a:r>
              <a:rPr sz="1350" b="1" i="0">
                <a:solidFill>
                  <a:srgbClr val="141821"/>
                </a:solidFill>
                <a:latin typeface="Segoe UI"/>
              </a:rPr>
              <a:t>phần thưởng</a:t>
            </a:r>
            <a:r>
              <a:rPr sz="1350" b="0" i="0">
                <a:solidFill>
                  <a:srgbClr val="39424F"/>
                </a:solidFill>
                <a:latin typeface="Segoe UI"/>
              </a:rPr>
              <a:t> → mô hình học một thế giới đẹp hơn thế giới thật</a:t>
            </a:r>
          </a:p>
          <a:p>
            <a:pPr>
              <a:lnSpc>
                <a:spcPct val="122000"/>
              </a:lnSpc>
              <a:spcAft>
                <a:spcPts val="700"/>
              </a:spcAft>
            </a:pPr>
            <a:r>
              <a:rPr sz="1350" b="1" i="0">
                <a:solidFill>
                  <a:srgbClr val="17605B"/>
                </a:solidFill>
                <a:latin typeface="Segoe UI"/>
              </a:rPr>
              <a:t>—  </a:t>
            </a:r>
            <a:r>
              <a:rPr sz="1350" b="0" i="0">
                <a:solidFill>
                  <a:srgbClr val="39424F"/>
                </a:solidFill>
                <a:latin typeface="Segoe UI"/>
              </a:rPr>
              <a:t>Xoá </a:t>
            </a:r>
            <a:r>
              <a:rPr sz="1350" b="1" i="0">
                <a:solidFill>
                  <a:srgbClr val="141821"/>
                </a:solidFill>
                <a:latin typeface="Segoe UI"/>
              </a:rPr>
              <a:t>cờ kết thúc</a:t>
            </a:r>
            <a:r>
              <a:rPr sz="1350" b="0" i="0">
                <a:solidFill>
                  <a:srgbClr val="39424F"/>
                </a:solidFill>
                <a:latin typeface="Segoe UI"/>
              </a:rPr>
              <a:t> → mọi lần thất bại biến mất khỏi dữ liệu</a:t>
            </a:r>
          </a:p>
          <a:p>
            <a:pPr>
              <a:lnSpc>
                <a:spcPct val="122000"/>
              </a:lnSpc>
              <a:spcAft>
                <a:spcPts val="700"/>
              </a:spcAft>
            </a:pPr>
            <a:r>
              <a:rPr sz="1350" b="1" i="0">
                <a:solidFill>
                  <a:srgbClr val="17605B"/>
                </a:solidFill>
                <a:latin typeface="Segoe UI"/>
              </a:rPr>
              <a:t>—  </a:t>
            </a:r>
            <a:r>
              <a:rPr sz="1350" b="0" i="0">
                <a:solidFill>
                  <a:srgbClr val="39424F"/>
                </a:solidFill>
                <a:latin typeface="Segoe UI"/>
              </a:rPr>
              <a:t>Thay </a:t>
            </a:r>
            <a:r>
              <a:rPr sz="1350" b="1" i="0">
                <a:solidFill>
                  <a:srgbClr val="141821"/>
                </a:solidFill>
                <a:latin typeface="Segoe UI"/>
              </a:rPr>
              <a:t>giá trị mục tiêu</a:t>
            </a:r>
            <a:r>
              <a:rPr sz="1350" b="0" i="0">
                <a:solidFill>
                  <a:srgbClr val="39424F"/>
                </a:solidFill>
                <a:latin typeface="Segoe UI"/>
              </a:rPr>
              <a:t> → sai số trông nhỏ đi</a:t>
            </a:r>
          </a:p>
          <a:p>
            <a:pPr>
              <a:lnSpc>
                <a:spcPct val="122000"/>
              </a:lnSpc>
              <a:spcAft>
                <a:spcPts val="700"/>
              </a:spcAft>
            </a:pPr>
            <a:r>
              <a:rPr sz="1350" b="1" i="0">
                <a:solidFill>
                  <a:srgbClr val="17605B"/>
                </a:solidFill>
                <a:latin typeface="Segoe UI"/>
              </a:rPr>
              <a:t>—  </a:t>
            </a:r>
            <a:r>
              <a:rPr sz="1350" b="0" i="0">
                <a:solidFill>
                  <a:srgbClr val="39424F"/>
                </a:solidFill>
                <a:latin typeface="Segoe UI"/>
              </a:rPr>
              <a:t>Sửa </a:t>
            </a:r>
            <a:r>
              <a:rPr sz="1350" b="1" i="0">
                <a:solidFill>
                  <a:srgbClr val="141821"/>
                </a:solidFill>
                <a:latin typeface="Segoe UI"/>
              </a:rPr>
              <a:t>gradient</a:t>
            </a:r>
            <a:r>
              <a:rPr sz="1350" b="0" i="0">
                <a:solidFill>
                  <a:srgbClr val="39424F"/>
                </a:solidFill>
                <a:latin typeface="Segoe UI"/>
              </a:rPr>
              <a:t> → can thiệp thẳng vào mô hình</a:t>
            </a:r>
          </a:p>
        </p:txBody>
      </p:sp>
      <p:graphicFrame>
        <p:nvGraphicFramePr>
          <p:cNvPr id="9" name="Table 8"/>
          <p:cNvGraphicFramePr>
            <a:graphicFrameLocks noGrp="1"/>
          </p:cNvGraphicFramePr>
          <p:nvPr/>
        </p:nvGraphicFramePr>
        <p:xfrm>
          <a:off x="6400800" y="1965960"/>
          <a:ext cx="5120640" cy="1170432"/>
        </p:xfrm>
        <a:graphic>
          <a:graphicData uri="http://schemas.openxmlformats.org/drawingml/2006/table">
            <a:tbl>
              <a:tblPr bandRow="1">
                <a:tableStyleId>{5C22544A-7EE6-4342-B048-85BDC9FD1C3A}</a:tableStyleId>
              </a:tblPr>
              <a:tblGrid>
                <a:gridCol w="2048256"/>
                <a:gridCol w="3072384"/>
              </a:tblGrid>
              <a:tr h="292608">
                <a:tc>
                  <a:txBody>
                    <a:bodyPr/>
                    <a:lstStyle/>
                    <a:p>
                      <a:r>
                        <a:rPr sz="950" b="1" i="0">
                          <a:solidFill>
                            <a:srgbClr val="6B7581"/>
                          </a:solidFill>
                          <a:latin typeface="Segoe UI"/>
                        </a:rPr>
                        <a:t>CÁCH KIỂM HIỂN NHIÊN</a:t>
                      </a:r>
                    </a:p>
                  </a:txBody>
                  <a:tcPr marL="64008" marR="64008" marT="27432" marB="27432" anchor="ctr">
                    <a:solidFill>
                      <a:srgbClr val="FFFFFF"/>
                    </a:solidFill>
                  </a:tcPr>
                </a:tc>
                <a:tc>
                  <a:txBody>
                    <a:bodyPr/>
                    <a:lstStyle/>
                    <a:p>
                      <a:r>
                        <a:rPr sz="950" b="1" i="0">
                          <a:solidFill>
                            <a:srgbClr val="6B7581"/>
                          </a:solidFill>
                          <a:latin typeface="Segoe UI"/>
                        </a:rPr>
                        <a:t>VÌ SAO HỎNG</a:t>
                      </a:r>
                    </a:p>
                  </a:txBody>
                  <a:tcPr marL="64008" marR="64008" marT="27432" marB="27432" anchor="ctr">
                    <a:solidFill>
                      <a:srgbClr val="FFFFFF"/>
                    </a:solidFill>
                  </a:tcPr>
                </a:tc>
              </a:tr>
              <a:tr h="292608">
                <a:tc>
                  <a:txBody>
                    <a:bodyPr/>
                    <a:lstStyle/>
                    <a:p>
                      <a:r>
                        <a:rPr sz="1100" b="0" i="0">
                          <a:solidFill>
                            <a:srgbClr val="39424F"/>
                          </a:solidFill>
                          <a:latin typeface="Segoe UI"/>
                        </a:rPr>
                        <a:t>Chỉ nộp mô hình cuối</a:t>
                      </a:r>
                    </a:p>
                  </a:txBody>
                  <a:tcPr marL="64008" marR="64008" marT="27432" marB="27432" anchor="ctr">
                    <a:solidFill>
                      <a:srgbClr val="FFFFFF"/>
                    </a:solidFill>
                  </a:tcPr>
                </a:tc>
                <a:tc>
                  <a:txBody>
                    <a:bodyPr/>
                    <a:lstStyle/>
                    <a:p>
                      <a:r>
                        <a:rPr sz="1100" b="0" i="0">
                          <a:solidFill>
                            <a:srgbClr val="39424F"/>
                          </a:solidFill>
                          <a:latin typeface="Segoe UI"/>
                        </a:rPr>
                        <a:t>không kiểm được gì cả</a:t>
                      </a:r>
                    </a:p>
                  </a:txBody>
                  <a:tcPr marL="64008" marR="64008" marT="27432" marB="27432" anchor="ctr">
                    <a:solidFill>
                      <a:srgbClr val="FFFFFF"/>
                    </a:solidFill>
                  </a:tcPr>
                </a:tc>
              </a:tr>
              <a:tr h="292608">
                <a:tc>
                  <a:txBody>
                    <a:bodyPr/>
                    <a:lstStyle/>
                    <a:p>
                      <a:r>
                        <a:rPr sz="1100" b="0" i="0">
                          <a:solidFill>
                            <a:srgbClr val="39424F"/>
                          </a:solidFill>
                          <a:latin typeface="Segoe UI"/>
                        </a:rPr>
                        <a:t>Nộp cả dữ liệu + nhật ký</a:t>
                      </a:r>
                    </a:p>
                  </a:txBody>
                  <a:tcPr marL="64008" marR="64008" marT="27432" marB="27432" anchor="ctr">
                    <a:solidFill>
                      <a:srgbClr val="FFFFFF"/>
                    </a:solidFill>
                  </a:tcPr>
                </a:tc>
                <a:tc>
                  <a:txBody>
                    <a:bodyPr/>
                    <a:lstStyle/>
                    <a:p>
                      <a:r>
                        <a:rPr sz="1100" b="0" i="0">
                          <a:solidFill>
                            <a:srgbClr val="39424F"/>
                          </a:solidFill>
                          <a:latin typeface="Segoe UI"/>
                        </a:rPr>
                        <a:t>lộ dữ liệu; tốn đúng bằng chi phí huấn luyện</a:t>
                      </a:r>
                    </a:p>
                  </a:txBody>
                  <a:tcPr marL="64008" marR="64008" marT="27432" marB="27432" anchor="ctr">
                    <a:solidFill>
                      <a:srgbClr val="FFFFFF"/>
                    </a:solidFill>
                  </a:tcPr>
                </a:tc>
              </a:tr>
              <a:tr h="292608">
                <a:tc>
                  <a:txBody>
                    <a:bodyPr/>
                    <a:lstStyle/>
                    <a:p>
                      <a:r>
                        <a:rPr sz="1100" b="0" i="0">
                          <a:solidFill>
                            <a:srgbClr val="39424F"/>
                          </a:solidFill>
                          <a:latin typeface="Segoe UI"/>
                        </a:rPr>
                        <a:t>Chạy thử, chấm điểm</a:t>
                      </a:r>
                    </a:p>
                  </a:txBody>
                  <a:tcPr marL="64008" marR="64008" marT="27432" marB="27432" anchor="ctr">
                    <a:solidFill>
                      <a:srgbClr val="FFFFFF"/>
                    </a:solidFill>
                  </a:tcPr>
                </a:tc>
                <a:tc>
                  <a:txBody>
                    <a:bodyPr/>
                    <a:lstStyle/>
                    <a:p>
                      <a:r>
                        <a:rPr sz="1100" b="0" i="0">
                          <a:solidFill>
                            <a:srgbClr val="39424F"/>
                          </a:solidFill>
                          <a:latin typeface="Segoe UI"/>
                        </a:rPr>
                        <a:t>điểm thi không nói gì về nguồn gốc dữ liệu</a:t>
                      </a:r>
                    </a:p>
                  </a:txBody>
                  <a:tcPr marL="64008" marR="64008" marT="27432" marB="27432" anchor="ctr">
                    <a:solidFill>
                      <a:srgbClr val="FFFFFF"/>
                    </a:solidFill>
                  </a:tcPr>
                </a:tc>
              </a:tr>
            </a:tbl>
          </a:graphicData>
        </a:graphic>
      </p:graphicFrame>
      <p:sp>
        <p:nvSpPr>
          <p:cNvPr id="10" name="TextBox 9"/>
          <p:cNvSpPr txBox="1"/>
          <p:nvPr/>
        </p:nvSpPr>
        <p:spPr>
          <a:xfrm>
            <a:off x="6620256" y="3538728"/>
            <a:ext cx="471830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ĐIỂM CHUNG CỦA BỐN CÁCH GIAN LẬN</a:t>
            </a:r>
          </a:p>
          <a:p>
            <a:pPr>
              <a:lnSpc>
                <a:spcPct val="122000"/>
              </a:lnSpc>
            </a:pPr>
            <a:r>
              <a:rPr sz="1250" b="0" i="0">
                <a:solidFill>
                  <a:srgbClr val="39424F"/>
                </a:solidFill>
                <a:latin typeface="Segoe UI"/>
              </a:rPr>
              <a:t>Kết quả cuối vẫn </a:t>
            </a:r>
            <a:r>
              <a:rPr sz="1250" b="1" i="0">
                <a:solidFill>
                  <a:srgbClr val="141821"/>
                </a:solidFill>
                <a:latin typeface="Segoe UI"/>
              </a:rPr>
              <a:t>tự nhất quán</a:t>
            </a:r>
            <a:r>
              <a:rPr sz="1250" b="0" i="0">
                <a:solidFill>
                  <a:srgbClr val="39424F"/>
                </a:solidFill>
                <a:latin typeface="Segoe UI"/>
              </a:rPr>
              <a:t>. Không có mâu thuẫn nội tại nào để người kiểm bên ngoài phát hiện ra.</a:t>
            </a:r>
          </a:p>
        </p:txBody>
      </p:sp>
      <p:sp>
        <p:nvSpPr>
          <p:cNvPr id="13" name="TextBox 12"/>
          <p:cNvSpPr txBox="1"/>
          <p:nvPr/>
        </p:nvSpPr>
        <p:spPr>
          <a:xfrm>
            <a:off x="6620256" y="4600828"/>
            <a:ext cx="471830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THỨ CẦN CÓ</a:t>
            </a:r>
          </a:p>
          <a:p>
            <a:pPr>
              <a:lnSpc>
                <a:spcPct val="122000"/>
              </a:lnSpc>
            </a:pPr>
            <a:r>
              <a:rPr sz="1250" b="0" i="0">
                <a:solidFill>
                  <a:srgbClr val="39424F"/>
                </a:solidFill>
                <a:latin typeface="Segoe UI"/>
              </a:rPr>
              <a:t>Một cơ chế </a:t>
            </a:r>
            <a:r>
              <a:rPr sz="1250" b="1" i="0">
                <a:solidFill>
                  <a:srgbClr val="141821"/>
                </a:solidFill>
                <a:latin typeface="Segoe UI"/>
              </a:rPr>
              <a:t>kiểm được mà không phải xem</a:t>
            </a:r>
            <a:r>
              <a:rPr sz="1250" b="0" i="0">
                <a:solidFill>
                  <a:srgbClr val="39424F"/>
                </a:solidFill>
                <a:latin typeface="Segoe U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Rectangle 13"/>
          <p:cNvSpPr/>
          <p:nvPr/>
        </p:nvSpPr>
        <p:spPr>
          <a:xfrm>
            <a:off x="6675120" y="4476812"/>
            <a:ext cx="4846320" cy="842644"/>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75120" y="4476812"/>
            <a:ext cx="38100" cy="84264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0" y="3182112"/>
            <a:ext cx="484632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3182112"/>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BỐI CẢNH</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Zero-knowledge proof: bất đối xứng prover / verifier</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Bên A chứng minh “tôi đã thực hiện đúng phép tính này” mà không cho B xem dữ liệu.</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2</a:t>
            </a:r>
          </a:p>
        </p:txBody>
      </p:sp>
      <p:graphicFrame>
        <p:nvGraphicFramePr>
          <p:cNvPr id="7" name="Table 6"/>
          <p:cNvGraphicFramePr>
            <a:graphicFrameLocks noGrp="1"/>
          </p:cNvGraphicFramePr>
          <p:nvPr/>
        </p:nvGraphicFramePr>
        <p:xfrm>
          <a:off x="658368" y="2011680"/>
          <a:ext cx="5486400" cy="1170432"/>
        </p:xfrm>
        <a:graphic>
          <a:graphicData uri="http://schemas.openxmlformats.org/drawingml/2006/table">
            <a:tbl>
              <a:tblPr bandRow="1">
                <a:tableStyleId>{5C22544A-7EE6-4342-B048-85BDC9FD1C3A}</a:tableStyleId>
              </a:tblPr>
              <a:tblGrid>
                <a:gridCol w="1645920"/>
                <a:gridCol w="3840480"/>
              </a:tblGrid>
              <a:tr h="292608">
                <a:tc>
                  <a:txBody>
                    <a:bodyPr/>
                    <a:lstStyle/>
                    <a:p>
                      <a:r>
                        <a:rPr sz="950" b="1" i="0">
                          <a:solidFill>
                            <a:srgbClr val="6B7581"/>
                          </a:solidFill>
                          <a:latin typeface="Segoe UI"/>
                        </a:rPr>
                        <a:t>TÍNH CHẤT</a:t>
                      </a:r>
                    </a:p>
                  </a:txBody>
                  <a:tcPr marL="64008" marR="64008" marT="27432" marB="27432" anchor="ctr">
                    <a:solidFill>
                      <a:srgbClr val="FFFFFF"/>
                    </a:solidFill>
                  </a:tcPr>
                </a:tc>
                <a:tc>
                  <a:txBody>
                    <a:bodyPr/>
                    <a:lstStyle/>
                    <a:p>
                      <a:r>
                        <a:rPr sz="950" b="1" i="0">
                          <a:solidFill>
                            <a:srgbClr val="6B7581"/>
                          </a:solidFill>
                          <a:latin typeface="Segoe UI"/>
                        </a:rPr>
                        <a:t>NGHĨA</a:t>
                      </a:r>
                    </a:p>
                  </a:txBody>
                  <a:tcPr marL="64008" marR="64008" marT="27432" marB="27432" anchor="ctr">
                    <a:solidFill>
                      <a:srgbClr val="FFFFFF"/>
                    </a:solidFill>
                  </a:tcPr>
                </a:tc>
              </a:tr>
              <a:tr h="292608">
                <a:tc>
                  <a:txBody>
                    <a:bodyPr/>
                    <a:lstStyle/>
                    <a:p>
                      <a:r>
                        <a:rPr sz="1100" b="0" i="0">
                          <a:solidFill>
                            <a:srgbClr val="39424F"/>
                          </a:solidFill>
                          <a:latin typeface="Segoe UI"/>
                        </a:rPr>
                        <a:t>Completeness</a:t>
                      </a:r>
                    </a:p>
                  </a:txBody>
                  <a:tcPr marL="64008" marR="64008" marT="27432" marB="27432" anchor="ctr">
                    <a:solidFill>
                      <a:srgbClr val="FFFFFF"/>
                    </a:solidFill>
                  </a:tcPr>
                </a:tc>
                <a:tc>
                  <a:txBody>
                    <a:bodyPr/>
                    <a:lstStyle/>
                    <a:p>
                      <a:r>
                        <a:rPr sz="1100" b="0" i="0">
                          <a:solidFill>
                            <a:srgbClr val="39424F"/>
                          </a:solidFill>
                          <a:latin typeface="Segoe UI"/>
                        </a:rPr>
                        <a:t>trung thực thì bằng chứng luôn được chấp nhận</a:t>
                      </a:r>
                    </a:p>
                  </a:txBody>
                  <a:tcPr marL="64008" marR="64008" marT="27432" marB="27432" anchor="ctr">
                    <a:solidFill>
                      <a:srgbClr val="FFFFFF"/>
                    </a:solidFill>
                  </a:tcPr>
                </a:tc>
              </a:tr>
              <a:tr h="292608">
                <a:tc>
                  <a:txBody>
                    <a:bodyPr/>
                    <a:lstStyle/>
                    <a:p>
                      <a:r>
                        <a:rPr sz="1100" b="0" i="0">
                          <a:solidFill>
                            <a:srgbClr val="39424F"/>
                          </a:solidFill>
                          <a:latin typeface="Segoe UI"/>
                        </a:rPr>
                        <a:t>Soundness</a:t>
                      </a:r>
                    </a:p>
                  </a:txBody>
                  <a:tcPr marL="64008" marR="64008" marT="27432" marB="27432" anchor="ctr">
                    <a:solidFill>
                      <a:srgbClr val="FFFFFF"/>
                    </a:solidFill>
                  </a:tcPr>
                </a:tc>
                <a:tc>
                  <a:txBody>
                    <a:bodyPr/>
                    <a:lstStyle/>
                    <a:p>
                      <a:r>
                        <a:rPr sz="1100" b="0" i="0">
                          <a:solidFill>
                            <a:srgbClr val="39424F"/>
                          </a:solidFill>
                          <a:latin typeface="Segoe UI"/>
                        </a:rPr>
                        <a:t>gian lận thì bị từ chối, trừ xác suất ≈ 2⁻¹⁰⁰</a:t>
                      </a:r>
                    </a:p>
                  </a:txBody>
                  <a:tcPr marL="64008" marR="64008" marT="27432" marB="27432" anchor="ctr">
                    <a:solidFill>
                      <a:srgbClr val="FFFFFF"/>
                    </a:solidFill>
                  </a:tcPr>
                </a:tc>
              </a:tr>
              <a:tr h="292608">
                <a:tc>
                  <a:txBody>
                    <a:bodyPr/>
                    <a:lstStyle/>
                    <a:p>
                      <a:r>
                        <a:rPr sz="1100" b="0" i="0">
                          <a:solidFill>
                            <a:srgbClr val="39424F"/>
                          </a:solidFill>
                          <a:latin typeface="Segoe UI"/>
                        </a:rPr>
                        <a:t>Zero-knowledge</a:t>
                      </a:r>
                    </a:p>
                  </a:txBody>
                  <a:tcPr marL="64008" marR="64008" marT="27432" marB="27432" anchor="ctr">
                    <a:solidFill>
                      <a:srgbClr val="FFFFFF"/>
                    </a:solidFill>
                  </a:tcPr>
                </a:tc>
                <a:tc>
                  <a:txBody>
                    <a:bodyPr/>
                    <a:lstStyle/>
                    <a:p>
                      <a:r>
                        <a:rPr sz="1100" b="0" i="0">
                          <a:solidFill>
                            <a:srgbClr val="39424F"/>
                          </a:solidFill>
                          <a:latin typeface="Segoe UI"/>
                        </a:rPr>
                        <a:t>không rò rỉ gì ngoài chính phát biểu được chứng minh</a:t>
                      </a:r>
                    </a:p>
                  </a:txBody>
                  <a:tcPr marL="64008" marR="64008" marT="27432" marB="27432" anchor="ctr">
                    <a:solidFill>
                      <a:srgbClr val="FFFFFF"/>
                    </a:solidFill>
                  </a:tcPr>
                </a:tc>
              </a:tr>
            </a:tbl>
          </a:graphicData>
        </a:graphic>
      </p:graphicFrame>
      <p:graphicFrame>
        <p:nvGraphicFramePr>
          <p:cNvPr id="8" name="Table 7"/>
          <p:cNvGraphicFramePr>
            <a:graphicFrameLocks noGrp="1"/>
          </p:cNvGraphicFramePr>
          <p:nvPr/>
        </p:nvGraphicFramePr>
        <p:xfrm>
          <a:off x="658368" y="3337560"/>
          <a:ext cx="5486398" cy="877824"/>
        </p:xfrm>
        <a:graphic>
          <a:graphicData uri="http://schemas.openxmlformats.org/drawingml/2006/table">
            <a:tbl>
              <a:tblPr bandRow="1">
                <a:tableStyleId>{5C22544A-7EE6-4342-B048-85BDC9FD1C3A}</a:tableStyleId>
              </a:tblPr>
              <a:tblGrid>
                <a:gridCol w="2493818"/>
                <a:gridCol w="1496290"/>
                <a:gridCol w="1496290"/>
              </a:tblGrid>
              <a:tr h="292608">
                <a:tc>
                  <a:txBody>
                    <a:bodyPr/>
                    <a:lstStyle/>
                    <a:p>
                      <a:r>
                        <a:rPr sz="950" b="1" i="0">
                          <a:solidFill>
                            <a:srgbClr val="6B7581"/>
                          </a:solidFill>
                          <a:latin typeface="Segoe UI"/>
                        </a:rPr>
                        <a:t>VAI</a:t>
                      </a:r>
                    </a:p>
                  </a:txBody>
                  <a:tcPr marL="64008" marR="64008" marT="27432" marB="27432" anchor="ctr">
                    <a:solidFill>
                      <a:srgbClr val="FFFFFF"/>
                    </a:solidFill>
                  </a:tcPr>
                </a:tc>
                <a:tc>
                  <a:txBody>
                    <a:bodyPr/>
                    <a:lstStyle/>
                    <a:p>
                      <a:r>
                        <a:rPr sz="950" b="1" i="0">
                          <a:solidFill>
                            <a:srgbClr val="6B7581"/>
                          </a:solidFill>
                          <a:latin typeface="Segoe UI"/>
                        </a:rPr>
                        <a:t>TÊN</a:t>
                      </a:r>
                    </a:p>
                  </a:txBody>
                  <a:tcPr marL="64008" marR="64008" marT="27432" marB="27432" anchor="ctr">
                    <a:solidFill>
                      <a:srgbClr val="FFFFFF"/>
                    </a:solidFill>
                  </a:tcPr>
                </a:tc>
                <a:tc>
                  <a:txBody>
                    <a:bodyPr/>
                    <a:lstStyle/>
                    <a:p>
                      <a:r>
                        <a:rPr sz="950" b="1" i="0">
                          <a:solidFill>
                            <a:srgbClr val="6B7581"/>
                          </a:solidFill>
                          <a:latin typeface="Segoe UI"/>
                        </a:rPr>
                        <a:t>CHI PHÍ</a:t>
                      </a:r>
                    </a:p>
                  </a:txBody>
                  <a:tcPr marL="64008" marR="64008" marT="27432" marB="27432" anchor="ctr">
                    <a:solidFill>
                      <a:srgbClr val="FFFFFF"/>
                    </a:solidFill>
                  </a:tcPr>
                </a:tc>
              </a:tr>
              <a:tr h="292608">
                <a:tc>
                  <a:txBody>
                    <a:bodyPr/>
                    <a:lstStyle/>
                    <a:p>
                      <a:r>
                        <a:rPr sz="1100" b="0" i="0">
                          <a:solidFill>
                            <a:srgbClr val="39424F"/>
                          </a:solidFill>
                          <a:latin typeface="Segoe UI"/>
                        </a:rPr>
                        <a:t>Bên tính toán, tạo bằng chứng</a:t>
                      </a:r>
                    </a:p>
                  </a:txBody>
                  <a:tcPr marL="64008" marR="64008" marT="27432" marB="27432" anchor="ctr">
                    <a:solidFill>
                      <a:srgbClr val="FFFFFF"/>
                    </a:solidFill>
                  </a:tcPr>
                </a:tc>
                <a:tc>
                  <a:txBody>
                    <a:bodyPr/>
                    <a:lstStyle/>
                    <a:p>
                      <a:r>
                        <a:rPr sz="1100" b="0" i="0">
                          <a:solidFill>
                            <a:srgbClr val="39424F"/>
                          </a:solidFill>
                          <a:latin typeface="Segoe UI"/>
                        </a:rPr>
                        <a:t>prover</a:t>
                      </a:r>
                    </a:p>
                  </a:txBody>
                  <a:tcPr marL="64008" marR="64008" marT="27432" marB="27432" anchor="ctr">
                    <a:solidFill>
                      <a:srgbClr val="FFFFFF"/>
                    </a:solidFill>
                  </a:tcPr>
                </a:tc>
                <a:tc>
                  <a:txBody>
                    <a:bodyPr/>
                    <a:lstStyle/>
                    <a:p>
                      <a:r>
                        <a:rPr sz="1100" b="0" i="0">
                          <a:solidFill>
                            <a:srgbClr val="39424F"/>
                          </a:solidFill>
                          <a:latin typeface="Segoe UI"/>
                        </a:rPr>
                        <a:t>rất đắt</a:t>
                      </a:r>
                    </a:p>
                  </a:txBody>
                  <a:tcPr marL="64008" marR="64008" marT="27432" marB="27432" anchor="ctr">
                    <a:solidFill>
                      <a:srgbClr val="FFFFFF"/>
                    </a:solidFill>
                  </a:tcPr>
                </a:tc>
              </a:tr>
              <a:tr h="292608">
                <a:tc>
                  <a:txBody>
                    <a:bodyPr/>
                    <a:lstStyle/>
                    <a:p>
                      <a:r>
                        <a:rPr sz="1100" b="0" i="0">
                          <a:solidFill>
                            <a:srgbClr val="39424F"/>
                          </a:solidFill>
                          <a:latin typeface="Segoe UI"/>
                        </a:rPr>
                        <a:t>Bên kiểm bằng chứng</a:t>
                      </a:r>
                    </a:p>
                  </a:txBody>
                  <a:tcPr marL="64008" marR="64008" marT="27432" marB="27432" anchor="ctr">
                    <a:solidFill>
                      <a:srgbClr val="FFFFFF"/>
                    </a:solidFill>
                  </a:tcPr>
                </a:tc>
                <a:tc>
                  <a:txBody>
                    <a:bodyPr/>
                    <a:lstStyle/>
                    <a:p>
                      <a:r>
                        <a:rPr sz="1100" b="0" i="0">
                          <a:solidFill>
                            <a:srgbClr val="39424F"/>
                          </a:solidFill>
                          <a:latin typeface="Segoe UI"/>
                        </a:rPr>
                        <a:t>verifier</a:t>
                      </a:r>
                    </a:p>
                  </a:txBody>
                  <a:tcPr marL="64008" marR="64008" marT="27432" marB="27432" anchor="ctr">
                    <a:solidFill>
                      <a:srgbClr val="FFFFFF"/>
                    </a:solidFill>
                  </a:tcPr>
                </a:tc>
                <a:tc>
                  <a:txBody>
                    <a:bodyPr/>
                    <a:lstStyle/>
                    <a:p>
                      <a:r>
                        <a:rPr sz="1100" b="0" i="0">
                          <a:solidFill>
                            <a:srgbClr val="39424F"/>
                          </a:solidFill>
                          <a:latin typeface="Segoe UI"/>
                        </a:rPr>
                        <a:t>rất rẻ</a:t>
                      </a:r>
                    </a:p>
                  </a:txBody>
                  <a:tcPr marL="64008" marR="64008" marT="27432" marB="27432" anchor="ctr">
                    <a:solidFill>
                      <a:srgbClr val="FFFFFF"/>
                    </a:solidFill>
                  </a:tcPr>
                </a:tc>
              </a:tr>
            </a:tbl>
          </a:graphicData>
        </a:graphic>
      </p:graphicFrame>
      <p:graphicFrame>
        <p:nvGraphicFramePr>
          <p:cNvPr id="9" name="Table 8"/>
          <p:cNvGraphicFramePr>
            <a:graphicFrameLocks noGrp="1"/>
          </p:cNvGraphicFramePr>
          <p:nvPr/>
        </p:nvGraphicFramePr>
        <p:xfrm>
          <a:off x="6675120" y="2011680"/>
          <a:ext cx="4846320" cy="877824"/>
        </p:xfrm>
        <a:graphic>
          <a:graphicData uri="http://schemas.openxmlformats.org/drawingml/2006/table">
            <a:tbl>
              <a:tblPr bandRow="1">
                <a:tableStyleId>{5C22544A-7EE6-4342-B048-85BDC9FD1C3A}</a:tableStyleId>
              </a:tblPr>
              <a:tblGrid>
                <a:gridCol w="3392424"/>
                <a:gridCol w="1453896"/>
              </a:tblGrid>
              <a:tr h="292608">
                <a:tc>
                  <a:txBody>
                    <a:bodyPr/>
                    <a:lstStyle/>
                    <a:p>
                      <a:r>
                        <a:rPr sz="950" b="1" i="0">
                          <a:solidFill>
                            <a:srgbClr val="6B7581"/>
                          </a:solidFill>
                          <a:latin typeface="Segoe UI"/>
                        </a:rPr>
                        <a:t>ĐO THẬT, CÙNG MỘT PROOF</a:t>
                      </a:r>
                    </a:p>
                  </a:txBody>
                  <a:tcPr marL="64008" marR="64008" marT="27432" marB="27432" anchor="ctr">
                    <a:solidFill>
                      <a:srgbClr val="FFFFFF"/>
                    </a:solidFill>
                  </a:tcPr>
                </a:tc>
                <a:tc>
                  <a:txBody>
                    <a:bodyPr/>
                    <a:lstStyle/>
                    <a:p>
                      <a:pPr algn="r"/>
                      <a:r>
                        <a:rPr sz="950" b="1" i="0">
                          <a:solidFill>
                            <a:srgbClr val="6B7581"/>
                          </a:solidFill>
                          <a:latin typeface="Segoe UI"/>
                        </a:rPr>
                        <a:t>THỜI GIAN</a:t>
                      </a:r>
                    </a:p>
                  </a:txBody>
                  <a:tcPr marL="64008" marR="64008" marT="27432" marB="27432" anchor="ctr">
                    <a:solidFill>
                      <a:srgbClr val="FFFFFF"/>
                    </a:solidFill>
                  </a:tcPr>
                </a:tc>
              </a:tr>
              <a:tr h="292608">
                <a:tc>
                  <a:txBody>
                    <a:bodyPr/>
                    <a:lstStyle/>
                    <a:p>
                      <a:r>
                        <a:rPr sz="1100" b="0" i="0">
                          <a:solidFill>
                            <a:srgbClr val="39424F"/>
                          </a:solidFill>
                          <a:latin typeface="Segoe UI"/>
                        </a:rPr>
                        <a:t>Prove — proof recursion T = 64</a:t>
                      </a:r>
                    </a:p>
                  </a:txBody>
                  <a:tcPr marL="64008" marR="64008" marT="27432" marB="27432" anchor="ctr">
                    <a:solidFill>
                      <a:srgbClr val="FFFFFF"/>
                    </a:solidFill>
                  </a:tcPr>
                </a:tc>
                <a:tc>
                  <a:txBody>
                    <a:bodyPr/>
                    <a:lstStyle/>
                    <a:p>
                      <a:pPr algn="r"/>
                      <a:r>
                        <a:rPr sz="1100" b="0" i="0">
                          <a:solidFill>
                            <a:srgbClr val="39424F"/>
                          </a:solidFill>
                          <a:latin typeface="Consolas"/>
                        </a:rPr>
                        <a:t>770,6 s</a:t>
                      </a:r>
                    </a:p>
                  </a:txBody>
                  <a:tcPr marL="64008" marR="64008" marT="27432" marB="27432" anchor="ctr">
                    <a:solidFill>
                      <a:srgbClr val="FFFFFF"/>
                    </a:solidFill>
                  </a:tcPr>
                </a:tc>
              </a:tr>
              <a:tr h="292608">
                <a:tc>
                  <a:txBody>
                    <a:bodyPr/>
                    <a:lstStyle/>
                    <a:p>
                      <a:r>
                        <a:rPr sz="1100" b="1" i="0">
                          <a:solidFill>
                            <a:srgbClr val="141821"/>
                          </a:solidFill>
                          <a:latin typeface="Segoe UI"/>
                        </a:rPr>
                        <a:t>Verify — cùng proof đó</a:t>
                      </a:r>
                    </a:p>
                  </a:txBody>
                  <a:tcPr marL="64008" marR="64008" marT="27432" marB="27432" anchor="ctr">
                    <a:solidFill>
                      <a:srgbClr val="DCEAE8"/>
                    </a:solidFill>
                  </a:tcPr>
                </a:tc>
                <a:tc>
                  <a:txBody>
                    <a:bodyPr/>
                    <a:lstStyle/>
                    <a:p>
                      <a:pPr algn="r"/>
                      <a:r>
                        <a:rPr sz="1100" b="0" i="0">
                          <a:solidFill>
                            <a:srgbClr val="39424F"/>
                          </a:solidFill>
                          <a:latin typeface="Consolas"/>
                        </a:rPr>
                        <a:t>0,054 s</a:t>
                      </a:r>
                    </a:p>
                  </a:txBody>
                  <a:tcPr marL="64008" marR="64008" marT="27432" marB="27432" anchor="ctr">
                    <a:solidFill>
                      <a:srgbClr val="DCEAE8"/>
                    </a:solidFill>
                  </a:tcPr>
                </a:tc>
              </a:tr>
            </a:tbl>
          </a:graphicData>
        </a:graphic>
      </p:graphicFrame>
      <p:sp>
        <p:nvSpPr>
          <p:cNvPr id="10" name="TextBox 9"/>
          <p:cNvSpPr txBox="1"/>
          <p:nvPr/>
        </p:nvSpPr>
        <p:spPr>
          <a:xfrm>
            <a:off x="6894576" y="3310128"/>
            <a:ext cx="44439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TỈ LỆ 14.000 LẦN</a:t>
            </a:r>
          </a:p>
          <a:p>
            <a:pPr>
              <a:lnSpc>
                <a:spcPct val="122000"/>
              </a:lnSpc>
            </a:pPr>
            <a:r>
              <a:rPr sz="1250" b="0" i="0">
                <a:solidFill>
                  <a:srgbClr val="39424F"/>
                </a:solidFill>
                <a:latin typeface="Segoe UI"/>
              </a:rPr>
              <a:t>Và verify </a:t>
            </a:r>
            <a:r>
              <a:rPr sz="1250" b="1" i="0">
                <a:solidFill>
                  <a:srgbClr val="141821"/>
                </a:solidFill>
                <a:latin typeface="Segoe UI"/>
              </a:rPr>
              <a:t>không tăng</a:t>
            </a:r>
            <a:r>
              <a:rPr sz="1250" b="0" i="0">
                <a:solidFill>
                  <a:srgbClr val="39424F"/>
                </a:solidFill>
                <a:latin typeface="Segoe UI"/>
              </a:rPr>
              <a:t> khi phép tính lớn lên: dải cycles của Bảng 2 trải 52.941 lần, cột verify gần như không nhúc nhích.</a:t>
            </a:r>
          </a:p>
        </p:txBody>
      </p:sp>
      <p:sp>
        <p:nvSpPr>
          <p:cNvPr id="13" name="TextBox 12"/>
          <p:cNvSpPr txBox="1"/>
          <p:nvPr/>
        </p:nvSpPr>
        <p:spPr>
          <a:xfrm>
            <a:off x="6894576" y="4604828"/>
            <a:ext cx="44439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ĐIỀU ĐÓ CÓ GIÁ TRỊ</a:t>
            </a:r>
          </a:p>
          <a:p>
            <a:pPr>
              <a:lnSpc>
                <a:spcPct val="122000"/>
              </a:lnSpc>
            </a:pPr>
            <a:r>
              <a:rPr sz="1250" b="0" i="0">
                <a:solidFill>
                  <a:srgbClr val="39424F"/>
                </a:solidFill>
                <a:latin typeface="Segoe UI"/>
              </a:rPr>
              <a:t>Chi phí dồn về phía kẻ </a:t>
            </a:r>
            <a:r>
              <a:rPr sz="1250" b="1" i="0">
                <a:solidFill>
                  <a:srgbClr val="141821"/>
                </a:solidFill>
                <a:latin typeface="Segoe UI"/>
              </a:rPr>
              <a:t>phải chứng minh sự trong sạch của mình</a:t>
            </a:r>
            <a:r>
              <a:rPr sz="1250" b="0" i="0">
                <a:solidFill>
                  <a:srgbClr val="39424F"/>
                </a:solidFill>
                <a:latin typeface="Segoe UI"/>
              </a:rPr>
              <a:t>. Cơ quan quản lý gần như không tốn gì.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 name="Rectangle 37"/>
          <p:cNvSpPr/>
          <p:nvPr/>
        </p:nvSpPr>
        <p:spPr>
          <a:xfrm>
            <a:off x="8595360" y="3557268"/>
            <a:ext cx="292608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95360" y="3557268"/>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0" y="2011680"/>
            <a:ext cx="2926080" cy="1271268"/>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595360" y="2011680"/>
            <a:ext cx="38100" cy="127126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TỔNG QUAN HỆ THỐNG</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Kiến trúc: bốn lớp</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Mỗi lớp kiểm được độc lập; mỗi phát biểu trong paper truy ngược về một artifact.</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3</a:t>
            </a:r>
          </a:p>
        </p:txBody>
      </p:sp>
      <p:sp>
        <p:nvSpPr>
          <p:cNvPr id="7" name="Rectangle 6"/>
          <p:cNvSpPr/>
          <p:nvPr/>
        </p:nvSpPr>
        <p:spPr>
          <a:xfrm>
            <a:off x="658368" y="2011680"/>
            <a:ext cx="7589520" cy="786384"/>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011680"/>
            <a:ext cx="44450" cy="78638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121408"/>
            <a:ext cx="1371600" cy="274320"/>
          </a:xfrm>
          <a:prstGeom prst="rect">
            <a:avLst/>
          </a:prstGeom>
          <a:noFill/>
        </p:spPr>
        <p:txBody>
          <a:bodyPr wrap="square" lIns="0" rIns="0" tIns="0" bIns="0">
            <a:spAutoFit/>
          </a:bodyPr>
          <a:lstStyle/>
          <a:p>
            <a:r>
              <a:rPr sz="1100" b="1" i="0">
                <a:solidFill>
                  <a:srgbClr val="17605B"/>
                </a:solidFill>
                <a:latin typeface="Segoe UI"/>
              </a:rPr>
              <a:t>LỚP 1</a:t>
            </a:r>
          </a:p>
        </p:txBody>
      </p:sp>
      <p:sp>
        <p:nvSpPr>
          <p:cNvPr id="10" name="TextBox 9"/>
          <p:cNvSpPr txBox="1"/>
          <p:nvPr/>
        </p:nvSpPr>
        <p:spPr>
          <a:xfrm>
            <a:off x="1892808" y="2093976"/>
            <a:ext cx="1463040" cy="310896"/>
          </a:xfrm>
          <a:prstGeom prst="rect">
            <a:avLst/>
          </a:prstGeom>
          <a:noFill/>
        </p:spPr>
        <p:txBody>
          <a:bodyPr wrap="square" lIns="0" rIns="0" tIns="0" bIns="0">
            <a:spAutoFit/>
          </a:bodyPr>
          <a:lstStyle/>
          <a:p>
            <a:r>
              <a:rPr sz="1500" b="1" i="0">
                <a:solidFill>
                  <a:srgbClr val="141821"/>
                </a:solidFill>
                <a:latin typeface="Segoe UI"/>
              </a:rPr>
              <a:t>DỮ LIỆU</a:t>
            </a:r>
          </a:p>
        </p:txBody>
      </p:sp>
      <p:sp>
        <p:nvSpPr>
          <p:cNvPr id="11" name="TextBox 10"/>
          <p:cNvSpPr txBox="1"/>
          <p:nvPr/>
        </p:nvSpPr>
        <p:spPr>
          <a:xfrm>
            <a:off x="3401568" y="2112264"/>
            <a:ext cx="4663440" cy="274320"/>
          </a:xfrm>
          <a:prstGeom prst="rect">
            <a:avLst/>
          </a:prstGeom>
          <a:noFill/>
        </p:spPr>
        <p:txBody>
          <a:bodyPr wrap="square" lIns="0" rIns="0" tIns="0" bIns="0">
            <a:spAutoFit/>
          </a:bodyPr>
          <a:lstStyle/>
          <a:p>
            <a:r>
              <a:rPr sz="1200" b="0" i="0">
                <a:solidFill>
                  <a:srgbClr val="39424F"/>
                </a:solidFill>
                <a:latin typeface="Segoe UI"/>
              </a:rPr>
              <a:t>thu thập → kiểm toán → cam kết Merkle → xác minh</a:t>
            </a:r>
          </a:p>
        </p:txBody>
      </p:sp>
      <p:sp>
        <p:nvSpPr>
          <p:cNvPr id="12" name="TextBox 11"/>
          <p:cNvSpPr txBox="1"/>
          <p:nvPr/>
        </p:nvSpPr>
        <p:spPr>
          <a:xfrm>
            <a:off x="1892808" y="2441448"/>
            <a:ext cx="6126480" cy="256032"/>
          </a:xfrm>
          <a:prstGeom prst="rect">
            <a:avLst/>
          </a:prstGeom>
          <a:noFill/>
        </p:spPr>
        <p:txBody>
          <a:bodyPr wrap="square" lIns="0" rIns="0" tIns="0" bIns="0">
            <a:spAutoFit/>
          </a:bodyPr>
          <a:lstStyle/>
          <a:p>
            <a:r>
              <a:rPr sz="1000" b="0" i="0">
                <a:solidFill>
                  <a:srgbClr val="6B7581"/>
                </a:solidFill>
                <a:latin typeface="Consolas"/>
              </a:rPr>
              <a:t>artifacts/datasets/ · scripts/data/</a:t>
            </a:r>
          </a:p>
        </p:txBody>
      </p:sp>
      <p:sp>
        <p:nvSpPr>
          <p:cNvPr id="13" name="TextBox 12"/>
          <p:cNvSpPr txBox="1"/>
          <p:nvPr/>
        </p:nvSpPr>
        <p:spPr>
          <a:xfrm>
            <a:off x="786384" y="2798064"/>
            <a:ext cx="365760" cy="146304"/>
          </a:xfrm>
          <a:prstGeom prst="rect">
            <a:avLst/>
          </a:prstGeom>
          <a:noFill/>
        </p:spPr>
        <p:txBody>
          <a:bodyPr wrap="square" lIns="0" rIns="0" tIns="0" bIns="0">
            <a:spAutoFit/>
          </a:bodyPr>
          <a:lstStyle/>
          <a:p>
            <a:r>
              <a:rPr sz="1200" b="1" i="0">
                <a:solidFill>
                  <a:srgbClr val="17605B"/>
                </a:solidFill>
                <a:latin typeface="Segoe UI"/>
              </a:rPr>
              <a:t>↓</a:t>
            </a:r>
          </a:p>
        </p:txBody>
      </p:sp>
      <p:sp>
        <p:nvSpPr>
          <p:cNvPr id="14" name="Rectangle 13"/>
          <p:cNvSpPr/>
          <p:nvPr/>
        </p:nvSpPr>
        <p:spPr>
          <a:xfrm>
            <a:off x="658368" y="2944368"/>
            <a:ext cx="7589520" cy="786384"/>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944368"/>
            <a:ext cx="44450" cy="78638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054096"/>
            <a:ext cx="1371600" cy="274320"/>
          </a:xfrm>
          <a:prstGeom prst="rect">
            <a:avLst/>
          </a:prstGeom>
          <a:noFill/>
        </p:spPr>
        <p:txBody>
          <a:bodyPr wrap="square" lIns="0" rIns="0" tIns="0" bIns="0">
            <a:spAutoFit/>
          </a:bodyPr>
          <a:lstStyle/>
          <a:p>
            <a:r>
              <a:rPr sz="1100" b="1" i="0">
                <a:solidFill>
                  <a:srgbClr val="17605B"/>
                </a:solidFill>
                <a:latin typeface="Segoe UI"/>
              </a:rPr>
              <a:t>LỚP 2</a:t>
            </a:r>
          </a:p>
        </p:txBody>
      </p:sp>
      <p:sp>
        <p:nvSpPr>
          <p:cNvPr id="17" name="TextBox 16"/>
          <p:cNvSpPr txBox="1"/>
          <p:nvPr/>
        </p:nvSpPr>
        <p:spPr>
          <a:xfrm>
            <a:off x="1892808" y="3026664"/>
            <a:ext cx="1463040" cy="310896"/>
          </a:xfrm>
          <a:prstGeom prst="rect">
            <a:avLst/>
          </a:prstGeom>
          <a:noFill/>
        </p:spPr>
        <p:txBody>
          <a:bodyPr wrap="square" lIns="0" rIns="0" tIns="0" bIns="0">
            <a:spAutoFit/>
          </a:bodyPr>
          <a:lstStyle/>
          <a:p>
            <a:r>
              <a:rPr sz="1500" b="1" i="0">
                <a:solidFill>
                  <a:srgbClr val="141821"/>
                </a:solidFill>
                <a:latin typeface="Segoe UI"/>
              </a:rPr>
              <a:t>QUAN HỆ</a:t>
            </a:r>
          </a:p>
        </p:txBody>
      </p:sp>
      <p:sp>
        <p:nvSpPr>
          <p:cNvPr id="18" name="TextBox 17"/>
          <p:cNvSpPr txBox="1"/>
          <p:nvPr/>
        </p:nvSpPr>
        <p:spPr>
          <a:xfrm>
            <a:off x="3401568" y="3044952"/>
            <a:ext cx="4663440" cy="274320"/>
          </a:xfrm>
          <a:prstGeom prst="rect">
            <a:avLst/>
          </a:prstGeom>
          <a:noFill/>
        </p:spPr>
        <p:txBody>
          <a:bodyPr wrap="square" lIns="0" rIns="0" tIns="0" bIns="0">
            <a:spAutoFit/>
          </a:bodyPr>
          <a:lstStyle/>
          <a:p>
            <a:r>
              <a:rPr sz="1200" b="0" i="0">
                <a:solidFill>
                  <a:srgbClr val="39424F"/>
                </a:solidFill>
                <a:latin typeface="Segoe UI"/>
              </a:rPr>
              <a:t>oracle Python thuần — định nghĩa phép tính đúng là gì</a:t>
            </a:r>
          </a:p>
        </p:txBody>
      </p:sp>
      <p:sp>
        <p:nvSpPr>
          <p:cNvPr id="19" name="TextBox 18"/>
          <p:cNvSpPr txBox="1"/>
          <p:nvPr/>
        </p:nvSpPr>
        <p:spPr>
          <a:xfrm>
            <a:off x="1892808" y="3374136"/>
            <a:ext cx="6126480" cy="256032"/>
          </a:xfrm>
          <a:prstGeom prst="rect">
            <a:avLst/>
          </a:prstGeom>
          <a:noFill/>
        </p:spPr>
        <p:txBody>
          <a:bodyPr wrap="square" lIns="0" rIns="0" tIns="0" bIns="0">
            <a:spAutoFit/>
          </a:bodyPr>
          <a:lstStyle/>
          <a:p>
            <a:r>
              <a:rPr sz="1000" b="0" i="0">
                <a:solidFill>
                  <a:srgbClr val="6B7581"/>
                </a:solidFill>
                <a:latin typeface="Consolas"/>
              </a:rPr>
              <a:t>zk_offline_dqn/relations/</a:t>
            </a:r>
          </a:p>
        </p:txBody>
      </p:sp>
      <p:sp>
        <p:nvSpPr>
          <p:cNvPr id="20" name="TextBox 19"/>
          <p:cNvSpPr txBox="1"/>
          <p:nvPr/>
        </p:nvSpPr>
        <p:spPr>
          <a:xfrm>
            <a:off x="786384" y="3730752"/>
            <a:ext cx="365760" cy="146304"/>
          </a:xfrm>
          <a:prstGeom prst="rect">
            <a:avLst/>
          </a:prstGeom>
          <a:noFill/>
        </p:spPr>
        <p:txBody>
          <a:bodyPr wrap="square" lIns="0" rIns="0" tIns="0" bIns="0">
            <a:spAutoFit/>
          </a:bodyPr>
          <a:lstStyle/>
          <a:p>
            <a:r>
              <a:rPr sz="1200" b="1" i="0">
                <a:solidFill>
                  <a:srgbClr val="17605B"/>
                </a:solidFill>
                <a:latin typeface="Segoe UI"/>
              </a:rPr>
              <a:t>↓</a:t>
            </a:r>
          </a:p>
        </p:txBody>
      </p:sp>
      <p:sp>
        <p:nvSpPr>
          <p:cNvPr id="21" name="Rectangle 20"/>
          <p:cNvSpPr/>
          <p:nvPr/>
        </p:nvSpPr>
        <p:spPr>
          <a:xfrm>
            <a:off x="658368" y="3877056"/>
            <a:ext cx="7589520" cy="786384"/>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877056"/>
            <a:ext cx="44450" cy="78638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3986784"/>
            <a:ext cx="1371600" cy="274320"/>
          </a:xfrm>
          <a:prstGeom prst="rect">
            <a:avLst/>
          </a:prstGeom>
          <a:noFill/>
        </p:spPr>
        <p:txBody>
          <a:bodyPr wrap="square" lIns="0" rIns="0" tIns="0" bIns="0">
            <a:spAutoFit/>
          </a:bodyPr>
          <a:lstStyle/>
          <a:p>
            <a:r>
              <a:rPr sz="1100" b="1" i="0">
                <a:solidFill>
                  <a:srgbClr val="17605B"/>
                </a:solidFill>
                <a:latin typeface="Segoe UI"/>
              </a:rPr>
              <a:t>LỚP 3</a:t>
            </a:r>
          </a:p>
        </p:txBody>
      </p:sp>
      <p:sp>
        <p:nvSpPr>
          <p:cNvPr id="24" name="TextBox 23"/>
          <p:cNvSpPr txBox="1"/>
          <p:nvPr/>
        </p:nvSpPr>
        <p:spPr>
          <a:xfrm>
            <a:off x="1892808" y="3959352"/>
            <a:ext cx="1463040" cy="310896"/>
          </a:xfrm>
          <a:prstGeom prst="rect">
            <a:avLst/>
          </a:prstGeom>
          <a:noFill/>
        </p:spPr>
        <p:txBody>
          <a:bodyPr wrap="square" lIns="0" rIns="0" tIns="0" bIns="0">
            <a:spAutoFit/>
          </a:bodyPr>
          <a:lstStyle/>
          <a:p>
            <a:r>
              <a:rPr sz="1500" b="1" i="0">
                <a:solidFill>
                  <a:srgbClr val="141821"/>
                </a:solidFill>
                <a:latin typeface="Segoe UI"/>
              </a:rPr>
              <a:t>BACKEND</a:t>
            </a:r>
          </a:p>
        </p:txBody>
      </p:sp>
      <p:sp>
        <p:nvSpPr>
          <p:cNvPr id="25" name="TextBox 24"/>
          <p:cNvSpPr txBox="1"/>
          <p:nvPr/>
        </p:nvSpPr>
        <p:spPr>
          <a:xfrm>
            <a:off x="3401568" y="3977640"/>
            <a:ext cx="4663440" cy="274320"/>
          </a:xfrm>
          <a:prstGeom prst="rect">
            <a:avLst/>
          </a:prstGeom>
          <a:noFill/>
        </p:spPr>
        <p:txBody>
          <a:bodyPr wrap="square" lIns="0" rIns="0" tIns="0" bIns="0">
            <a:spAutoFit/>
          </a:bodyPr>
          <a:lstStyle/>
          <a:p>
            <a:r>
              <a:rPr sz="1200" b="0" i="0">
                <a:solidFill>
                  <a:srgbClr val="39424F"/>
                </a:solidFill>
                <a:latin typeface="Segoe UI"/>
              </a:rPr>
              <a:t>guest / host / shared Rust — sinh proof SP1</a:t>
            </a:r>
          </a:p>
        </p:txBody>
      </p:sp>
      <p:sp>
        <p:nvSpPr>
          <p:cNvPr id="26" name="TextBox 25"/>
          <p:cNvSpPr txBox="1"/>
          <p:nvPr/>
        </p:nvSpPr>
        <p:spPr>
          <a:xfrm>
            <a:off x="1892808" y="4306824"/>
            <a:ext cx="6126480" cy="256032"/>
          </a:xfrm>
          <a:prstGeom prst="rect">
            <a:avLst/>
          </a:prstGeom>
          <a:noFill/>
        </p:spPr>
        <p:txBody>
          <a:bodyPr wrap="square" lIns="0" rIns="0" tIns="0" bIns="0">
            <a:spAutoFit/>
          </a:bodyPr>
          <a:lstStyle/>
          <a:p>
            <a:r>
              <a:rPr sz="1000" b="0" i="0">
                <a:solidFill>
                  <a:srgbClr val="6B7581"/>
                </a:solidFill>
                <a:latin typeface="Consolas"/>
              </a:rPr>
              <a:t>zk_backend/&lt;quan hệ&gt;/sp1/</a:t>
            </a:r>
          </a:p>
        </p:txBody>
      </p:sp>
      <p:sp>
        <p:nvSpPr>
          <p:cNvPr id="27" name="TextBox 26"/>
          <p:cNvSpPr txBox="1"/>
          <p:nvPr/>
        </p:nvSpPr>
        <p:spPr>
          <a:xfrm>
            <a:off x="786384" y="4663440"/>
            <a:ext cx="365760" cy="146304"/>
          </a:xfrm>
          <a:prstGeom prst="rect">
            <a:avLst/>
          </a:prstGeom>
          <a:noFill/>
        </p:spPr>
        <p:txBody>
          <a:bodyPr wrap="square" lIns="0" rIns="0" tIns="0" bIns="0">
            <a:spAutoFit/>
          </a:bodyPr>
          <a:lstStyle/>
          <a:p>
            <a:r>
              <a:rPr sz="1200" b="1" i="0">
                <a:solidFill>
                  <a:srgbClr val="17605B"/>
                </a:solidFill>
                <a:latin typeface="Segoe UI"/>
              </a:rPr>
              <a:t>↓</a:t>
            </a:r>
          </a:p>
        </p:txBody>
      </p:sp>
      <p:sp>
        <p:nvSpPr>
          <p:cNvPr id="28" name="Rectangle 27"/>
          <p:cNvSpPr/>
          <p:nvPr/>
        </p:nvSpPr>
        <p:spPr>
          <a:xfrm>
            <a:off x="658368" y="4809744"/>
            <a:ext cx="7589520" cy="786384"/>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4809744"/>
            <a:ext cx="44450" cy="78638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4919472"/>
            <a:ext cx="1371600" cy="274320"/>
          </a:xfrm>
          <a:prstGeom prst="rect">
            <a:avLst/>
          </a:prstGeom>
          <a:noFill/>
        </p:spPr>
        <p:txBody>
          <a:bodyPr wrap="square" lIns="0" rIns="0" tIns="0" bIns="0">
            <a:spAutoFit/>
          </a:bodyPr>
          <a:lstStyle/>
          <a:p>
            <a:r>
              <a:rPr sz="1100" b="1" i="0">
                <a:solidFill>
                  <a:srgbClr val="17605B"/>
                </a:solidFill>
                <a:latin typeface="Segoe UI"/>
              </a:rPr>
              <a:t>LỚP 4</a:t>
            </a:r>
          </a:p>
        </p:txBody>
      </p:sp>
      <p:sp>
        <p:nvSpPr>
          <p:cNvPr id="31" name="TextBox 30"/>
          <p:cNvSpPr txBox="1"/>
          <p:nvPr/>
        </p:nvSpPr>
        <p:spPr>
          <a:xfrm>
            <a:off x="1892808" y="4892040"/>
            <a:ext cx="1463040" cy="310896"/>
          </a:xfrm>
          <a:prstGeom prst="rect">
            <a:avLst/>
          </a:prstGeom>
          <a:noFill/>
        </p:spPr>
        <p:txBody>
          <a:bodyPr wrap="square" lIns="0" rIns="0" tIns="0" bIns="0">
            <a:spAutoFit/>
          </a:bodyPr>
          <a:lstStyle/>
          <a:p>
            <a:r>
              <a:rPr sz="1500" b="1" i="0">
                <a:solidFill>
                  <a:srgbClr val="141821"/>
                </a:solidFill>
                <a:latin typeface="Segoe UI"/>
              </a:rPr>
              <a:t>GỘP</a:t>
            </a:r>
          </a:p>
        </p:txBody>
      </p:sp>
      <p:sp>
        <p:nvSpPr>
          <p:cNvPr id="32" name="TextBox 31"/>
          <p:cNvSpPr txBox="1"/>
          <p:nvPr/>
        </p:nvSpPr>
        <p:spPr>
          <a:xfrm>
            <a:off x="3401568" y="4910328"/>
            <a:ext cx="4663440" cy="274320"/>
          </a:xfrm>
          <a:prstGeom prst="rect">
            <a:avLst/>
          </a:prstGeom>
          <a:noFill/>
        </p:spPr>
        <p:txBody>
          <a:bodyPr wrap="square" lIns="0" rIns="0" tIns="0" bIns="0">
            <a:spAutoFit/>
          </a:bodyPr>
          <a:lstStyle/>
          <a:p>
            <a:r>
              <a:rPr sz="1200" b="0" i="0">
                <a:solidFill>
                  <a:srgbClr val="39424F"/>
                </a:solidFill>
                <a:latin typeface="Segoe UI"/>
              </a:rPr>
              <a:t>nối nhiều proof thành một proof duy nhất</a:t>
            </a:r>
          </a:p>
        </p:txBody>
      </p:sp>
      <p:sp>
        <p:nvSpPr>
          <p:cNvPr id="33" name="TextBox 32"/>
          <p:cNvSpPr txBox="1"/>
          <p:nvPr/>
        </p:nvSpPr>
        <p:spPr>
          <a:xfrm>
            <a:off x="1892808" y="5239512"/>
            <a:ext cx="6126480" cy="256032"/>
          </a:xfrm>
          <a:prstGeom prst="rect">
            <a:avLst/>
          </a:prstGeom>
          <a:noFill/>
        </p:spPr>
        <p:txBody>
          <a:bodyPr wrap="square" lIns="0" rIns="0" tIns="0" bIns="0">
            <a:spAutoFit/>
          </a:bodyPr>
          <a:lstStyle/>
          <a:p>
            <a:r>
              <a:rPr sz="1000" b="0" i="0">
                <a:solidFill>
                  <a:srgbClr val="6B7581"/>
                </a:solidFill>
                <a:latin typeface="Consolas"/>
              </a:rPr>
              <a:t>training_aggregation</a:t>
            </a:r>
          </a:p>
        </p:txBody>
      </p:sp>
      <p:sp>
        <p:nvSpPr>
          <p:cNvPr id="34" name="TextBox 33"/>
          <p:cNvSpPr txBox="1"/>
          <p:nvPr/>
        </p:nvSpPr>
        <p:spPr>
          <a:xfrm>
            <a:off x="8814816" y="2139696"/>
            <a:ext cx="252374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RANH GIỚI ĐƯỢC ÉP BẰNG QUY TẮC</a:t>
            </a:r>
          </a:p>
          <a:p>
            <a:pPr>
              <a:lnSpc>
                <a:spcPct val="122000"/>
              </a:lnSpc>
            </a:pPr>
            <a:r>
              <a:rPr sz="1250" b="0" i="0">
                <a:solidFill>
                  <a:srgbClr val="39424F"/>
                </a:solidFill>
                <a:latin typeface="Segoe UI"/>
              </a:rPr>
              <a:t>Lớp 2 </a:t>
            </a:r>
            <a:r>
              <a:rPr sz="1250" b="1" i="0">
                <a:solidFill>
                  <a:srgbClr val="141821"/>
                </a:solidFill>
                <a:latin typeface="Segoe UI"/>
              </a:rPr>
              <a:t>bị cấm</a:t>
            </a:r>
            <a:r>
              <a:rPr sz="1250" b="0" i="0">
                <a:solidFill>
                  <a:srgbClr val="39424F"/>
                </a:solidFill>
                <a:latin typeface="Segoe UI"/>
              </a:rPr>
              <a:t> dùng argparse, đọc file, hay đọc biến môi trường. Một quan hệ chỉ nhận dict và trả dict.</a:t>
            </a:r>
          </a:p>
        </p:txBody>
      </p:sp>
      <p:sp>
        <p:nvSpPr>
          <p:cNvPr id="37" name="TextBox 36"/>
          <p:cNvSpPr txBox="1"/>
          <p:nvPr/>
        </p:nvSpPr>
        <p:spPr>
          <a:xfrm>
            <a:off x="8814816" y="3685284"/>
            <a:ext cx="252374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TÁCH LỚP</a:t>
            </a:r>
          </a:p>
          <a:p>
            <a:pPr>
              <a:lnSpc>
                <a:spcPct val="122000"/>
              </a:lnSpc>
            </a:pPr>
            <a:r>
              <a:rPr sz="1250" b="0" i="0">
                <a:solidFill>
                  <a:srgbClr val="39424F"/>
                </a:solidFill>
                <a:latin typeface="Segoe UI"/>
              </a:rPr>
              <a:t>Lỗi ở đâu thì lộ ở đó. Và mỗi lớp có bộ kiểm riêng chạy được </a:t>
            </a:r>
            <a:r>
              <a:rPr sz="1250" b="1" i="0">
                <a:solidFill>
                  <a:srgbClr val="141821"/>
                </a:solidFill>
                <a:latin typeface="Segoe UI"/>
              </a:rPr>
              <a:t>không cần GPU</a:t>
            </a:r>
            <a:r>
              <a:rPr sz="1250" b="0" i="0">
                <a:solidFill>
                  <a:srgbClr val="39424F"/>
                </a:solidFill>
                <a:latin typeface="Segoe U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 name="Rectangle 11"/>
          <p:cNvSpPr/>
          <p:nvPr/>
        </p:nvSpPr>
        <p:spPr>
          <a:xfrm>
            <a:off x="7818120" y="3689284"/>
            <a:ext cx="3703320" cy="1271268"/>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18120" y="3689284"/>
            <a:ext cx="38100" cy="1271268"/>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18120" y="1965960"/>
            <a:ext cx="3703320" cy="1485580"/>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1965960"/>
            <a:ext cx="38100" cy="148558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1 · DỮ LIỆU</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1 — Dữ liệu là gì, và vì sao chọn dữ liệu này</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4</a:t>
            </a:r>
          </a:p>
        </p:txBody>
      </p:sp>
      <p:graphicFrame>
        <p:nvGraphicFramePr>
          <p:cNvPr id="6" name="Table 5"/>
          <p:cNvGraphicFramePr>
            <a:graphicFrameLocks noGrp="1"/>
          </p:cNvGraphicFramePr>
          <p:nvPr/>
        </p:nvGraphicFramePr>
        <p:xfrm>
          <a:off x="658368" y="1965960"/>
          <a:ext cx="6766557" cy="2048256"/>
        </p:xfrm>
        <a:graphic>
          <a:graphicData uri="http://schemas.openxmlformats.org/drawingml/2006/table">
            <a:tbl>
              <a:tblPr bandRow="1">
                <a:tableStyleId>{5C22544A-7EE6-4342-B048-85BDC9FD1C3A}</a:tableStyleId>
              </a:tblPr>
              <a:tblGrid>
                <a:gridCol w="1933302"/>
                <a:gridCol w="1611085"/>
                <a:gridCol w="966651"/>
                <a:gridCol w="966651"/>
                <a:gridCol w="1288868"/>
              </a:tblGrid>
              <a:tr h="292608">
                <a:tc>
                  <a:txBody>
                    <a:bodyPr/>
                    <a:lstStyle/>
                    <a:p>
                      <a:r>
                        <a:rPr sz="950" b="1" i="0">
                          <a:solidFill>
                            <a:srgbClr val="6B7581"/>
                          </a:solidFill>
                          <a:latin typeface="Segoe UI"/>
                        </a:rPr>
                        <a:t>DATASET_ID</a:t>
                      </a:r>
                    </a:p>
                  </a:txBody>
                  <a:tcPr marL="64008" marR="64008" marT="27432" marB="27432" anchor="ctr">
                    <a:solidFill>
                      <a:srgbClr val="FFFFFF"/>
                    </a:solidFill>
                  </a:tcPr>
                </a:tc>
                <a:tc>
                  <a:txBody>
                    <a:bodyPr/>
                    <a:lstStyle/>
                    <a:p>
                      <a:r>
                        <a:rPr sz="950" b="1" i="0">
                          <a:solidFill>
                            <a:srgbClr val="6B7581"/>
                          </a:solidFill>
                          <a:latin typeface="Segoe UI"/>
                        </a:rPr>
                        <a:t>MÔI TRƯỜNG</a:t>
                      </a:r>
                    </a:p>
                  </a:txBody>
                  <a:tcPr marL="64008" marR="64008" marT="27432" marB="27432" anchor="ctr">
                    <a:solidFill>
                      <a:srgbClr val="FFFFFF"/>
                    </a:solidFill>
                  </a:tcPr>
                </a:tc>
                <a:tc>
                  <a:txBody>
                    <a:bodyPr/>
                    <a:lstStyle/>
                    <a:p>
                      <a:r>
                        <a:rPr sz="950" b="1" i="0">
                          <a:solidFill>
                            <a:srgbClr val="6B7581"/>
                          </a:solidFill>
                          <a:latin typeface="Segoe UI"/>
                        </a:rPr>
                        <a:t>CHÍNH SÁCH</a:t>
                      </a:r>
                    </a:p>
                  </a:txBody>
                  <a:tcPr marL="64008" marR="64008" marT="27432" marB="27432" anchor="ctr">
                    <a:solidFill>
                      <a:srgbClr val="FFFFFF"/>
                    </a:solidFill>
                  </a:tcPr>
                </a:tc>
                <a:tc>
                  <a:txBody>
                    <a:bodyPr/>
                    <a:lstStyle/>
                    <a:p>
                      <a:pPr algn="r"/>
                      <a:r>
                        <a:rPr sz="950" b="1" i="0">
                          <a:solidFill>
                            <a:srgbClr val="6B7581"/>
                          </a:solidFill>
                          <a:latin typeface="Segoe UI"/>
                        </a:rPr>
                        <a:t>TRANSITION</a:t>
                      </a:r>
                    </a:p>
                  </a:txBody>
                  <a:tcPr marL="64008" marR="64008" marT="27432" marB="27432" anchor="ctr">
                    <a:solidFill>
                      <a:srgbClr val="FFFFFF"/>
                    </a:solidFill>
                  </a:tcPr>
                </a:tc>
                <a:tc>
                  <a:txBody>
                    <a:bodyPr/>
                    <a:lstStyle/>
                    <a:p>
                      <a:pPr algn="r"/>
                      <a:r>
                        <a:rPr sz="950" b="1" i="0">
                          <a:solidFill>
                            <a:srgbClr val="6B7581"/>
                          </a:solidFill>
                          <a:latin typeface="Segoe UI"/>
                        </a:rPr>
                        <a:t>MERKLE_ROOT</a:t>
                      </a:r>
                    </a:p>
                  </a:txBody>
                  <a:tcPr marL="64008" marR="64008" marT="27432" marB="27432" anchor="ctr">
                    <a:solidFill>
                      <a:srgbClr val="FFFFFF"/>
                    </a:solidFill>
                  </a:tcPr>
                </a:tc>
              </a:tr>
              <a:tr h="292608">
                <a:tc>
                  <a:txBody>
                    <a:bodyPr/>
                    <a:lstStyle/>
                    <a:p>
                      <a:r>
                        <a:rPr sz="1100" b="0" i="0">
                          <a:solidFill>
                            <a:srgbClr val="39424F"/>
                          </a:solidFill>
                          <a:latin typeface="Segoe UI"/>
                        </a:rPr>
                        <a:t>cartpole-random-v2</a:t>
                      </a:r>
                    </a:p>
                  </a:txBody>
                  <a:tcPr marL="64008" marR="64008" marT="27432" marB="27432" anchor="ctr">
                    <a:solidFill>
                      <a:srgbClr val="FFFFFF"/>
                    </a:solidFill>
                  </a:tcPr>
                </a:tc>
                <a:tc>
                  <a:txBody>
                    <a:bodyPr/>
                    <a:lstStyle/>
                    <a:p>
                      <a:r>
                        <a:rPr sz="1100" b="0" i="0">
                          <a:solidFill>
                            <a:srgbClr val="39424F"/>
                          </a:solidFill>
                          <a:latin typeface="Segoe UI"/>
                        </a:rPr>
                        <a:t>CartPole-v1</a:t>
                      </a:r>
                    </a:p>
                  </a:txBody>
                  <a:tcPr marL="64008" marR="64008" marT="27432" marB="27432" anchor="ctr">
                    <a:solidFill>
                      <a:srgbClr val="FFFFFF"/>
                    </a:solidFill>
                  </a:tcPr>
                </a:tc>
                <a:tc>
                  <a:txBody>
                    <a:bodyPr/>
                    <a:lstStyle/>
                    <a:p>
                      <a:r>
                        <a:rPr sz="1100" b="0" i="0">
                          <a:solidFill>
                            <a:srgbClr val="39424F"/>
                          </a:solidFill>
                          <a:latin typeface="Segoe UI"/>
                        </a:rPr>
                        <a:t>random</a:t>
                      </a:r>
                    </a:p>
                  </a:txBody>
                  <a:tcPr marL="64008" marR="64008" marT="27432" marB="27432" anchor="ctr">
                    <a:solidFill>
                      <a:srgbClr val="FFFFFF"/>
                    </a:solidFill>
                  </a:tcPr>
                </a:tc>
                <a:tc>
                  <a:txBody>
                    <a:bodyPr/>
                    <a:lstStyle/>
                    <a:p>
                      <a:pPr algn="r"/>
                      <a:r>
                        <a:rPr sz="1100" b="0" i="0">
                          <a:solidFill>
                            <a:srgbClr val="39424F"/>
                          </a:solidFill>
                          <a:latin typeface="Consolas"/>
                        </a:rPr>
                        <a:t>50.006</a:t>
                      </a:r>
                    </a:p>
                  </a:txBody>
                  <a:tcPr marL="64008" marR="64008" marT="27432" marB="27432" anchor="ctr">
                    <a:solidFill>
                      <a:srgbClr val="FFFFFF"/>
                    </a:solidFill>
                  </a:tcPr>
                </a:tc>
                <a:tc>
                  <a:txBody>
                    <a:bodyPr/>
                    <a:lstStyle/>
                    <a:p>
                      <a:pPr algn="r"/>
                      <a:r>
                        <a:rPr sz="1100" b="0" i="0">
                          <a:solidFill>
                            <a:srgbClr val="39424F"/>
                          </a:solidFill>
                          <a:latin typeface="Consolas"/>
                        </a:rPr>
                        <a:t>6f586441…</a:t>
                      </a:r>
                    </a:p>
                  </a:txBody>
                  <a:tcPr marL="64008" marR="64008" marT="27432" marB="27432" anchor="ctr">
                    <a:solidFill>
                      <a:srgbClr val="FFFFFF"/>
                    </a:solidFill>
                  </a:tcPr>
                </a:tc>
              </a:tr>
              <a:tr h="292608">
                <a:tc>
                  <a:txBody>
                    <a:bodyPr/>
                    <a:lstStyle/>
                    <a:p>
                      <a:r>
                        <a:rPr sz="1100" b="0" i="0">
                          <a:solidFill>
                            <a:srgbClr val="39424F"/>
                          </a:solidFill>
                          <a:latin typeface="Segoe UI"/>
                        </a:rPr>
                        <a:t>cartpole-medium-v2</a:t>
                      </a:r>
                    </a:p>
                  </a:txBody>
                  <a:tcPr marL="64008" marR="64008" marT="27432" marB="27432" anchor="ctr">
                    <a:solidFill>
                      <a:srgbClr val="FFFFFF"/>
                    </a:solidFill>
                  </a:tcPr>
                </a:tc>
                <a:tc>
                  <a:txBody>
                    <a:bodyPr/>
                    <a:lstStyle/>
                    <a:p>
                      <a:r>
                        <a:rPr sz="1100" b="0" i="0">
                          <a:solidFill>
                            <a:srgbClr val="39424F"/>
                          </a:solidFill>
                          <a:latin typeface="Segoe UI"/>
                        </a:rPr>
                        <a:t>CartPole-v1</a:t>
                      </a:r>
                    </a:p>
                  </a:txBody>
                  <a:tcPr marL="64008" marR="64008" marT="27432" marB="27432" anchor="ctr">
                    <a:solidFill>
                      <a:srgbClr val="FFFFFF"/>
                    </a:solidFill>
                  </a:tcPr>
                </a:tc>
                <a:tc>
                  <a:txBody>
                    <a:bodyPr/>
                    <a:lstStyle/>
                    <a:p>
                      <a:r>
                        <a:rPr sz="1100" b="0" i="0">
                          <a:solidFill>
                            <a:srgbClr val="39424F"/>
                          </a:solidFill>
                          <a:latin typeface="Segoe UI"/>
                        </a:rPr>
                        <a:t>medium</a:t>
                      </a:r>
                    </a:p>
                  </a:txBody>
                  <a:tcPr marL="64008" marR="64008" marT="27432" marB="27432" anchor="ctr">
                    <a:solidFill>
                      <a:srgbClr val="FFFFFF"/>
                    </a:solidFill>
                  </a:tcPr>
                </a:tc>
                <a:tc>
                  <a:txBody>
                    <a:bodyPr/>
                    <a:lstStyle/>
                    <a:p>
                      <a:pPr algn="r"/>
                      <a:r>
                        <a:rPr sz="1100" b="0" i="0">
                          <a:solidFill>
                            <a:srgbClr val="39424F"/>
                          </a:solidFill>
                          <a:latin typeface="Consolas"/>
                        </a:rPr>
                        <a:t>50.045</a:t>
                      </a:r>
                    </a:p>
                  </a:txBody>
                  <a:tcPr marL="64008" marR="64008" marT="27432" marB="27432" anchor="ctr">
                    <a:solidFill>
                      <a:srgbClr val="FFFFFF"/>
                    </a:solidFill>
                  </a:tcPr>
                </a:tc>
                <a:tc>
                  <a:txBody>
                    <a:bodyPr/>
                    <a:lstStyle/>
                    <a:p>
                      <a:pPr algn="r"/>
                      <a:r>
                        <a:rPr sz="1100" b="0" i="0">
                          <a:solidFill>
                            <a:srgbClr val="39424F"/>
                          </a:solidFill>
                          <a:latin typeface="Consolas"/>
                        </a:rPr>
                        <a:t>f5002ce5…</a:t>
                      </a:r>
                    </a:p>
                  </a:txBody>
                  <a:tcPr marL="64008" marR="64008" marT="27432" marB="27432" anchor="ctr">
                    <a:solidFill>
                      <a:srgbClr val="FFFFFF"/>
                    </a:solidFill>
                  </a:tcPr>
                </a:tc>
              </a:tr>
              <a:tr h="292608">
                <a:tc>
                  <a:txBody>
                    <a:bodyPr/>
                    <a:lstStyle/>
                    <a:p>
                      <a:r>
                        <a:rPr sz="1100" b="1" i="0">
                          <a:solidFill>
                            <a:srgbClr val="141821"/>
                          </a:solidFill>
                          <a:latin typeface="Segoe UI"/>
                        </a:rPr>
                        <a:t>cartpole-expert-v2</a:t>
                      </a:r>
                    </a:p>
                  </a:txBody>
                  <a:tcPr marL="64008" marR="64008" marT="27432" marB="27432" anchor="ctr">
                    <a:solidFill>
                      <a:srgbClr val="DCEAE8"/>
                    </a:solidFill>
                  </a:tcPr>
                </a:tc>
                <a:tc>
                  <a:txBody>
                    <a:bodyPr/>
                    <a:lstStyle/>
                    <a:p>
                      <a:r>
                        <a:rPr sz="1100" b="0" i="0">
                          <a:solidFill>
                            <a:srgbClr val="39424F"/>
                          </a:solidFill>
                          <a:latin typeface="Segoe UI"/>
                        </a:rPr>
                        <a:t>CartPole-v1</a:t>
                      </a:r>
                    </a:p>
                  </a:txBody>
                  <a:tcPr marL="64008" marR="64008" marT="27432" marB="27432" anchor="ctr">
                    <a:solidFill>
                      <a:srgbClr val="DCEAE8"/>
                    </a:solidFill>
                  </a:tcPr>
                </a:tc>
                <a:tc>
                  <a:txBody>
                    <a:bodyPr/>
                    <a:lstStyle/>
                    <a:p>
                      <a:r>
                        <a:rPr sz="1100" b="0" i="0">
                          <a:solidFill>
                            <a:srgbClr val="39424F"/>
                          </a:solidFill>
                          <a:latin typeface="Segoe UI"/>
                        </a:rPr>
                        <a:t>expert</a:t>
                      </a:r>
                    </a:p>
                  </a:txBody>
                  <a:tcPr marL="64008" marR="64008" marT="27432" marB="27432" anchor="ctr">
                    <a:solidFill>
                      <a:srgbClr val="DCEAE8"/>
                    </a:solidFill>
                  </a:tcPr>
                </a:tc>
                <a:tc>
                  <a:txBody>
                    <a:bodyPr/>
                    <a:lstStyle/>
                    <a:p>
                      <a:pPr algn="r"/>
                      <a:r>
                        <a:rPr sz="1100" b="0" i="0">
                          <a:solidFill>
                            <a:srgbClr val="39424F"/>
                          </a:solidFill>
                          <a:latin typeface="Consolas"/>
                        </a:rPr>
                        <a:t>50.261</a:t>
                      </a:r>
                    </a:p>
                  </a:txBody>
                  <a:tcPr marL="64008" marR="64008" marT="27432" marB="27432" anchor="ctr">
                    <a:solidFill>
                      <a:srgbClr val="DCEAE8"/>
                    </a:solidFill>
                  </a:tcPr>
                </a:tc>
                <a:tc>
                  <a:txBody>
                    <a:bodyPr/>
                    <a:lstStyle/>
                    <a:p>
                      <a:pPr algn="r"/>
                      <a:r>
                        <a:rPr sz="1100" b="0" i="0">
                          <a:solidFill>
                            <a:srgbClr val="39424F"/>
                          </a:solidFill>
                          <a:latin typeface="Consolas"/>
                        </a:rPr>
                        <a:t>02de61a9…</a:t>
                      </a:r>
                    </a:p>
                  </a:txBody>
                  <a:tcPr marL="64008" marR="64008" marT="27432" marB="27432" anchor="ctr">
                    <a:solidFill>
                      <a:srgbClr val="DCEAE8"/>
                    </a:solidFill>
                  </a:tcPr>
                </a:tc>
              </a:tr>
              <a:tr h="292608">
                <a:tc>
                  <a:txBody>
                    <a:bodyPr/>
                    <a:lstStyle/>
                    <a:p>
                      <a:r>
                        <a:rPr sz="1100" b="0" i="0">
                          <a:solidFill>
                            <a:srgbClr val="39424F"/>
                          </a:solidFill>
                          <a:latin typeface="Segoe UI"/>
                        </a:rPr>
                        <a:t>lunarlander-random-v1</a:t>
                      </a:r>
                    </a:p>
                  </a:txBody>
                  <a:tcPr marL="64008" marR="64008" marT="27432" marB="27432" anchor="ctr">
                    <a:solidFill>
                      <a:srgbClr val="FFFFFF"/>
                    </a:solidFill>
                  </a:tcPr>
                </a:tc>
                <a:tc>
                  <a:txBody>
                    <a:bodyPr/>
                    <a:lstStyle/>
                    <a:p>
                      <a:r>
                        <a:rPr sz="1100" b="0" i="0">
                          <a:solidFill>
                            <a:srgbClr val="39424F"/>
                          </a:solidFill>
                          <a:latin typeface="Segoe UI"/>
                        </a:rPr>
                        <a:t>LunarLander-v3</a:t>
                      </a:r>
                    </a:p>
                  </a:txBody>
                  <a:tcPr marL="64008" marR="64008" marT="27432" marB="27432" anchor="ctr">
                    <a:solidFill>
                      <a:srgbClr val="FFFFFF"/>
                    </a:solidFill>
                  </a:tcPr>
                </a:tc>
                <a:tc>
                  <a:txBody>
                    <a:bodyPr/>
                    <a:lstStyle/>
                    <a:p>
                      <a:r>
                        <a:rPr sz="1100" b="0" i="0">
                          <a:solidFill>
                            <a:srgbClr val="39424F"/>
                          </a:solidFill>
                          <a:latin typeface="Segoe UI"/>
                        </a:rPr>
                        <a:t>random</a:t>
                      </a:r>
                    </a:p>
                  </a:txBody>
                  <a:tcPr marL="64008" marR="64008" marT="27432" marB="27432" anchor="ctr">
                    <a:solidFill>
                      <a:srgbClr val="FFFFFF"/>
                    </a:solidFill>
                  </a:tcPr>
                </a:tc>
                <a:tc>
                  <a:txBody>
                    <a:bodyPr/>
                    <a:lstStyle/>
                    <a:p>
                      <a:pPr algn="r"/>
                      <a:r>
                        <a:rPr sz="1100" b="0" i="0">
                          <a:solidFill>
                            <a:srgbClr val="39424F"/>
                          </a:solidFill>
                          <a:latin typeface="Consolas"/>
                        </a:rPr>
                        <a:t>50.020</a:t>
                      </a:r>
                    </a:p>
                  </a:txBody>
                  <a:tcPr marL="64008" marR="64008" marT="27432" marB="27432" anchor="ctr">
                    <a:solidFill>
                      <a:srgbClr val="FFFFFF"/>
                    </a:solidFill>
                  </a:tcPr>
                </a:tc>
                <a:tc>
                  <a:txBody>
                    <a:bodyPr/>
                    <a:lstStyle/>
                    <a:p>
                      <a:pPr algn="r"/>
                      <a:r>
                        <a:rPr sz="1100" b="0" i="0">
                          <a:solidFill>
                            <a:srgbClr val="39424F"/>
                          </a:solidFill>
                          <a:latin typeface="Consolas"/>
                        </a:rPr>
                        <a:t>24eebb92…</a:t>
                      </a:r>
                    </a:p>
                  </a:txBody>
                  <a:tcPr marL="64008" marR="64008" marT="27432" marB="27432" anchor="ctr">
                    <a:solidFill>
                      <a:srgbClr val="FFFFFF"/>
                    </a:solidFill>
                  </a:tcPr>
                </a:tc>
              </a:tr>
              <a:tr h="292608">
                <a:tc>
                  <a:txBody>
                    <a:bodyPr/>
                    <a:lstStyle/>
                    <a:p>
                      <a:r>
                        <a:rPr sz="1100" b="0" i="0">
                          <a:solidFill>
                            <a:srgbClr val="39424F"/>
                          </a:solidFill>
                          <a:latin typeface="Segoe UI"/>
                        </a:rPr>
                        <a:t>lunarlander-medium-v1</a:t>
                      </a:r>
                    </a:p>
                  </a:txBody>
                  <a:tcPr marL="64008" marR="64008" marT="27432" marB="27432" anchor="ctr">
                    <a:solidFill>
                      <a:srgbClr val="FFFFFF"/>
                    </a:solidFill>
                  </a:tcPr>
                </a:tc>
                <a:tc>
                  <a:txBody>
                    <a:bodyPr/>
                    <a:lstStyle/>
                    <a:p>
                      <a:r>
                        <a:rPr sz="1100" b="0" i="0">
                          <a:solidFill>
                            <a:srgbClr val="39424F"/>
                          </a:solidFill>
                          <a:latin typeface="Segoe UI"/>
                        </a:rPr>
                        <a:t>LunarLander-v3</a:t>
                      </a:r>
                    </a:p>
                  </a:txBody>
                  <a:tcPr marL="64008" marR="64008" marT="27432" marB="27432" anchor="ctr">
                    <a:solidFill>
                      <a:srgbClr val="FFFFFF"/>
                    </a:solidFill>
                  </a:tcPr>
                </a:tc>
                <a:tc>
                  <a:txBody>
                    <a:bodyPr/>
                    <a:lstStyle/>
                    <a:p>
                      <a:r>
                        <a:rPr sz="1100" b="0" i="0">
                          <a:solidFill>
                            <a:srgbClr val="39424F"/>
                          </a:solidFill>
                          <a:latin typeface="Segoe UI"/>
                        </a:rPr>
                        <a:t>medium</a:t>
                      </a:r>
                    </a:p>
                  </a:txBody>
                  <a:tcPr marL="64008" marR="64008" marT="27432" marB="27432" anchor="ctr">
                    <a:solidFill>
                      <a:srgbClr val="FFFFFF"/>
                    </a:solidFill>
                  </a:tcPr>
                </a:tc>
                <a:tc>
                  <a:txBody>
                    <a:bodyPr/>
                    <a:lstStyle/>
                    <a:p>
                      <a:pPr algn="r"/>
                      <a:r>
                        <a:rPr sz="1100" b="0" i="0">
                          <a:solidFill>
                            <a:srgbClr val="39424F"/>
                          </a:solidFill>
                          <a:latin typeface="Consolas"/>
                        </a:rPr>
                        <a:t>50.586</a:t>
                      </a:r>
                    </a:p>
                  </a:txBody>
                  <a:tcPr marL="64008" marR="64008" marT="27432" marB="27432" anchor="ctr">
                    <a:solidFill>
                      <a:srgbClr val="FFFFFF"/>
                    </a:solidFill>
                  </a:tcPr>
                </a:tc>
                <a:tc>
                  <a:txBody>
                    <a:bodyPr/>
                    <a:lstStyle/>
                    <a:p>
                      <a:pPr algn="r"/>
                      <a:r>
                        <a:rPr sz="1100" b="0" i="0">
                          <a:solidFill>
                            <a:srgbClr val="39424F"/>
                          </a:solidFill>
                          <a:latin typeface="Consolas"/>
                        </a:rPr>
                        <a:t>eb3e4f6c…</a:t>
                      </a:r>
                    </a:p>
                  </a:txBody>
                  <a:tcPr marL="64008" marR="64008" marT="27432" marB="27432" anchor="ctr">
                    <a:solidFill>
                      <a:srgbClr val="FFFFFF"/>
                    </a:solidFill>
                  </a:tcPr>
                </a:tc>
              </a:tr>
              <a:tr h="292608">
                <a:tc>
                  <a:txBody>
                    <a:bodyPr/>
                    <a:lstStyle/>
                    <a:p>
                      <a:r>
                        <a:rPr sz="1100" b="1" i="0">
                          <a:solidFill>
                            <a:srgbClr val="141821"/>
                          </a:solidFill>
                          <a:latin typeface="Segoe UI"/>
                        </a:rPr>
                        <a:t>lunarlander-expert-v1</a:t>
                      </a:r>
                    </a:p>
                  </a:txBody>
                  <a:tcPr marL="64008" marR="64008" marT="27432" marB="27432" anchor="ctr">
                    <a:solidFill>
                      <a:srgbClr val="DCEAE8"/>
                    </a:solidFill>
                  </a:tcPr>
                </a:tc>
                <a:tc>
                  <a:txBody>
                    <a:bodyPr/>
                    <a:lstStyle/>
                    <a:p>
                      <a:r>
                        <a:rPr sz="1100" b="0" i="0">
                          <a:solidFill>
                            <a:srgbClr val="39424F"/>
                          </a:solidFill>
                          <a:latin typeface="Segoe UI"/>
                        </a:rPr>
                        <a:t>LunarLander-v3</a:t>
                      </a:r>
                    </a:p>
                  </a:txBody>
                  <a:tcPr marL="64008" marR="64008" marT="27432" marB="27432" anchor="ctr">
                    <a:solidFill>
                      <a:srgbClr val="DCEAE8"/>
                    </a:solidFill>
                  </a:tcPr>
                </a:tc>
                <a:tc>
                  <a:txBody>
                    <a:bodyPr/>
                    <a:lstStyle/>
                    <a:p>
                      <a:r>
                        <a:rPr sz="1100" b="0" i="0">
                          <a:solidFill>
                            <a:srgbClr val="39424F"/>
                          </a:solidFill>
                          <a:latin typeface="Segoe UI"/>
                        </a:rPr>
                        <a:t>expert</a:t>
                      </a:r>
                    </a:p>
                  </a:txBody>
                  <a:tcPr marL="64008" marR="64008" marT="27432" marB="27432" anchor="ctr">
                    <a:solidFill>
                      <a:srgbClr val="DCEAE8"/>
                    </a:solidFill>
                  </a:tcPr>
                </a:tc>
                <a:tc>
                  <a:txBody>
                    <a:bodyPr/>
                    <a:lstStyle/>
                    <a:p>
                      <a:pPr algn="r"/>
                      <a:r>
                        <a:rPr sz="1100" b="0" i="0">
                          <a:solidFill>
                            <a:srgbClr val="39424F"/>
                          </a:solidFill>
                          <a:latin typeface="Consolas"/>
                        </a:rPr>
                        <a:t>50.552</a:t>
                      </a:r>
                    </a:p>
                  </a:txBody>
                  <a:tcPr marL="64008" marR="64008" marT="27432" marB="27432" anchor="ctr">
                    <a:solidFill>
                      <a:srgbClr val="DCEAE8"/>
                    </a:solidFill>
                  </a:tcPr>
                </a:tc>
                <a:tc>
                  <a:txBody>
                    <a:bodyPr/>
                    <a:lstStyle/>
                    <a:p>
                      <a:pPr algn="r"/>
                      <a:r>
                        <a:rPr sz="1100" b="0" i="0">
                          <a:solidFill>
                            <a:srgbClr val="39424F"/>
                          </a:solidFill>
                          <a:latin typeface="Consolas"/>
                        </a:rPr>
                        <a:t>328eb8b4…</a:t>
                      </a:r>
                    </a:p>
                  </a:txBody>
                  <a:tcPr marL="64008" marR="64008" marT="27432" marB="27432" anchor="ctr">
                    <a:solidFill>
                      <a:srgbClr val="DCEAE8"/>
                    </a:solidFill>
                  </a:tcPr>
                </a:tc>
              </a:tr>
            </a:tbl>
          </a:graphicData>
        </a:graphic>
      </p:graphicFrame>
      <p:sp>
        <p:nvSpPr>
          <p:cNvPr id="7" name="TextBox 6"/>
          <p:cNvSpPr txBox="1"/>
          <p:nvPr/>
        </p:nvSpPr>
        <p:spPr>
          <a:xfrm>
            <a:off x="658368" y="4206240"/>
            <a:ext cx="6766560" cy="365760"/>
          </a:xfrm>
          <a:prstGeom prst="rect">
            <a:avLst/>
          </a:prstGeom>
          <a:noFill/>
        </p:spPr>
        <p:txBody>
          <a:bodyPr wrap="square" lIns="0" rIns="0" tIns="0" bIns="0">
            <a:spAutoFit/>
          </a:bodyPr>
          <a:lstStyle/>
          <a:p>
            <a:pPr>
              <a:lnSpc>
                <a:spcPct val="122000"/>
              </a:lnSpc>
              <a:spcAft>
                <a:spcPts val="700"/>
              </a:spcAft>
            </a:pPr>
            <a:r>
              <a:rPr sz="1250" b="1" i="0">
                <a:solidFill>
                  <a:srgbClr val="17605B"/>
                </a:solidFill>
                <a:latin typeface="Segoe UI"/>
              </a:rPr>
              <a:t>—  </a:t>
            </a:r>
            <a:r>
              <a:rPr sz="1250" b="1" i="0">
                <a:solidFill>
                  <a:srgbClr val="141821"/>
                </a:solidFill>
                <a:latin typeface="Segoe UI"/>
              </a:rPr>
              <a:t>Ba mức chất lượng</a:t>
            </a:r>
            <a:r>
              <a:rPr sz="1250" b="0" i="0">
                <a:solidFill>
                  <a:srgbClr val="39424F"/>
                </a:solidFill>
                <a:latin typeface="Segoe UI"/>
              </a:rPr>
              <a:t> — chất lượng dữ liệu là biến số quan trọng nhất trong offline RL. random: phủ rộng nhưng không có hành vi tốt. expert: chất lượng cao nhưng </a:t>
            </a:r>
            <a:r>
              <a:rPr sz="1250" b="1" i="0">
                <a:solidFill>
                  <a:srgbClr val="141821"/>
                </a:solidFill>
                <a:latin typeface="Segoe UI"/>
              </a:rPr>
              <a:t>hẹp</a:t>
            </a:r>
            <a:r>
              <a:rPr sz="1250" b="0" i="0">
                <a:solidFill>
                  <a:srgbClr val="39424F"/>
                </a:solidFill>
                <a:latin typeface="Segoe UI"/>
              </a:rPr>
              <a:t>, chỉ phủ trạng thái mà agent giỏi đi qua.</a:t>
            </a:r>
          </a:p>
          <a:p>
            <a:pPr>
              <a:lnSpc>
                <a:spcPct val="122000"/>
              </a:lnSpc>
              <a:spcAft>
                <a:spcPts val="700"/>
              </a:spcAft>
            </a:pPr>
            <a:r>
              <a:rPr sz="1250" b="1" i="0">
                <a:solidFill>
                  <a:srgbClr val="17605B"/>
                </a:solidFill>
                <a:latin typeface="Segoe UI"/>
              </a:rPr>
              <a:t>—  </a:t>
            </a:r>
            <a:r>
              <a:rPr sz="1250" b="1" i="0">
                <a:solidFill>
                  <a:srgbClr val="141821"/>
                </a:solidFill>
                <a:latin typeface="Segoe UI"/>
              </a:rPr>
              <a:t>Hai môi trường</a:t>
            </a:r>
            <a:r>
              <a:rPr sz="1250" b="0" i="0">
                <a:solidFill>
                  <a:srgbClr val="39424F"/>
                </a:solidFill>
                <a:latin typeface="Segoe UI"/>
              </a:rPr>
              <a:t> — CartPole 4 chiều / 2 hành động / thưởng dày; LunarLander 8 chiều / 4 hành động / thưởng thưa và âm nặng. Thứ tự thắng thua </a:t>
            </a:r>
            <a:r>
              <a:rPr sz="1250" b="1" i="0">
                <a:solidFill>
                  <a:srgbClr val="141821"/>
                </a:solidFill>
                <a:latin typeface="Segoe UI"/>
              </a:rPr>
              <a:t>đảo ngược</a:t>
            </a:r>
            <a:r>
              <a:rPr sz="1250" b="0" i="0">
                <a:solidFill>
                  <a:srgbClr val="39424F"/>
                </a:solidFill>
                <a:latin typeface="Segoe UI"/>
              </a:rPr>
              <a:t> giữa hai môi trường, nên một môi trường là chưa đủ.</a:t>
            </a:r>
          </a:p>
          <a:p>
            <a:pPr>
              <a:lnSpc>
                <a:spcPct val="122000"/>
              </a:lnSpc>
              <a:spcAft>
                <a:spcPts val="700"/>
              </a:spcAft>
            </a:pPr>
            <a:r>
              <a:rPr sz="1250" b="1" i="0">
                <a:solidFill>
                  <a:srgbClr val="17605B"/>
                </a:solidFill>
                <a:latin typeface="Segoe UI"/>
              </a:rPr>
              <a:t>—  </a:t>
            </a:r>
            <a:r>
              <a:rPr sz="1250" b="1" i="0">
                <a:solidFill>
                  <a:srgbClr val="141821"/>
                </a:solidFill>
                <a:latin typeface="Segoe UI"/>
              </a:rPr>
              <a:t>≈ 50.000 transition</a:t>
            </a:r>
            <a:r>
              <a:rPr sz="1250" b="0" i="0">
                <a:solidFill>
                  <a:srgbClr val="39424F"/>
                </a:solidFill>
                <a:latin typeface="Segoe UI"/>
              </a:rPr>
              <a:t> — đủ lớn để việc học có nghĩa, đủ nhỏ để cây Merkle sâu 16–17 tầng và toàn bộ pipeline chạy trong ngân sách.</a:t>
            </a:r>
          </a:p>
          <a:p>
            <a:pPr>
              <a:lnSpc>
                <a:spcPct val="122000"/>
              </a:lnSpc>
              <a:spcAft>
                <a:spcPts val="700"/>
              </a:spcAft>
            </a:pPr>
            <a:r>
              <a:rPr sz="1250" b="1" i="0">
                <a:solidFill>
                  <a:srgbClr val="17605B"/>
                </a:solidFill>
                <a:latin typeface="Segoe UI"/>
              </a:rPr>
              <a:t>—  </a:t>
            </a:r>
            <a:r>
              <a:rPr sz="1250" b="1" i="0">
                <a:solidFill>
                  <a:srgbClr val="141821"/>
                </a:solidFill>
                <a:latin typeface="Segoe UI"/>
              </a:rPr>
              <a:t>Số lẻ, không tròn</a:t>
            </a:r>
            <a:r>
              <a:rPr sz="1250" b="0" i="0">
                <a:solidFill>
                  <a:srgbClr val="39424F"/>
                </a:solidFill>
                <a:latin typeface="Segoe UI"/>
              </a:rPr>
              <a:t> — thu thập dừng ở ranh giới episode; cắt giữa episode tạo transition cuối có cờ done sai.</a:t>
            </a:r>
          </a:p>
        </p:txBody>
      </p:sp>
      <p:sp>
        <p:nvSpPr>
          <p:cNvPr id="8" name="TextBox 7"/>
          <p:cNvSpPr txBox="1"/>
          <p:nvPr/>
        </p:nvSpPr>
        <p:spPr>
          <a:xfrm>
            <a:off x="8037576" y="2093976"/>
            <a:ext cx="33009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OFFLINE CHỨ KHÔNG ONLINE — VÌ SAO</a:t>
            </a:r>
          </a:p>
          <a:p>
            <a:pPr>
              <a:lnSpc>
                <a:spcPct val="122000"/>
              </a:lnSpc>
            </a:pPr>
            <a:r>
              <a:rPr sz="1250" b="0" i="0">
                <a:solidFill>
                  <a:srgbClr val="39424F"/>
                </a:solidFill>
                <a:latin typeface="Segoe UI"/>
              </a:rPr>
              <a:t>Dữ liệu offline </a:t>
            </a:r>
            <a:r>
              <a:rPr sz="1250" b="1" i="0">
                <a:solidFill>
                  <a:srgbClr val="141821"/>
                </a:solidFill>
                <a:latin typeface="Segoe UI"/>
              </a:rPr>
              <a:t>cố định</a:t>
            </a:r>
            <a:r>
              <a:rPr sz="1250" b="0" i="0">
                <a:solidFill>
                  <a:srgbClr val="39424F"/>
                </a:solidFill>
                <a:latin typeface="Segoe UI"/>
              </a:rPr>
              <a:t> nên </a:t>
            </a:r>
            <a:r>
              <a:rPr sz="1250" b="1" i="0">
                <a:solidFill>
                  <a:srgbClr val="141821"/>
                </a:solidFill>
                <a:latin typeface="Segoe UI"/>
              </a:rPr>
              <a:t>cam kết được</a:t>
            </a:r>
            <a:r>
              <a:rPr sz="1250" b="0" i="0">
                <a:solidFill>
                  <a:srgbClr val="39424F"/>
                </a:solidFill>
                <a:latin typeface="Segoe UI"/>
              </a:rPr>
              <a:t>. Dữ liệu online do chính agent sinh ra trong lúc chạy, không có gì để cam kết trước. Offline RL là thứ duy nhất trong RL mà proof-of-training có nghĩa hôm nay.</a:t>
            </a:r>
          </a:p>
        </p:txBody>
      </p:sp>
      <p:sp>
        <p:nvSpPr>
          <p:cNvPr id="11" name="TextBox 10"/>
          <p:cNvSpPr txBox="1"/>
          <p:nvPr/>
        </p:nvSpPr>
        <p:spPr>
          <a:xfrm>
            <a:off x="8037576" y="3817300"/>
            <a:ext cx="330098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MOUNTAINCAR ĐÃ THỬ VÀ ĐÃ LOẠI</a:t>
            </a:r>
          </a:p>
          <a:p>
            <a:pPr>
              <a:lnSpc>
                <a:spcPct val="122000"/>
              </a:lnSpc>
            </a:pPr>
            <a:r>
              <a:rPr sz="1250" b="0" i="0">
                <a:solidFill>
                  <a:srgbClr val="39424F"/>
                </a:solidFill>
                <a:latin typeface="Segoe UI"/>
              </a:rPr>
              <a:t>DQN vanilla 200.000 bước cho đúng −200,0 ở </a:t>
            </a:r>
            <a:r>
              <a:rPr sz="1250" b="1" i="0">
                <a:solidFill>
                  <a:srgbClr val="141821"/>
                </a:solidFill>
                <a:latin typeface="Segoe UI"/>
              </a:rPr>
              <a:t>cả 10 checkpoint</a:t>
            </a:r>
            <a:r>
              <a:rPr sz="1250" b="0" i="0">
                <a:solidFill>
                  <a:srgbClr val="39424F"/>
                </a:solidFill>
                <a:latin typeface="Segoe UI"/>
              </a:rPr>
              <a:t> — không lần nào chạm cờ, nên không sinh nổi cặp medium/expert phân biệt được.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 name="Rectangle 29"/>
          <p:cNvSpPr/>
          <p:nvPr/>
        </p:nvSpPr>
        <p:spPr>
          <a:xfrm>
            <a:off x="7726679" y="4160520"/>
            <a:ext cx="3794760" cy="1485580"/>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26679" y="4160520"/>
            <a:ext cx="38100" cy="148558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1 · DỮ LIỆU</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1 — Quá trình xử lý dữ liệu, bốn bước</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Mỗi bước để lại một hash, và cả bốn hash đều đi vào public input của proof.</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5</a:t>
            </a:r>
          </a:p>
        </p:txBody>
      </p:sp>
      <p:sp>
        <p:nvSpPr>
          <p:cNvPr id="7" name="Rectangle 6"/>
          <p:cNvSpPr/>
          <p:nvPr/>
        </p:nvSpPr>
        <p:spPr>
          <a:xfrm>
            <a:off x="658368" y="1965960"/>
            <a:ext cx="6858000" cy="859536"/>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65960"/>
            <a:ext cx="44450" cy="85953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84832"/>
            <a:ext cx="1554480" cy="274320"/>
          </a:xfrm>
          <a:prstGeom prst="rect">
            <a:avLst/>
          </a:prstGeom>
          <a:noFill/>
        </p:spPr>
        <p:txBody>
          <a:bodyPr wrap="square" lIns="0" rIns="0" tIns="0" bIns="0">
            <a:spAutoFit/>
          </a:bodyPr>
          <a:lstStyle/>
          <a:p>
            <a:r>
              <a:rPr sz="1300" b="1" i="0">
                <a:solidFill>
                  <a:srgbClr val="17605B"/>
                </a:solidFill>
                <a:latin typeface="Segoe UI"/>
              </a:rPr>
              <a:t>1  COLLECT</a:t>
            </a:r>
          </a:p>
        </p:txBody>
      </p:sp>
      <p:sp>
        <p:nvSpPr>
          <p:cNvPr id="10" name="TextBox 9"/>
          <p:cNvSpPr txBox="1"/>
          <p:nvPr/>
        </p:nvSpPr>
        <p:spPr>
          <a:xfrm>
            <a:off x="2350008" y="2066544"/>
            <a:ext cx="4937760" cy="457200"/>
          </a:xfrm>
          <a:prstGeom prst="rect">
            <a:avLst/>
          </a:prstGeom>
          <a:noFill/>
        </p:spPr>
        <p:txBody>
          <a:bodyPr wrap="square" lIns="0" rIns="0" tIns="0" bIns="0">
            <a:spAutoFit/>
          </a:bodyPr>
          <a:lstStyle/>
          <a:p>
            <a:pPr>
              <a:lnSpc>
                <a:spcPct val="118000"/>
              </a:lnSpc>
            </a:pPr>
            <a:r>
              <a:rPr sz="1200" b="0" i="0">
                <a:solidFill>
                  <a:srgbClr val="39424F"/>
                </a:solidFill>
                <a:latin typeface="Segoe UI"/>
              </a:rPr>
              <a:t>chạy chính sách trong môi trường, ghi từng transition; mỗi dòng nối vào một chuỗi hash</a:t>
            </a:r>
          </a:p>
        </p:txBody>
      </p:sp>
      <p:sp>
        <p:nvSpPr>
          <p:cNvPr id="11" name="TextBox 10"/>
          <p:cNvSpPr txBox="1"/>
          <p:nvPr/>
        </p:nvSpPr>
        <p:spPr>
          <a:xfrm>
            <a:off x="2350008" y="2532888"/>
            <a:ext cx="4937760" cy="237744"/>
          </a:xfrm>
          <a:prstGeom prst="rect">
            <a:avLst/>
          </a:prstGeom>
          <a:noFill/>
        </p:spPr>
        <p:txBody>
          <a:bodyPr wrap="square" lIns="0" rIns="0" tIns="0" bIns="0">
            <a:spAutoFit/>
          </a:bodyPr>
          <a:lstStyle/>
          <a:p>
            <a:r>
              <a:rPr sz="1000" b="0" i="0">
                <a:solidFill>
                  <a:srgbClr val="6B7581"/>
                </a:solidFill>
                <a:latin typeface="Consolas"/>
              </a:rPr>
              <a:t>raw_trajectory_hash · collection_log_final_hash · base_seed</a:t>
            </a:r>
          </a:p>
        </p:txBody>
      </p:sp>
      <p:sp>
        <p:nvSpPr>
          <p:cNvPr id="12" name="Rectangle 11"/>
          <p:cNvSpPr/>
          <p:nvPr/>
        </p:nvSpPr>
        <p:spPr>
          <a:xfrm>
            <a:off x="658368" y="2990088"/>
            <a:ext cx="6858000" cy="859536"/>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990088"/>
            <a:ext cx="44450" cy="85953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108960"/>
            <a:ext cx="1554480" cy="274320"/>
          </a:xfrm>
          <a:prstGeom prst="rect">
            <a:avLst/>
          </a:prstGeom>
          <a:noFill/>
        </p:spPr>
        <p:txBody>
          <a:bodyPr wrap="square" lIns="0" rIns="0" tIns="0" bIns="0">
            <a:spAutoFit/>
          </a:bodyPr>
          <a:lstStyle/>
          <a:p>
            <a:r>
              <a:rPr sz="1300" b="1" i="0">
                <a:solidFill>
                  <a:srgbClr val="17605B"/>
                </a:solidFill>
                <a:latin typeface="Segoe UI"/>
              </a:rPr>
              <a:t>2  AUDIT</a:t>
            </a:r>
          </a:p>
        </p:txBody>
      </p:sp>
      <p:sp>
        <p:nvSpPr>
          <p:cNvPr id="15" name="TextBox 14"/>
          <p:cNvSpPr txBox="1"/>
          <p:nvPr/>
        </p:nvSpPr>
        <p:spPr>
          <a:xfrm>
            <a:off x="2350008" y="3090672"/>
            <a:ext cx="4937760" cy="457200"/>
          </a:xfrm>
          <a:prstGeom prst="rect">
            <a:avLst/>
          </a:prstGeom>
          <a:noFill/>
        </p:spPr>
        <p:txBody>
          <a:bodyPr wrap="square" lIns="0" rIns="0" tIns="0" bIns="0">
            <a:spAutoFit/>
          </a:bodyPr>
          <a:lstStyle/>
          <a:p>
            <a:pPr>
              <a:lnSpc>
                <a:spcPct val="118000"/>
              </a:lnSpc>
            </a:pPr>
            <a:r>
              <a:rPr sz="1200" b="0" i="0">
                <a:solidFill>
                  <a:srgbClr val="39424F"/>
                </a:solidFill>
                <a:latin typeface="Segoe UI"/>
              </a:rPr>
              <a:t>kiểm lại: reward có khớp môi trường không, replay có nhất quán không, episode có đóng đúng không</a:t>
            </a:r>
          </a:p>
        </p:txBody>
      </p:sp>
      <p:sp>
        <p:nvSpPr>
          <p:cNvPr id="16" name="TextBox 15"/>
          <p:cNvSpPr txBox="1"/>
          <p:nvPr/>
        </p:nvSpPr>
        <p:spPr>
          <a:xfrm>
            <a:off x="2350008" y="3557016"/>
            <a:ext cx="4937760" cy="237744"/>
          </a:xfrm>
          <a:prstGeom prst="rect">
            <a:avLst/>
          </a:prstGeom>
          <a:noFill/>
        </p:spPr>
        <p:txBody>
          <a:bodyPr wrap="square" lIns="0" rIns="0" tIns="0" bIns="0">
            <a:spAutoFit/>
          </a:bodyPr>
          <a:lstStyle/>
          <a:p>
            <a:r>
              <a:rPr sz="1000" b="0" i="0">
                <a:solidFill>
                  <a:srgbClr val="6B7581"/>
                </a:solidFill>
                <a:latin typeface="Consolas"/>
              </a:rPr>
              <a:t>audit_report_hash · replay_audit_passed · reward_audit_passed</a:t>
            </a:r>
          </a:p>
        </p:txBody>
      </p:sp>
      <p:sp>
        <p:nvSpPr>
          <p:cNvPr id="17" name="Rectangle 16"/>
          <p:cNvSpPr/>
          <p:nvPr/>
        </p:nvSpPr>
        <p:spPr>
          <a:xfrm>
            <a:off x="658368" y="4014216"/>
            <a:ext cx="6858000" cy="859536"/>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14216"/>
            <a:ext cx="44450" cy="85953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133088"/>
            <a:ext cx="1554480" cy="274320"/>
          </a:xfrm>
          <a:prstGeom prst="rect">
            <a:avLst/>
          </a:prstGeom>
          <a:noFill/>
        </p:spPr>
        <p:txBody>
          <a:bodyPr wrap="square" lIns="0" rIns="0" tIns="0" bIns="0">
            <a:spAutoFit/>
          </a:bodyPr>
          <a:lstStyle/>
          <a:p>
            <a:r>
              <a:rPr sz="1300" b="1" i="0">
                <a:solidFill>
                  <a:srgbClr val="17605B"/>
                </a:solidFill>
                <a:latin typeface="Segoe UI"/>
              </a:rPr>
              <a:t>3  COMMIT</a:t>
            </a:r>
          </a:p>
        </p:txBody>
      </p:sp>
      <p:sp>
        <p:nvSpPr>
          <p:cNvPr id="20" name="TextBox 19"/>
          <p:cNvSpPr txBox="1"/>
          <p:nvPr/>
        </p:nvSpPr>
        <p:spPr>
          <a:xfrm>
            <a:off x="2350008" y="4114800"/>
            <a:ext cx="4937760" cy="457200"/>
          </a:xfrm>
          <a:prstGeom prst="rect">
            <a:avLst/>
          </a:prstGeom>
          <a:noFill/>
        </p:spPr>
        <p:txBody>
          <a:bodyPr wrap="square" lIns="0" rIns="0" tIns="0" bIns="0">
            <a:spAutoFit/>
          </a:bodyPr>
          <a:lstStyle/>
          <a:p>
            <a:pPr>
              <a:lnSpc>
                <a:spcPct val="118000"/>
              </a:lnSpc>
            </a:pPr>
            <a:r>
              <a:rPr sz="1200" b="0" i="0">
                <a:solidFill>
                  <a:srgbClr val="39424F"/>
                </a:solidFill>
                <a:latin typeface="Segoe UI"/>
              </a:rPr>
              <a:t>mã hoá fixed-point → băm từng lá → dựng cây Merkle</a:t>
            </a:r>
          </a:p>
        </p:txBody>
      </p:sp>
      <p:sp>
        <p:nvSpPr>
          <p:cNvPr id="21" name="TextBox 20"/>
          <p:cNvSpPr txBox="1"/>
          <p:nvPr/>
        </p:nvSpPr>
        <p:spPr>
          <a:xfrm>
            <a:off x="2350008" y="4581144"/>
            <a:ext cx="4937760" cy="237744"/>
          </a:xfrm>
          <a:prstGeom prst="rect">
            <a:avLst/>
          </a:prstGeom>
          <a:noFill/>
        </p:spPr>
        <p:txBody>
          <a:bodyPr wrap="square" lIns="0" rIns="0" tIns="0" bIns="0">
            <a:spAutoFit/>
          </a:bodyPr>
          <a:lstStyle/>
          <a:p>
            <a:r>
              <a:rPr sz="1000" b="0" i="0">
                <a:solidFill>
                  <a:srgbClr val="6B7581"/>
                </a:solidFill>
                <a:latin typeface="Consolas"/>
              </a:rPr>
              <a:t>merkle_root · manifest_hash · leaf_hash_rule</a:t>
            </a:r>
          </a:p>
        </p:txBody>
      </p:sp>
      <p:sp>
        <p:nvSpPr>
          <p:cNvPr id="22" name="Rectangle 21"/>
          <p:cNvSpPr/>
          <p:nvPr/>
        </p:nvSpPr>
        <p:spPr>
          <a:xfrm>
            <a:off x="658368" y="5038344"/>
            <a:ext cx="6858000" cy="859536"/>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038344"/>
            <a:ext cx="44450" cy="85953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5157216"/>
            <a:ext cx="1554480" cy="274320"/>
          </a:xfrm>
          <a:prstGeom prst="rect">
            <a:avLst/>
          </a:prstGeom>
          <a:noFill/>
        </p:spPr>
        <p:txBody>
          <a:bodyPr wrap="square" lIns="0" rIns="0" tIns="0" bIns="0">
            <a:spAutoFit/>
          </a:bodyPr>
          <a:lstStyle/>
          <a:p>
            <a:r>
              <a:rPr sz="1300" b="1" i="0">
                <a:solidFill>
                  <a:srgbClr val="17605B"/>
                </a:solidFill>
                <a:latin typeface="Segoe UI"/>
              </a:rPr>
              <a:t>4  VERIFY</a:t>
            </a:r>
          </a:p>
        </p:txBody>
      </p:sp>
      <p:sp>
        <p:nvSpPr>
          <p:cNvPr id="25" name="TextBox 24"/>
          <p:cNvSpPr txBox="1"/>
          <p:nvPr/>
        </p:nvSpPr>
        <p:spPr>
          <a:xfrm>
            <a:off x="2350008" y="5138928"/>
            <a:ext cx="4937760" cy="457200"/>
          </a:xfrm>
          <a:prstGeom prst="rect">
            <a:avLst/>
          </a:prstGeom>
          <a:noFill/>
        </p:spPr>
        <p:txBody>
          <a:bodyPr wrap="square" lIns="0" rIns="0" tIns="0" bIns="0">
            <a:spAutoFit/>
          </a:bodyPr>
          <a:lstStyle/>
          <a:p>
            <a:pPr>
              <a:lnSpc>
                <a:spcPct val="118000"/>
              </a:lnSpc>
            </a:pPr>
            <a:r>
              <a:rPr sz="1200" b="0" i="0">
                <a:solidFill>
                  <a:srgbClr val="39424F"/>
                </a:solidFill>
                <a:latin typeface="Segoe UI"/>
              </a:rPr>
              <a:t>dựng lại cây từ dữ liệu và so root; cổng CI chặn nếu lệch</a:t>
            </a:r>
          </a:p>
        </p:txBody>
      </p:sp>
      <p:sp>
        <p:nvSpPr>
          <p:cNvPr id="26" name="TextBox 25"/>
          <p:cNvSpPr txBox="1"/>
          <p:nvPr/>
        </p:nvSpPr>
        <p:spPr>
          <a:xfrm>
            <a:off x="2350008" y="5605272"/>
            <a:ext cx="4937760" cy="237744"/>
          </a:xfrm>
          <a:prstGeom prst="rect">
            <a:avLst/>
          </a:prstGeom>
          <a:noFill/>
        </p:spPr>
        <p:txBody>
          <a:bodyPr wrap="square" lIns="0" rIns="0" tIns="0" bIns="0">
            <a:spAutoFit/>
          </a:bodyPr>
          <a:lstStyle/>
          <a:p>
            <a:r>
              <a:rPr sz="1000" b="0" i="0">
                <a:solidFill>
                  <a:srgbClr val="6B7581"/>
                </a:solidFill>
                <a:latin typeface="Consolas"/>
              </a:rPr>
              <a:t>verify_dataset_commitment</a:t>
            </a:r>
          </a:p>
        </p:txBody>
      </p:sp>
      <p:sp>
        <p:nvSpPr>
          <p:cNvPr id="27" name="Rectangle 26"/>
          <p:cNvSpPr/>
          <p:nvPr/>
        </p:nvSpPr>
        <p:spPr>
          <a:xfrm>
            <a:off x="7726679" y="1965960"/>
            <a:ext cx="3794760" cy="2096008"/>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72983" y="2075688"/>
            <a:ext cx="3502152" cy="1876552"/>
          </a:xfrm>
          <a:prstGeom prst="rect">
            <a:avLst/>
          </a:prstGeom>
          <a:noFill/>
        </p:spPr>
        <p:txBody>
          <a:bodyPr wrap="square" lIns="0" rIns="0" tIns="0" bIns="0">
            <a:spAutoFit/>
          </a:bodyPr>
          <a:lstStyle/>
          <a:p>
            <a:pPr>
              <a:lnSpc>
                <a:spcPct val="134000"/>
              </a:lnSpc>
              <a:spcAft>
                <a:spcPts val="0"/>
              </a:spcAft>
            </a:pPr>
            <a:r>
              <a:rPr sz="1000" b="0" i="0">
                <a:solidFill>
                  <a:srgbClr val="39424F"/>
                </a:solidFill>
                <a:latin typeface="Consolas"/>
              </a:rPr>
              <a:t>collection_log.jsonl  (dòng đầu)</a:t>
            </a:r>
          </a:p>
          <a:p>
            <a:pPr>
              <a:lnSpc>
                <a:spcPct val="134000"/>
              </a:lnSpc>
              <a:spcAft>
                <a:spcPts val="0"/>
              </a:spcAft>
            </a:pPr>
            <a:r>
              <a:rPr sz="1000" b="0" i="0">
                <a:solidFill>
                  <a:srgbClr val="39424F"/>
                </a:solidFill>
                <a:latin typeface="Consolas"/>
              </a:rPr>
              <a:t> </a:t>
            </a:r>
          </a:p>
          <a:p>
            <a:pPr>
              <a:lnSpc>
                <a:spcPct val="134000"/>
              </a:lnSpc>
              <a:spcAft>
                <a:spcPts val="0"/>
              </a:spcAft>
            </a:pPr>
            <a:r>
              <a:rPr sz="1000" b="0" i="0">
                <a:solidFill>
                  <a:srgbClr val="39424F"/>
                </a:solidFill>
                <a:latin typeface="Consolas"/>
              </a:rPr>
              <a:t>prev_log_hash    : zk_offline_dqn_</a:t>
            </a:r>
          </a:p>
          <a:p>
            <a:pPr>
              <a:lnSpc>
                <a:spcPct val="134000"/>
              </a:lnSpc>
              <a:spcAft>
                <a:spcPts val="0"/>
              </a:spcAft>
            </a:pPr>
            <a:r>
              <a:rPr sz="1000" b="0" i="0">
                <a:solidFill>
                  <a:srgbClr val="39424F"/>
                </a:solidFill>
                <a:latin typeface="Consolas"/>
              </a:rPr>
              <a:t>                   collection_log_v1</a:t>
            </a:r>
          </a:p>
          <a:p>
            <a:pPr>
              <a:lnSpc>
                <a:spcPct val="134000"/>
              </a:lnSpc>
              <a:spcAft>
                <a:spcPts val="0"/>
              </a:spcAft>
            </a:pPr>
            <a:r>
              <a:rPr sz="1000" b="0" i="0">
                <a:solidFill>
                  <a:srgbClr val="39424F"/>
                </a:solidFill>
                <a:latin typeface="Consolas"/>
              </a:rPr>
              <a:t>transition_hash  : 47cbf792…</a:t>
            </a:r>
          </a:p>
          <a:p>
            <a:pPr>
              <a:lnSpc>
                <a:spcPct val="134000"/>
              </a:lnSpc>
              <a:spcAft>
                <a:spcPts val="0"/>
              </a:spcAft>
            </a:pPr>
            <a:r>
              <a:rPr sz="1000" b="0" i="0">
                <a:solidFill>
                  <a:srgbClr val="39424F"/>
                </a:solidFill>
                <a:latin typeface="Consolas"/>
              </a:rPr>
              <a:t>current_log_hash : a45657763a45df4d…</a:t>
            </a:r>
          </a:p>
          <a:p>
            <a:pPr>
              <a:lnSpc>
                <a:spcPct val="134000"/>
              </a:lnSpc>
              <a:spcAft>
                <a:spcPts val="0"/>
              </a:spcAft>
            </a:pPr>
            <a:r>
              <a:rPr sz="1000" b="0" i="0">
                <a:solidFill>
                  <a:srgbClr val="39424F"/>
                </a:solidFill>
                <a:latin typeface="Consolas"/>
              </a:rPr>
              <a:t> </a:t>
            </a:r>
          </a:p>
          <a:p>
            <a:pPr>
              <a:lnSpc>
                <a:spcPct val="134000"/>
              </a:lnSpc>
              <a:spcAft>
                <a:spcPts val="0"/>
              </a:spcAft>
            </a:pPr>
            <a:r>
              <a:rPr sz="1000" b="0" i="0">
                <a:solidFill>
                  <a:srgbClr val="39424F"/>
                </a:solidFill>
                <a:latin typeface="Consolas"/>
              </a:rPr>
              <a:t>Mỗi dòng băm cùng dòng trước → một</a:t>
            </a:r>
          </a:p>
          <a:p>
            <a:pPr>
              <a:lnSpc>
                <a:spcPct val="134000"/>
              </a:lnSpc>
              <a:spcAft>
                <a:spcPts val="0"/>
              </a:spcAft>
            </a:pPr>
            <a:r>
              <a:rPr sz="1000" b="0" i="0">
                <a:solidFill>
                  <a:srgbClr val="39424F"/>
                </a:solidFill>
                <a:latin typeface="Consolas"/>
              </a:rPr>
              <a:t>chuỗi. Sửa hay bỏ một transition ở</a:t>
            </a:r>
          </a:p>
          <a:p>
            <a:pPr>
              <a:lnSpc>
                <a:spcPct val="134000"/>
              </a:lnSpc>
              <a:spcAft>
                <a:spcPts val="0"/>
              </a:spcAft>
            </a:pPr>
            <a:r>
              <a:rPr sz="1000" b="0" i="0">
                <a:solidFill>
                  <a:srgbClr val="39424F"/>
                </a:solidFill>
                <a:latin typeface="Consolas"/>
              </a:rPr>
              <a:t>giữa làm đổi mọi hash phía sau.</a:t>
            </a:r>
          </a:p>
        </p:txBody>
      </p:sp>
      <p:sp>
        <p:nvSpPr>
          <p:cNvPr id="29" name="TextBox 28"/>
          <p:cNvSpPr txBox="1"/>
          <p:nvPr/>
        </p:nvSpPr>
        <p:spPr>
          <a:xfrm>
            <a:off x="7946135" y="4288536"/>
            <a:ext cx="339242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CẦN BƯỚC AUDIT RIÊNG</a:t>
            </a:r>
          </a:p>
          <a:p>
            <a:pPr>
              <a:lnSpc>
                <a:spcPct val="122000"/>
              </a:lnSpc>
            </a:pPr>
            <a:r>
              <a:rPr sz="1250" b="0" i="0">
                <a:solidFill>
                  <a:srgbClr val="39424F"/>
                </a:solidFill>
                <a:latin typeface="Segoe UI"/>
              </a:rPr>
              <a:t>Cam kết Merkle chỉ khoá </a:t>
            </a:r>
            <a:r>
              <a:rPr sz="1250" b="1" i="0">
                <a:solidFill>
                  <a:srgbClr val="141821"/>
                </a:solidFill>
                <a:latin typeface="Segoe UI"/>
              </a:rPr>
              <a:t>dữ liệu</a:t>
            </a:r>
            <a:r>
              <a:rPr sz="1250" b="0" i="0">
                <a:solidFill>
                  <a:srgbClr val="39424F"/>
                </a:solidFill>
                <a:latin typeface="Segoe UI"/>
              </a:rPr>
              <a:t>, không nói dữ liệu có hợp lệ không. Bước audit kiểm reward do môi trường trả về đúng, và replay tự nhất quán. Hai việc khác nhau, nên hai hash khác nhau.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Rectangle 13"/>
          <p:cNvSpPr/>
          <p:nvPr/>
        </p:nvSpPr>
        <p:spPr>
          <a:xfrm>
            <a:off x="6400800" y="4438269"/>
            <a:ext cx="512064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4438269"/>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1 · DỮ LIỆU</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1 — Mẫu dữ liệu: trước và sau xử lý</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Transition đầu tiên của cartpole-expert-v2, lấy thẳng từ artifact đã commit.</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6</a:t>
            </a:r>
          </a:p>
        </p:txBody>
      </p:sp>
      <p:sp>
        <p:nvSpPr>
          <p:cNvPr id="7" name="TextBox 6"/>
          <p:cNvSpPr txBox="1"/>
          <p:nvPr/>
        </p:nvSpPr>
        <p:spPr>
          <a:xfrm>
            <a:off x="658368" y="1965960"/>
            <a:ext cx="5486400" cy="274320"/>
          </a:xfrm>
          <a:prstGeom prst="rect">
            <a:avLst/>
          </a:prstGeom>
          <a:noFill/>
        </p:spPr>
        <p:txBody>
          <a:bodyPr wrap="square" lIns="0" rIns="0" tIns="0" bIns="0">
            <a:spAutoFit/>
          </a:bodyPr>
          <a:lstStyle/>
          <a:p>
            <a:r>
              <a:rPr sz="1100" b="1" i="0">
                <a:solidFill>
                  <a:srgbClr val="6B7581"/>
                </a:solidFill>
                <a:latin typeface="Segoe UI"/>
              </a:rPr>
              <a:t>TRƯỚC — raw_episodes.jsonl (float32)</a:t>
            </a:r>
          </a:p>
        </p:txBody>
      </p:sp>
      <p:sp>
        <p:nvSpPr>
          <p:cNvPr id="8" name="Rectangle 7"/>
          <p:cNvSpPr/>
          <p:nvPr/>
        </p:nvSpPr>
        <p:spPr>
          <a:xfrm>
            <a:off x="658368" y="2240280"/>
            <a:ext cx="5486400" cy="2375535"/>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350008"/>
            <a:ext cx="5193792" cy="2156079"/>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state       : [ 0.0471041277050972,</a:t>
            </a:r>
          </a:p>
          <a:p>
            <a:pPr>
              <a:lnSpc>
                <a:spcPct val="134000"/>
              </a:lnSpc>
              <a:spcAft>
                <a:spcPts val="0"/>
              </a:spcAft>
            </a:pPr>
            <a:r>
              <a:rPr sz="1050" b="0" i="0">
                <a:solidFill>
                  <a:srgbClr val="39424F"/>
                </a:solidFill>
                <a:latin typeface="Consolas"/>
              </a:rPr>
              <a:t>                0.0104932747781276,</a:t>
            </a:r>
          </a:p>
          <a:p>
            <a:pPr>
              <a:lnSpc>
                <a:spcPct val="134000"/>
              </a:lnSpc>
              <a:spcAft>
                <a:spcPts val="0"/>
              </a:spcAft>
            </a:pPr>
            <a:r>
              <a:rPr sz="1050" b="0" i="0">
                <a:solidFill>
                  <a:srgbClr val="39424F"/>
                </a:solidFill>
                <a:latin typeface="Consolas"/>
              </a:rPr>
              <a:t>                0.0028976858593523,</a:t>
            </a:r>
          </a:p>
          <a:p>
            <a:pPr>
              <a:lnSpc>
                <a:spcPct val="134000"/>
              </a:lnSpc>
              <a:spcAft>
                <a:spcPts val="0"/>
              </a:spcAft>
            </a:pPr>
            <a:r>
              <a:rPr sz="1050" b="0" i="0">
                <a:solidFill>
                  <a:srgbClr val="39424F"/>
                </a:solidFill>
                <a:latin typeface="Consolas"/>
              </a:rPr>
              <a:t>               -0.0181245729327201 ]</a:t>
            </a:r>
          </a:p>
          <a:p>
            <a:pPr>
              <a:lnSpc>
                <a:spcPct val="134000"/>
              </a:lnSpc>
              <a:spcAft>
                <a:spcPts val="0"/>
              </a:spcAft>
            </a:pPr>
            <a:r>
              <a:rPr sz="1050" b="0" i="0">
                <a:solidFill>
                  <a:srgbClr val="39424F"/>
                </a:solidFill>
                <a:latin typeface="Consolas"/>
              </a:rPr>
              <a:t>action      : 1</a:t>
            </a:r>
          </a:p>
          <a:p>
            <a:pPr>
              <a:lnSpc>
                <a:spcPct val="134000"/>
              </a:lnSpc>
              <a:spcAft>
                <a:spcPts val="0"/>
              </a:spcAft>
            </a:pPr>
            <a:r>
              <a:rPr sz="1050" b="0" i="0">
                <a:solidFill>
                  <a:srgbClr val="39424F"/>
                </a:solidFill>
                <a:latin typeface="Consolas"/>
              </a:rPr>
              <a:t>reward      : 1.0</a:t>
            </a:r>
          </a:p>
          <a:p>
            <a:pPr>
              <a:lnSpc>
                <a:spcPct val="134000"/>
              </a:lnSpc>
              <a:spcAft>
                <a:spcPts val="0"/>
              </a:spcAft>
            </a:pPr>
            <a:r>
              <a:rPr sz="1050" b="0" i="0">
                <a:solidFill>
                  <a:srgbClr val="39424F"/>
                </a:solidFill>
                <a:latin typeface="Consolas"/>
              </a:rPr>
              <a:t>next_state  : [ 0.0473139919340610,</a:t>
            </a:r>
          </a:p>
          <a:p>
            <a:pPr>
              <a:lnSpc>
                <a:spcPct val="134000"/>
              </a:lnSpc>
              <a:spcAft>
                <a:spcPts val="0"/>
              </a:spcAft>
            </a:pPr>
            <a:r>
              <a:rPr sz="1050" b="0" i="0">
                <a:solidFill>
                  <a:srgbClr val="39424F"/>
                </a:solidFill>
                <a:latin typeface="Consolas"/>
              </a:rPr>
              <a:t>                0.2055735439062118,</a:t>
            </a:r>
          </a:p>
          <a:p>
            <a:pPr>
              <a:lnSpc>
                <a:spcPct val="134000"/>
              </a:lnSpc>
              <a:spcAft>
                <a:spcPts val="0"/>
              </a:spcAft>
            </a:pPr>
            <a:r>
              <a:rPr sz="1050" b="0" i="0">
                <a:solidFill>
                  <a:srgbClr val="39424F"/>
                </a:solidFill>
                <a:latin typeface="Consolas"/>
              </a:rPr>
              <a:t>                0.0025351943913847,</a:t>
            </a:r>
          </a:p>
          <a:p>
            <a:pPr>
              <a:lnSpc>
                <a:spcPct val="134000"/>
              </a:lnSpc>
              <a:spcAft>
                <a:spcPts val="0"/>
              </a:spcAft>
            </a:pPr>
            <a:r>
              <a:rPr sz="1050" b="0" i="0">
                <a:solidFill>
                  <a:srgbClr val="39424F"/>
                </a:solidFill>
                <a:latin typeface="Consolas"/>
              </a:rPr>
              <a:t>               -0.3098918497562408 ]</a:t>
            </a:r>
          </a:p>
          <a:p>
            <a:pPr>
              <a:lnSpc>
                <a:spcPct val="134000"/>
              </a:lnSpc>
              <a:spcAft>
                <a:spcPts val="0"/>
              </a:spcAft>
            </a:pPr>
            <a:r>
              <a:rPr sz="1050" b="0" i="0">
                <a:solidFill>
                  <a:srgbClr val="39424F"/>
                </a:solidFill>
                <a:latin typeface="Consolas"/>
              </a:rPr>
              <a:t>terminated  : false</a:t>
            </a:r>
          </a:p>
        </p:txBody>
      </p:sp>
      <p:sp>
        <p:nvSpPr>
          <p:cNvPr id="10" name="TextBox 9"/>
          <p:cNvSpPr txBox="1"/>
          <p:nvPr/>
        </p:nvSpPr>
        <p:spPr>
          <a:xfrm>
            <a:off x="6400800" y="1965960"/>
            <a:ext cx="5120640" cy="274320"/>
          </a:xfrm>
          <a:prstGeom prst="rect">
            <a:avLst/>
          </a:prstGeom>
          <a:noFill/>
        </p:spPr>
        <p:txBody>
          <a:bodyPr wrap="square" lIns="0" rIns="0" tIns="0" bIns="0">
            <a:spAutoFit/>
          </a:bodyPr>
          <a:lstStyle/>
          <a:p>
            <a:r>
              <a:rPr sz="1100" b="1" i="0">
                <a:solidFill>
                  <a:srgbClr val="17605B"/>
                </a:solidFill>
                <a:latin typeface="Segoe UI"/>
              </a:rPr>
              <a:t>SAU — lá fixed-point (số nguyên, FP_SCALE = 1000)</a:t>
            </a:r>
          </a:p>
        </p:txBody>
      </p:sp>
      <p:sp>
        <p:nvSpPr>
          <p:cNvPr id="11" name="Rectangle 10"/>
          <p:cNvSpPr/>
          <p:nvPr/>
        </p:nvSpPr>
        <p:spPr>
          <a:xfrm>
            <a:off x="6400800" y="2240280"/>
            <a:ext cx="5120640" cy="1996821"/>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4" y="2350008"/>
            <a:ext cx="4828032" cy="1777365"/>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leaf = [ 47, 10, 3, -18,      ← state × 1000</a:t>
            </a:r>
          </a:p>
          <a:p>
            <a:pPr>
              <a:lnSpc>
                <a:spcPct val="134000"/>
              </a:lnSpc>
              <a:spcAft>
                <a:spcPts val="0"/>
              </a:spcAft>
            </a:pPr>
            <a:r>
              <a:rPr sz="1050" b="0" i="0">
                <a:solidFill>
                  <a:srgbClr val="39424F"/>
                </a:solidFill>
                <a:latin typeface="Consolas"/>
              </a:rPr>
              <a:t>          1,                   ← action</a:t>
            </a:r>
          </a:p>
          <a:p>
            <a:pPr>
              <a:lnSpc>
                <a:spcPct val="134000"/>
              </a:lnSpc>
              <a:spcAft>
                <a:spcPts val="0"/>
              </a:spcAft>
            </a:pPr>
            <a:r>
              <a:rPr sz="1050" b="0" i="0">
                <a:solidFill>
                  <a:srgbClr val="39424F"/>
                </a:solidFill>
                <a:latin typeface="Consolas"/>
              </a:rPr>
              <a:t>       1000,                   ← reward × 1000</a:t>
            </a:r>
          </a:p>
          <a:p>
            <a:pPr>
              <a:lnSpc>
                <a:spcPct val="134000"/>
              </a:lnSpc>
              <a:spcAft>
                <a:spcPts val="0"/>
              </a:spcAft>
            </a:pPr>
            <a:r>
              <a:rPr sz="1050" b="0" i="0">
                <a:solidFill>
                  <a:srgbClr val="39424F"/>
                </a:solidFill>
                <a:latin typeface="Consolas"/>
              </a:rPr>
              <a:t>         47, 206, 3, -310,     ← next_state × 1000</a:t>
            </a:r>
          </a:p>
          <a:p>
            <a:pPr>
              <a:lnSpc>
                <a:spcPct val="134000"/>
              </a:lnSpc>
              <a:spcAft>
                <a:spcPts val="0"/>
              </a:spcAft>
            </a:pPr>
            <a:r>
              <a:rPr sz="1050" b="0" i="0">
                <a:solidFill>
                  <a:srgbClr val="39424F"/>
                </a:solidFill>
                <a:latin typeface="Consolas"/>
              </a:rPr>
              <a:t>          0 ]                  ← done</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leaf_hash = SHA256("47,10,3,-18,1,1000,</a:t>
            </a:r>
          </a:p>
          <a:p>
            <a:pPr>
              <a:lnSpc>
                <a:spcPct val="134000"/>
              </a:lnSpc>
              <a:spcAft>
                <a:spcPts val="0"/>
              </a:spcAft>
            </a:pPr>
            <a:r>
              <a:rPr sz="1050" b="0" i="0">
                <a:solidFill>
                  <a:srgbClr val="39424F"/>
                </a:solidFill>
                <a:latin typeface="Consolas"/>
              </a:rPr>
              <a:t>                    47,206,3,-310,0")</a:t>
            </a:r>
          </a:p>
          <a:p>
            <a:pPr>
              <a:lnSpc>
                <a:spcPct val="134000"/>
              </a:lnSpc>
              <a:spcAft>
                <a:spcPts val="0"/>
              </a:spcAft>
            </a:pPr>
            <a:r>
              <a:rPr sz="1050" b="0" i="0">
                <a:solidFill>
                  <a:srgbClr val="39424F"/>
                </a:solidFill>
                <a:latin typeface="Consolas"/>
              </a:rPr>
              <a:t>          = 7d5e2a23cbbce1905c37b33ddbf9a7d6…</a:t>
            </a:r>
          </a:p>
        </p:txBody>
      </p:sp>
      <p:sp>
        <p:nvSpPr>
          <p:cNvPr id="13" name="TextBox 12"/>
          <p:cNvSpPr txBox="1"/>
          <p:nvPr/>
        </p:nvSpPr>
        <p:spPr>
          <a:xfrm>
            <a:off x="6620256" y="4566285"/>
            <a:ext cx="471830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ĐÃ ĐỐI CHIẾU</a:t>
            </a:r>
          </a:p>
          <a:p>
            <a:pPr>
              <a:lnSpc>
                <a:spcPct val="122000"/>
              </a:lnSpc>
            </a:pPr>
            <a:r>
              <a:rPr sz="1250" b="0" i="0">
                <a:solidFill>
                  <a:srgbClr val="39424F"/>
                </a:solidFill>
                <a:latin typeface="Segoe UI"/>
              </a:rPr>
              <a:t>Giá trị này </a:t>
            </a:r>
            <a:r>
              <a:rPr sz="1250" b="1" i="0">
                <a:solidFill>
                  <a:srgbClr val="141821"/>
                </a:solidFill>
                <a:latin typeface="Segoe UI"/>
              </a:rPr>
              <a:t>khớp đúng</a:t>
            </a:r>
            <a:r>
              <a:rPr sz="1250" b="0" i="0">
                <a:solidFill>
                  <a:srgbClr val="39424F"/>
                </a:solidFill>
                <a:latin typeface="Segoe UI"/>
              </a:rPr>
              <a:t> leaf_hashes[0] trong merkle_tree.json đã commit. Script sinh slide tự kiểm lại, nên slide không trôi khỏi repo được.</a:t>
            </a:r>
          </a:p>
        </p:txBody>
      </p:sp>
      <p:sp>
        <p:nvSpPr>
          <p:cNvPr id="16" name="TextBox 15"/>
          <p:cNvSpPr txBox="1"/>
          <p:nvPr/>
        </p:nvSpPr>
        <p:spPr>
          <a:xfrm>
            <a:off x="658368" y="4709160"/>
            <a:ext cx="5486400" cy="365760"/>
          </a:xfrm>
          <a:prstGeom prst="rect">
            <a:avLst/>
          </a:prstGeom>
          <a:noFill/>
        </p:spPr>
        <p:txBody>
          <a:bodyPr wrap="square" lIns="0" rIns="0" tIns="0" bIns="0">
            <a:spAutoFit/>
          </a:bodyPr>
          <a:lstStyle/>
          <a:p>
            <a:pPr>
              <a:lnSpc>
                <a:spcPct val="122000"/>
              </a:lnSpc>
              <a:spcAft>
                <a:spcPts val="700"/>
              </a:spcAft>
            </a:pPr>
            <a:r>
              <a:rPr sz="1200" b="1" i="0">
                <a:solidFill>
                  <a:srgbClr val="17605B"/>
                </a:solidFill>
                <a:latin typeface="Segoe UI"/>
              </a:rPr>
              <a:t>—  </a:t>
            </a:r>
            <a:r>
              <a:rPr sz="1200" b="1" i="0">
                <a:solidFill>
                  <a:srgbClr val="141821"/>
                </a:solidFill>
                <a:latin typeface="Segoe UI"/>
              </a:rPr>
              <a:t>Vì sao phải đổi sang số nguyên:</a:t>
            </a:r>
            <a:r>
              <a:rPr sz="1200" b="0" i="0">
                <a:solidFill>
                  <a:srgbClr val="39424F"/>
                </a:solidFill>
                <a:latin typeface="Segoe UI"/>
              </a:rPr>
              <a:t> hệ chứng minh làm việc trên trường hữu hạn. Số thực dấu phẩy động không tất định giữa các CPU và trình biên dịch — không có ngữ nghĩa xác định để mà chứng minh.</a:t>
            </a:r>
          </a:p>
          <a:p>
            <a:pPr>
              <a:lnSpc>
                <a:spcPct val="122000"/>
              </a:lnSpc>
              <a:spcAft>
                <a:spcPts val="700"/>
              </a:spcAft>
            </a:pPr>
            <a:r>
              <a:rPr sz="1200" b="1" i="0">
                <a:solidFill>
                  <a:srgbClr val="17605B"/>
                </a:solidFill>
                <a:latin typeface="Segoe UI"/>
              </a:rPr>
              <a:t>—  </a:t>
            </a:r>
            <a:r>
              <a:rPr sz="1200" b="1" i="0">
                <a:solidFill>
                  <a:srgbClr val="141821"/>
                </a:solidFill>
                <a:latin typeface="Segoe UI"/>
              </a:rPr>
              <a:t>Cái giá:</a:t>
            </a:r>
            <a:r>
              <a:rPr sz="1200" b="0" i="0">
                <a:solidFill>
                  <a:srgbClr val="39424F"/>
                </a:solidFill>
                <a:latin typeface="Segoe UI"/>
              </a:rPr>
              <a:t> learning rate mặc định của Adam, 3×10⁻⁴, mã hoá thành </a:t>
            </a:r>
            <a:r>
              <a:rPr sz="1200" b="1" i="0">
                <a:solidFill>
                  <a:srgbClr val="141821"/>
                </a:solidFill>
                <a:latin typeface="Segoe UI"/>
              </a:rPr>
              <a:t>0</a:t>
            </a:r>
            <a:r>
              <a:rPr sz="1200" b="0" i="0">
                <a:solidFill>
                  <a:srgbClr val="39424F"/>
                </a:solidFill>
                <a:latin typeface="Segoe UI"/>
              </a:rPr>
              <a:t>. Ở thang này Adam không tồn tại ở tham số mặc định của chính nó.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537960" y="5495544"/>
            <a:ext cx="4983480" cy="1271268"/>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37960" y="5495544"/>
            <a:ext cx="38100" cy="127126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1 · DỮ LIỆU</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1 — Cam kết Merkle: 50.261 dòng thành 32 byte</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7</a:t>
            </a:r>
          </a:p>
        </p:txBody>
      </p:sp>
      <p:sp>
        <p:nvSpPr>
          <p:cNvPr id="6" name="Rectangle 5"/>
          <p:cNvSpPr/>
          <p:nvPr/>
        </p:nvSpPr>
        <p:spPr>
          <a:xfrm>
            <a:off x="658368" y="1965960"/>
            <a:ext cx="5577840" cy="2943606"/>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75688"/>
            <a:ext cx="5285232" cy="2724150"/>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                     dataset_root          ← chỉ công bố giá trị này</a:t>
            </a:r>
          </a:p>
          <a:p>
            <a:pPr>
              <a:lnSpc>
                <a:spcPct val="134000"/>
              </a:lnSpc>
              <a:spcAft>
                <a:spcPts val="0"/>
              </a:spcAft>
            </a:pPr>
            <a:r>
              <a:rPr sz="1050" b="0" i="0">
                <a:solidFill>
                  <a:srgbClr val="39424F"/>
                </a:solidFill>
                <a:latin typeface="Consolas"/>
              </a:rPr>
              <a:t>                   /              \</a:t>
            </a:r>
          </a:p>
          <a:p>
            <a:pPr>
              <a:lnSpc>
                <a:spcPct val="134000"/>
              </a:lnSpc>
              <a:spcAft>
                <a:spcPts val="0"/>
              </a:spcAft>
            </a:pPr>
            <a:r>
              <a:rPr sz="1050" b="0" i="0">
                <a:solidFill>
                  <a:srgbClr val="39424F"/>
                </a:solidFill>
                <a:latin typeface="Consolas"/>
              </a:rPr>
              <a:t>             h(1,2)                h(3,4)</a:t>
            </a:r>
          </a:p>
          <a:p>
            <a:pPr>
              <a:lnSpc>
                <a:spcPct val="134000"/>
              </a:lnSpc>
              <a:spcAft>
                <a:spcPts val="0"/>
              </a:spcAft>
            </a:pPr>
            <a:r>
              <a:rPr sz="1050" b="0" i="0">
                <a:solidFill>
                  <a:srgbClr val="39424F"/>
                </a:solidFill>
                <a:latin typeface="Consolas"/>
              </a:rPr>
              <a:t>             /    \                /    \</a:t>
            </a:r>
          </a:p>
          <a:p>
            <a:pPr>
              <a:lnSpc>
                <a:spcPct val="134000"/>
              </a:lnSpc>
              <a:spcAft>
                <a:spcPts val="0"/>
              </a:spcAft>
            </a:pPr>
            <a:r>
              <a:rPr sz="1050" b="0" i="0">
                <a:solidFill>
                  <a:srgbClr val="39424F"/>
                </a:solidFill>
                <a:latin typeface="Consolas"/>
              </a:rPr>
              <a:t>          lá1    lá2            lá3    lá4</a:t>
            </a:r>
          </a:p>
          <a:p>
            <a:pPr>
              <a:lnSpc>
                <a:spcPct val="134000"/>
              </a:lnSpc>
              <a:spcAft>
                <a:spcPts val="0"/>
              </a:spcAft>
            </a:pPr>
            <a:r>
              <a:rPr sz="1050" b="0" i="0">
                <a:solidFill>
                  <a:srgbClr val="39424F"/>
                </a:solidFill>
                <a:latin typeface="Consolas"/>
              </a:rPr>
              <a:t>           |       |              |       |</a:t>
            </a:r>
          </a:p>
          <a:p>
            <a:pPr>
              <a:lnSpc>
                <a:spcPct val="134000"/>
              </a:lnSpc>
              <a:spcAft>
                <a:spcPts val="0"/>
              </a:spcAft>
            </a:pPr>
            <a:r>
              <a:rPr sz="1050" b="0" i="0">
                <a:solidFill>
                  <a:srgbClr val="39424F"/>
                </a:solidFill>
                <a:latin typeface="Consolas"/>
              </a:rPr>
              <a:t>        dòng1   dòng2          dòng3   dòng4</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cartpole-expert-v2:</a:t>
            </a:r>
          </a:p>
          <a:p>
            <a:pPr>
              <a:lnSpc>
                <a:spcPct val="134000"/>
              </a:lnSpc>
              <a:spcAft>
                <a:spcPts val="0"/>
              </a:spcAft>
            </a:pPr>
            <a:r>
              <a:rPr sz="1050" b="0" i="0">
                <a:solidFill>
                  <a:srgbClr val="39424F"/>
                </a:solidFill>
                <a:latin typeface="Consolas"/>
              </a:rPr>
              <a:t>  num_leaves      50.261</a:t>
            </a:r>
          </a:p>
          <a:p>
            <a:pPr>
              <a:lnSpc>
                <a:spcPct val="134000"/>
              </a:lnSpc>
              <a:spcAft>
                <a:spcPts val="0"/>
              </a:spcAft>
            </a:pPr>
            <a:r>
              <a:rPr sz="1050" b="0" i="0">
                <a:solidFill>
                  <a:srgbClr val="39424F"/>
                </a:solidFill>
                <a:latin typeface="Consolas"/>
              </a:rPr>
              <a:t>  levels          50261 → 25131 → 12566 → 6283 → 3142 → … → 1</a:t>
            </a:r>
          </a:p>
          <a:p>
            <a:pPr>
              <a:lnSpc>
                <a:spcPct val="134000"/>
              </a:lnSpc>
              <a:spcAft>
                <a:spcPts val="0"/>
              </a:spcAft>
            </a:pPr>
            <a:r>
              <a:rPr sz="1050" b="0" i="0">
                <a:solidFill>
                  <a:srgbClr val="39424F"/>
                </a:solidFill>
                <a:latin typeface="Consolas"/>
              </a:rPr>
              <a:t>  số tầng         17</a:t>
            </a:r>
          </a:p>
          <a:p>
            <a:pPr>
              <a:lnSpc>
                <a:spcPct val="134000"/>
              </a:lnSpc>
              <a:spcAft>
                <a:spcPts val="0"/>
              </a:spcAft>
            </a:pPr>
            <a:r>
              <a:rPr sz="1050" b="0" i="0">
                <a:solidFill>
                  <a:srgbClr val="39424F"/>
                </a:solidFill>
                <a:latin typeface="Consolas"/>
              </a:rPr>
              <a:t>  leaf_hash_rule  sha256(fixed_point_transition_leaf)</a:t>
            </a:r>
          </a:p>
          <a:p>
            <a:pPr>
              <a:lnSpc>
                <a:spcPct val="134000"/>
              </a:lnSpc>
              <a:spcAft>
                <a:spcPts val="0"/>
              </a:spcAft>
            </a:pPr>
            <a:r>
              <a:rPr sz="1050" b="0" i="0">
                <a:solidFill>
                  <a:srgbClr val="39424F"/>
                </a:solidFill>
                <a:latin typeface="Consolas"/>
              </a:rPr>
              <a:t>  dataset_root    02de61a980455ea1e894e5ec77a7948f…</a:t>
            </a:r>
          </a:p>
        </p:txBody>
      </p:sp>
      <p:sp>
        <p:nvSpPr>
          <p:cNvPr id="8" name="TextBox 7"/>
          <p:cNvSpPr txBox="1"/>
          <p:nvPr/>
        </p:nvSpPr>
        <p:spPr>
          <a:xfrm>
            <a:off x="6537960" y="1965960"/>
            <a:ext cx="4983480" cy="365760"/>
          </a:xfrm>
          <a:prstGeom prst="rect">
            <a:avLst/>
          </a:prstGeom>
          <a:noFill/>
        </p:spPr>
        <p:txBody>
          <a:bodyPr wrap="square" lIns="0" rIns="0" tIns="0" bIns="0">
            <a:spAutoFit/>
          </a:bodyPr>
          <a:lstStyle/>
          <a:p>
            <a:pPr>
              <a:lnSpc>
                <a:spcPct val="122000"/>
              </a:lnSpc>
              <a:spcAft>
                <a:spcPts val="700"/>
              </a:spcAft>
            </a:pPr>
            <a:r>
              <a:rPr sz="1250" b="1" i="0">
                <a:solidFill>
                  <a:srgbClr val="17605B"/>
                </a:solidFill>
                <a:latin typeface="Segoe UI"/>
              </a:rPr>
              <a:t>—  </a:t>
            </a:r>
            <a:r>
              <a:rPr sz="1250" b="0" i="0">
                <a:solidFill>
                  <a:srgbClr val="39424F"/>
                </a:solidFill>
                <a:latin typeface="Segoe UI"/>
              </a:rPr>
              <a:t>Sửa </a:t>
            </a:r>
            <a:r>
              <a:rPr sz="1250" b="1" i="0">
                <a:solidFill>
                  <a:srgbClr val="141821"/>
                </a:solidFill>
                <a:latin typeface="Segoe UI"/>
              </a:rPr>
              <a:t>bất kỳ</a:t>
            </a:r>
            <a:r>
              <a:rPr sz="1250" b="0" i="0">
                <a:solidFill>
                  <a:srgbClr val="39424F"/>
                </a:solidFill>
                <a:latin typeface="Segoe UI"/>
              </a:rPr>
              <a:t> dòng nào cũng làm đổi root. Công bố root trước là tự trói mình vào đúng tập dữ liệu đó.</a:t>
            </a:r>
          </a:p>
          <a:p>
            <a:pPr>
              <a:lnSpc>
                <a:spcPct val="122000"/>
              </a:lnSpc>
              <a:spcAft>
                <a:spcPts val="700"/>
              </a:spcAft>
            </a:pPr>
            <a:r>
              <a:rPr sz="1250" b="1" i="0">
                <a:solidFill>
                  <a:srgbClr val="17605B"/>
                </a:solidFill>
                <a:latin typeface="Segoe UI"/>
              </a:rPr>
              <a:t>—  </a:t>
            </a:r>
            <a:r>
              <a:rPr sz="1250" b="0" i="0">
                <a:solidFill>
                  <a:srgbClr val="39424F"/>
                </a:solidFill>
                <a:latin typeface="Segoe UI"/>
              </a:rPr>
              <a:t>Chứng minh một dòng thuộc tập chỉ cần </a:t>
            </a:r>
            <a:r>
              <a:rPr sz="1250" b="1" i="0">
                <a:solidFill>
                  <a:srgbClr val="141821"/>
                </a:solidFill>
                <a:latin typeface="Segoe UI"/>
              </a:rPr>
              <a:t>log₂(n) hash</a:t>
            </a:r>
            <a:r>
              <a:rPr sz="1250" b="0" i="0">
                <a:solidFill>
                  <a:srgbClr val="39424F"/>
                </a:solidFill>
                <a:latin typeface="Segoe UI"/>
              </a:rPr>
              <a:t> — 100.000 dòng cần 17 hash — chứ không phải đưa cả tập.</a:t>
            </a:r>
          </a:p>
          <a:p>
            <a:pPr>
              <a:lnSpc>
                <a:spcPct val="122000"/>
              </a:lnSpc>
              <a:spcAft>
                <a:spcPts val="700"/>
              </a:spcAft>
            </a:pPr>
            <a:r>
              <a:rPr sz="1250" b="1" i="0">
                <a:solidFill>
                  <a:srgbClr val="17605B"/>
                </a:solidFill>
                <a:latin typeface="Segoe UI"/>
              </a:rPr>
              <a:t>—  </a:t>
            </a:r>
            <a:r>
              <a:rPr sz="1250" b="0" i="0">
                <a:solidFill>
                  <a:srgbClr val="39424F"/>
                </a:solidFill>
                <a:latin typeface="Segoe UI"/>
              </a:rPr>
              <a:t>Lá lẻ thì </a:t>
            </a:r>
            <a:r>
              <a:rPr sz="1250" b="1" i="0">
                <a:solidFill>
                  <a:srgbClr val="141821"/>
                </a:solidFill>
                <a:latin typeface="Segoe UI"/>
              </a:rPr>
              <a:t>nhân đôi lá cuối</a:t>
            </a:r>
            <a:r>
              <a:rPr sz="1250" b="0" i="0">
                <a:solidFill>
                  <a:srgbClr val="39424F"/>
                </a:solidFill>
                <a:latin typeface="Segoe UI"/>
              </a:rPr>
              <a:t> (kiểu Bitcoin) để ghép đủ đôi.</a:t>
            </a:r>
          </a:p>
        </p:txBody>
      </p:sp>
      <p:graphicFrame>
        <p:nvGraphicFramePr>
          <p:cNvPr id="9" name="Table 8"/>
          <p:cNvGraphicFramePr>
            <a:graphicFrameLocks noGrp="1"/>
          </p:cNvGraphicFramePr>
          <p:nvPr/>
        </p:nvGraphicFramePr>
        <p:xfrm>
          <a:off x="6537960" y="3794760"/>
          <a:ext cx="4983480" cy="1463040"/>
        </p:xfrm>
        <a:graphic>
          <a:graphicData uri="http://schemas.openxmlformats.org/drawingml/2006/table">
            <a:tbl>
              <a:tblPr bandRow="1">
                <a:tableStyleId>{5C22544A-7EE6-4342-B048-85BDC9FD1C3A}</a:tableStyleId>
              </a:tblPr>
              <a:tblGrid>
                <a:gridCol w="1245870"/>
                <a:gridCol w="830580"/>
                <a:gridCol w="1661160"/>
                <a:gridCol w="1245870"/>
              </a:tblGrid>
              <a:tr h="292608">
                <a:tc>
                  <a:txBody>
                    <a:bodyPr/>
                    <a:lstStyle/>
                    <a:p>
                      <a:pPr algn="r"/>
                      <a:r>
                        <a:rPr sz="950" b="1" i="0">
                          <a:solidFill>
                            <a:srgbClr val="6B7581"/>
                          </a:solidFill>
                          <a:latin typeface="Segoe UI"/>
                        </a:rPr>
                        <a:t>SỐ LÁ</a:t>
                      </a:r>
                    </a:p>
                  </a:txBody>
                  <a:tcPr marL="64008" marR="64008" marT="27432" marB="27432" anchor="ctr">
                    <a:solidFill>
                      <a:srgbClr val="FFFFFF"/>
                    </a:solidFill>
                  </a:tcPr>
                </a:tc>
                <a:tc>
                  <a:txBody>
                    <a:bodyPr/>
                    <a:lstStyle/>
                    <a:p>
                      <a:pPr algn="r"/>
                      <a:r>
                        <a:rPr sz="950" b="1" i="0">
                          <a:solidFill>
                            <a:srgbClr val="6B7581"/>
                          </a:solidFill>
                          <a:latin typeface="Segoe UI"/>
                        </a:rPr>
                        <a:t>ĐỘ SÂU</a:t>
                      </a:r>
                    </a:p>
                  </a:txBody>
                  <a:tcPr marL="64008" marR="64008" marT="27432" marB="27432" anchor="ctr">
                    <a:solidFill>
                      <a:srgbClr val="FFFFFF"/>
                    </a:solidFill>
                  </a:tcPr>
                </a:tc>
                <a:tc>
                  <a:txBody>
                    <a:bodyPr/>
                    <a:lstStyle/>
                    <a:p>
                      <a:pPr algn="r"/>
                      <a:r>
                        <a:rPr sz="950" b="1" i="0">
                          <a:solidFill>
                            <a:srgbClr val="6B7581"/>
                          </a:solidFill>
                          <a:latin typeface="Segoe UI"/>
                        </a:rPr>
                        <a:t>CYCLES</a:t>
                      </a:r>
                    </a:p>
                  </a:txBody>
                  <a:tcPr marL="64008" marR="64008" marT="27432" marB="27432" anchor="ctr">
                    <a:solidFill>
                      <a:srgbClr val="FFFFFF"/>
                    </a:solidFill>
                  </a:tcPr>
                </a:tc>
                <a:tc>
                  <a:txBody>
                    <a:bodyPr/>
                    <a:lstStyle/>
                    <a:p>
                      <a:pPr algn="r"/>
                      <a:r>
                        <a:rPr sz="950" b="1" i="0">
                          <a:solidFill>
                            <a:srgbClr val="6B7581"/>
                          </a:solidFill>
                          <a:latin typeface="Segoe UI"/>
                        </a:rPr>
                        <a:t>MỖI TẦNG</a:t>
                      </a:r>
                    </a:p>
                  </a:txBody>
                  <a:tcPr marL="64008" marR="64008" marT="27432" marB="27432" anchor="ctr">
                    <a:solidFill>
                      <a:srgbClr val="FFFFFF"/>
                    </a:solidFill>
                  </a:tcPr>
                </a:tc>
              </a:tr>
              <a:tr h="292608">
                <a:tc>
                  <a:txBody>
                    <a:bodyPr/>
                    <a:lstStyle/>
                    <a:p>
                      <a:pPr algn="r"/>
                      <a:r>
                        <a:rPr sz="1100" b="0" i="0">
                          <a:solidFill>
                            <a:srgbClr val="39424F"/>
                          </a:solidFill>
                          <a:latin typeface="Consolas"/>
                        </a:rPr>
                        <a:t>1.000</a:t>
                      </a:r>
                    </a:p>
                  </a:txBody>
                  <a:tcPr marL="64008" marR="64008" marT="27432" marB="27432" anchor="ctr">
                    <a:solidFill>
                      <a:srgbClr val="FFFFFF"/>
                    </a:solidFill>
                  </a:tcPr>
                </a:tc>
                <a:tc>
                  <a:txBody>
                    <a:bodyPr/>
                    <a:lstStyle/>
                    <a:p>
                      <a:pPr algn="r"/>
                      <a:r>
                        <a:rPr sz="1100" b="0" i="0">
                          <a:solidFill>
                            <a:srgbClr val="39424F"/>
                          </a:solidFill>
                          <a:latin typeface="Consolas"/>
                        </a:rPr>
                        <a:t>10</a:t>
                      </a:r>
                    </a:p>
                  </a:txBody>
                  <a:tcPr marL="64008" marR="64008" marT="27432" marB="27432" anchor="ctr">
                    <a:solidFill>
                      <a:srgbClr val="FFFFFF"/>
                    </a:solidFill>
                  </a:tcPr>
                </a:tc>
                <a:tc>
                  <a:txBody>
                    <a:bodyPr/>
                    <a:lstStyle/>
                    <a:p>
                      <a:pPr algn="r"/>
                      <a:r>
                        <a:rPr sz="1100" b="0" i="0">
                          <a:solidFill>
                            <a:srgbClr val="39424F"/>
                          </a:solidFill>
                          <a:latin typeface="Consolas"/>
                        </a:rPr>
                        <a:t>357.965</a:t>
                      </a:r>
                    </a:p>
                  </a:txBody>
                  <a:tcPr marL="64008" marR="64008" marT="27432" marB="27432" anchor="ctr">
                    <a:solidFill>
                      <a:srgbClr val="FFFFFF"/>
                    </a:solidFill>
                  </a:tcPr>
                </a:tc>
                <a:tc>
                  <a:txBody>
                    <a:bodyPr/>
                    <a:lstStyle/>
                    <a:p>
                      <a:pPr algn="r"/>
                      <a:r>
                        <a:rPr sz="1100" b="0" i="0">
                          <a:solidFill>
                            <a:srgbClr val="39424F"/>
                          </a:solidFill>
                          <a:latin typeface="Consolas"/>
                        </a:rPr>
                        <a:t>—</a:t>
                      </a:r>
                    </a:p>
                  </a:txBody>
                  <a:tcPr marL="64008" marR="64008" marT="27432" marB="27432" anchor="ctr">
                    <a:solidFill>
                      <a:srgbClr val="FFFFFF"/>
                    </a:solidFill>
                  </a:tcPr>
                </a:tc>
              </a:tr>
              <a:tr h="292608">
                <a:tc>
                  <a:txBody>
                    <a:bodyPr/>
                    <a:lstStyle/>
                    <a:p>
                      <a:pPr algn="r"/>
                      <a:r>
                        <a:rPr sz="1100" b="0" i="0">
                          <a:solidFill>
                            <a:srgbClr val="39424F"/>
                          </a:solidFill>
                          <a:latin typeface="Consolas"/>
                        </a:rPr>
                        <a:t>10.000</a:t>
                      </a:r>
                    </a:p>
                  </a:txBody>
                  <a:tcPr marL="64008" marR="64008" marT="27432" marB="27432" anchor="ctr">
                    <a:solidFill>
                      <a:srgbClr val="FFFFFF"/>
                    </a:solidFill>
                  </a:tcPr>
                </a:tc>
                <a:tc>
                  <a:txBody>
                    <a:bodyPr/>
                    <a:lstStyle/>
                    <a:p>
                      <a:pPr algn="r"/>
                      <a:r>
                        <a:rPr sz="1100" b="0" i="0">
                          <a:solidFill>
                            <a:srgbClr val="39424F"/>
                          </a:solidFill>
                          <a:latin typeface="Consolas"/>
                        </a:rPr>
                        <a:t>14</a:t>
                      </a:r>
                    </a:p>
                  </a:txBody>
                  <a:tcPr marL="64008" marR="64008" marT="27432" marB="27432" anchor="ctr">
                    <a:solidFill>
                      <a:srgbClr val="FFFFFF"/>
                    </a:solidFill>
                  </a:tcPr>
                </a:tc>
                <a:tc>
                  <a:txBody>
                    <a:bodyPr/>
                    <a:lstStyle/>
                    <a:p>
                      <a:pPr algn="r"/>
                      <a:r>
                        <a:rPr sz="1100" b="0" i="0">
                          <a:solidFill>
                            <a:srgbClr val="39424F"/>
                          </a:solidFill>
                          <a:latin typeface="Consolas"/>
                        </a:rPr>
                        <a:t>470.318</a:t>
                      </a:r>
                    </a:p>
                  </a:txBody>
                  <a:tcPr marL="64008" marR="64008" marT="27432" marB="27432" anchor="ctr">
                    <a:solidFill>
                      <a:srgbClr val="FFFFFF"/>
                    </a:solidFill>
                  </a:tcPr>
                </a:tc>
                <a:tc>
                  <a:txBody>
                    <a:bodyPr/>
                    <a:lstStyle/>
                    <a:p>
                      <a:pPr algn="r"/>
                      <a:r>
                        <a:rPr sz="1100" b="0" i="0">
                          <a:solidFill>
                            <a:srgbClr val="39424F"/>
                          </a:solidFill>
                          <a:latin typeface="Consolas"/>
                        </a:rPr>
                        <a:t>+28.088</a:t>
                      </a:r>
                    </a:p>
                  </a:txBody>
                  <a:tcPr marL="64008" marR="64008" marT="27432" marB="27432" anchor="ctr">
                    <a:solidFill>
                      <a:srgbClr val="FFFFFF"/>
                    </a:solidFill>
                  </a:tcPr>
                </a:tc>
              </a:tr>
              <a:tr h="292608">
                <a:tc>
                  <a:txBody>
                    <a:bodyPr/>
                    <a:lstStyle/>
                    <a:p>
                      <a:pPr algn="r"/>
                      <a:r>
                        <a:rPr sz="1100" b="0" i="0">
                          <a:solidFill>
                            <a:srgbClr val="39424F"/>
                          </a:solidFill>
                          <a:latin typeface="Consolas"/>
                        </a:rPr>
                        <a:t>50.000</a:t>
                      </a:r>
                    </a:p>
                  </a:txBody>
                  <a:tcPr marL="64008" marR="64008" marT="27432" marB="27432" anchor="ctr">
                    <a:solidFill>
                      <a:srgbClr val="FFFFFF"/>
                    </a:solidFill>
                  </a:tcPr>
                </a:tc>
                <a:tc>
                  <a:txBody>
                    <a:bodyPr/>
                    <a:lstStyle/>
                    <a:p>
                      <a:pPr algn="r"/>
                      <a:r>
                        <a:rPr sz="1100" b="0" i="0">
                          <a:solidFill>
                            <a:srgbClr val="39424F"/>
                          </a:solidFill>
                          <a:latin typeface="Consolas"/>
                        </a:rPr>
                        <a:t>16</a:t>
                      </a:r>
                    </a:p>
                  </a:txBody>
                  <a:tcPr marL="64008" marR="64008" marT="27432" marB="27432" anchor="ctr">
                    <a:solidFill>
                      <a:srgbClr val="FFFFFF"/>
                    </a:solidFill>
                  </a:tcPr>
                </a:tc>
                <a:tc>
                  <a:txBody>
                    <a:bodyPr/>
                    <a:lstStyle/>
                    <a:p>
                      <a:pPr algn="r"/>
                      <a:r>
                        <a:rPr sz="1100" b="0" i="0">
                          <a:solidFill>
                            <a:srgbClr val="39424F"/>
                          </a:solidFill>
                          <a:latin typeface="Consolas"/>
                        </a:rPr>
                        <a:t>526.578</a:t>
                      </a:r>
                    </a:p>
                  </a:txBody>
                  <a:tcPr marL="64008" marR="64008" marT="27432" marB="27432" anchor="ctr">
                    <a:solidFill>
                      <a:srgbClr val="FFFFFF"/>
                    </a:solidFill>
                  </a:tcPr>
                </a:tc>
                <a:tc>
                  <a:txBody>
                    <a:bodyPr/>
                    <a:lstStyle/>
                    <a:p>
                      <a:pPr algn="r"/>
                      <a:r>
                        <a:rPr sz="1100" b="0" i="0">
                          <a:solidFill>
                            <a:srgbClr val="39424F"/>
                          </a:solidFill>
                          <a:latin typeface="Consolas"/>
                        </a:rPr>
                        <a:t>+28.130</a:t>
                      </a:r>
                    </a:p>
                  </a:txBody>
                  <a:tcPr marL="64008" marR="64008" marT="27432" marB="27432" anchor="ctr">
                    <a:solidFill>
                      <a:srgbClr val="FFFFFF"/>
                    </a:solidFill>
                  </a:tcPr>
                </a:tc>
              </a:tr>
              <a:tr h="292608">
                <a:tc>
                  <a:txBody>
                    <a:bodyPr/>
                    <a:lstStyle/>
                    <a:p>
                      <a:pPr algn="r"/>
                      <a:r>
                        <a:rPr sz="1100" b="0" i="0">
                          <a:solidFill>
                            <a:srgbClr val="39424F"/>
                          </a:solidFill>
                          <a:latin typeface="Consolas"/>
                        </a:rPr>
                        <a:t>100.000</a:t>
                      </a:r>
                    </a:p>
                  </a:txBody>
                  <a:tcPr marL="64008" marR="64008" marT="27432" marB="27432" anchor="ctr">
                    <a:solidFill>
                      <a:srgbClr val="FFFFFF"/>
                    </a:solidFill>
                  </a:tcPr>
                </a:tc>
                <a:tc>
                  <a:txBody>
                    <a:bodyPr/>
                    <a:lstStyle/>
                    <a:p>
                      <a:pPr algn="r"/>
                      <a:r>
                        <a:rPr sz="1100" b="0" i="0">
                          <a:solidFill>
                            <a:srgbClr val="39424F"/>
                          </a:solidFill>
                          <a:latin typeface="Consolas"/>
                        </a:rPr>
                        <a:t>17</a:t>
                      </a:r>
                    </a:p>
                  </a:txBody>
                  <a:tcPr marL="64008" marR="64008" marT="27432" marB="27432" anchor="ctr">
                    <a:solidFill>
                      <a:srgbClr val="FFFFFF"/>
                    </a:solidFill>
                  </a:tcPr>
                </a:tc>
                <a:tc>
                  <a:txBody>
                    <a:bodyPr/>
                    <a:lstStyle/>
                    <a:p>
                      <a:pPr algn="r"/>
                      <a:r>
                        <a:rPr sz="1100" b="0" i="0">
                          <a:solidFill>
                            <a:srgbClr val="39424F"/>
                          </a:solidFill>
                          <a:latin typeface="Consolas"/>
                        </a:rPr>
                        <a:t>554.100</a:t>
                      </a:r>
                    </a:p>
                  </a:txBody>
                  <a:tcPr marL="64008" marR="64008" marT="27432" marB="27432" anchor="ctr">
                    <a:solidFill>
                      <a:srgbClr val="FFFFFF"/>
                    </a:solidFill>
                  </a:tcPr>
                </a:tc>
                <a:tc>
                  <a:txBody>
                    <a:bodyPr/>
                    <a:lstStyle/>
                    <a:p>
                      <a:pPr algn="r"/>
                      <a:r>
                        <a:rPr sz="1100" b="0" i="0">
                          <a:solidFill>
                            <a:srgbClr val="39424F"/>
                          </a:solidFill>
                          <a:latin typeface="Consolas"/>
                        </a:rPr>
                        <a:t>+27.522</a:t>
                      </a:r>
                    </a:p>
                  </a:txBody>
                  <a:tcPr marL="64008" marR="64008" marT="27432" marB="27432" anchor="ctr">
                    <a:solidFill>
                      <a:srgbClr val="FFFFFF"/>
                    </a:solidFill>
                  </a:tcPr>
                </a:tc>
              </a:tr>
            </a:tbl>
          </a:graphicData>
        </a:graphic>
      </p:graphicFrame>
      <p:sp>
        <p:nvSpPr>
          <p:cNvPr id="10" name="TextBox 9"/>
          <p:cNvSpPr txBox="1"/>
          <p:nvPr/>
        </p:nvSpPr>
        <p:spPr>
          <a:xfrm>
            <a:off x="6757416" y="5623560"/>
            <a:ext cx="458114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MERKLE CHỨ KHÔNG PHẢI KZG</a:t>
            </a:r>
          </a:p>
          <a:p>
            <a:pPr>
              <a:lnSpc>
                <a:spcPct val="122000"/>
              </a:lnSpc>
            </a:pPr>
            <a:r>
              <a:rPr sz="1250" b="0" i="0">
                <a:solidFill>
                  <a:srgbClr val="39424F"/>
                </a:solidFill>
                <a:latin typeface="Segoe UI"/>
              </a:rPr>
              <a:t>KZG cho proof ngắn hơn nhưng cần </a:t>
            </a:r>
            <a:r>
              <a:rPr sz="1250" b="1" i="0">
                <a:solidFill>
                  <a:srgbClr val="141821"/>
                </a:solidFill>
                <a:latin typeface="Segoe UI"/>
              </a:rPr>
              <a:t>trusted setup</a:t>
            </a:r>
            <a:r>
              <a:rPr sz="1250" b="0" i="0">
                <a:solidFill>
                  <a:srgbClr val="39424F"/>
                </a:solidFill>
                <a:latin typeface="Segoe UI"/>
              </a:rPr>
              <a:t> và phép toán pairing — rất đắt để chứng minh lại </a:t>
            </a:r>
            <a:r>
              <a:rPr sz="1250" b="1" i="0">
                <a:solidFill>
                  <a:srgbClr val="141821"/>
                </a:solidFill>
                <a:latin typeface="Segoe UI"/>
              </a:rPr>
              <a:t>bên trong</a:t>
            </a:r>
            <a:r>
              <a:rPr sz="1250" b="0" i="0">
                <a:solidFill>
                  <a:srgbClr val="39424F"/>
                </a:solidFill>
                <a:latin typeface="Segoe UI"/>
              </a:rPr>
              <a:t> zkVM. Merkle chỉ dùng băm, và SP1 có precompile SHA-256. Tối ưu phía prover, vì chi phí nằm ở đó.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angle 12"/>
          <p:cNvSpPr/>
          <p:nvPr/>
        </p:nvSpPr>
        <p:spPr>
          <a:xfrm>
            <a:off x="7680960" y="3949316"/>
            <a:ext cx="3840480" cy="1271268"/>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3949316"/>
            <a:ext cx="38100" cy="1271268"/>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0" y="2011680"/>
            <a:ext cx="3840480" cy="1699892"/>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2011680"/>
            <a:ext cx="38100" cy="1699892"/>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2 ↔ LỚP 3</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Mối liên hệ giữa lớp 2 và lớp 3</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Hai bản cài đặt của cùng một phép tính. Nghe như trùng lặp — thực ra là cơ chế phòng thủ.</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8</a:t>
            </a:r>
          </a:p>
        </p:txBody>
      </p:sp>
      <p:graphicFrame>
        <p:nvGraphicFramePr>
          <p:cNvPr id="7" name="Table 6"/>
          <p:cNvGraphicFramePr>
            <a:graphicFrameLocks noGrp="1"/>
          </p:cNvGraphicFramePr>
          <p:nvPr/>
        </p:nvGraphicFramePr>
        <p:xfrm>
          <a:off x="658368" y="2011680"/>
          <a:ext cx="6675118" cy="1755648"/>
        </p:xfrm>
        <a:graphic>
          <a:graphicData uri="http://schemas.openxmlformats.org/drawingml/2006/table">
            <a:tbl>
              <a:tblPr bandRow="1">
                <a:tableStyleId>{5C22544A-7EE6-4342-B048-85BDC9FD1C3A}</a:tableStyleId>
              </a:tblPr>
              <a:tblGrid>
                <a:gridCol w="1430382"/>
                <a:gridCol w="2383971"/>
                <a:gridCol w="2860765"/>
              </a:tblGrid>
              <a:tr h="292608">
                <a:tc>
                  <a:txBody>
                    <a:bodyPr/>
                    <a:lstStyle/>
                    <a:p>
                      <a:r>
                        <a:rPr sz="950" b="1" i="0">
                          <a:solidFill>
                            <a:srgbClr val="6B7581"/>
                          </a:solidFill>
                          <a:latin typeface="Segoe UI"/>
                        </a:rPr>
                        <a:t/>
                      </a:r>
                    </a:p>
                  </a:txBody>
                  <a:tcPr marL="64008" marR="64008" marT="27432" marB="27432" anchor="ctr">
                    <a:solidFill>
                      <a:srgbClr val="FFFFFF"/>
                    </a:solidFill>
                  </a:tcPr>
                </a:tc>
                <a:tc>
                  <a:txBody>
                    <a:bodyPr/>
                    <a:lstStyle/>
                    <a:p>
                      <a:r>
                        <a:rPr sz="950" b="1" i="0">
                          <a:solidFill>
                            <a:srgbClr val="6B7581"/>
                          </a:solidFill>
                          <a:latin typeface="Segoe UI"/>
                        </a:rPr>
                        <a:t>LỚP 2 — PYTHON</a:t>
                      </a:r>
                    </a:p>
                  </a:txBody>
                  <a:tcPr marL="64008" marR="64008" marT="27432" marB="27432" anchor="ctr">
                    <a:solidFill>
                      <a:srgbClr val="FFFFFF"/>
                    </a:solidFill>
                  </a:tcPr>
                </a:tc>
                <a:tc>
                  <a:txBody>
                    <a:bodyPr/>
                    <a:lstStyle/>
                    <a:p>
                      <a:r>
                        <a:rPr sz="950" b="1" i="0">
                          <a:solidFill>
                            <a:srgbClr val="6B7581"/>
                          </a:solidFill>
                          <a:latin typeface="Segoe UI"/>
                        </a:rPr>
                        <a:t>LỚP 3 — RUST TRONG GUEST</a:t>
                      </a:r>
                    </a:p>
                  </a:txBody>
                  <a:tcPr marL="64008" marR="64008" marT="27432" marB="27432" anchor="ctr">
                    <a:solidFill>
                      <a:srgbClr val="FFFFFF"/>
                    </a:solidFill>
                  </a:tcPr>
                </a:tc>
              </a:tr>
              <a:tr h="292608">
                <a:tc>
                  <a:txBody>
                    <a:bodyPr/>
                    <a:lstStyle/>
                    <a:p>
                      <a:r>
                        <a:rPr sz="1100" b="0" i="0">
                          <a:solidFill>
                            <a:srgbClr val="39424F"/>
                          </a:solidFill>
                          <a:latin typeface="Segoe UI"/>
                        </a:rPr>
                        <a:t>Vai trò</a:t>
                      </a:r>
                    </a:p>
                  </a:txBody>
                  <a:tcPr marL="64008" marR="64008" marT="27432" marB="27432" anchor="ctr">
                    <a:solidFill>
                      <a:srgbClr val="FFFFFF"/>
                    </a:solidFill>
                  </a:tcPr>
                </a:tc>
                <a:tc>
                  <a:txBody>
                    <a:bodyPr/>
                    <a:lstStyle/>
                    <a:p>
                      <a:r>
                        <a:rPr sz="1100" b="0" i="0">
                          <a:solidFill>
                            <a:srgbClr val="39424F"/>
                          </a:solidFill>
                          <a:latin typeface="Segoe UI"/>
                        </a:rPr>
                        <a:t>ĐỊNH NGHĨA quan hệ (oracle)</a:t>
                      </a:r>
                    </a:p>
                  </a:txBody>
                  <a:tcPr marL="64008" marR="64008" marT="27432" marB="27432" anchor="ctr">
                    <a:solidFill>
                      <a:srgbClr val="FFFFFF"/>
                    </a:solidFill>
                  </a:tcPr>
                </a:tc>
                <a:tc>
                  <a:txBody>
                    <a:bodyPr/>
                    <a:lstStyle/>
                    <a:p>
                      <a:r>
                        <a:rPr sz="1100" b="0" i="0">
                          <a:solidFill>
                            <a:srgbClr val="39424F"/>
                          </a:solidFill>
                          <a:latin typeface="Segoe UI"/>
                        </a:rPr>
                        <a:t>THI HÀNH quan hệ, được chứng minh</a:t>
                      </a:r>
                    </a:p>
                  </a:txBody>
                  <a:tcPr marL="64008" marR="64008" marT="27432" marB="27432" anchor="ctr">
                    <a:solidFill>
                      <a:srgbClr val="FFFFFF"/>
                    </a:solidFill>
                  </a:tcPr>
                </a:tc>
              </a:tr>
              <a:tr h="292608">
                <a:tc>
                  <a:txBody>
                    <a:bodyPr/>
                    <a:lstStyle/>
                    <a:p>
                      <a:r>
                        <a:rPr sz="1100" b="0" i="0">
                          <a:solidFill>
                            <a:srgbClr val="39424F"/>
                          </a:solidFill>
                          <a:latin typeface="Segoe UI"/>
                        </a:rPr>
                        <a:t>Chạy ở đâu</a:t>
                      </a:r>
                    </a:p>
                  </a:txBody>
                  <a:tcPr marL="64008" marR="64008" marT="27432" marB="27432" anchor="ctr">
                    <a:solidFill>
                      <a:srgbClr val="FFFFFF"/>
                    </a:solidFill>
                  </a:tcPr>
                </a:tc>
                <a:tc>
                  <a:txBody>
                    <a:bodyPr/>
                    <a:lstStyle/>
                    <a:p>
                      <a:r>
                        <a:rPr sz="1100" b="0" i="0">
                          <a:solidFill>
                            <a:srgbClr val="39424F"/>
                          </a:solidFill>
                          <a:latin typeface="Segoe UI"/>
                        </a:rPr>
                        <a:t>máy thường, CPU</a:t>
                      </a:r>
                    </a:p>
                  </a:txBody>
                  <a:tcPr marL="64008" marR="64008" marT="27432" marB="27432" anchor="ctr">
                    <a:solidFill>
                      <a:srgbClr val="FFFFFF"/>
                    </a:solidFill>
                  </a:tcPr>
                </a:tc>
                <a:tc>
                  <a:txBody>
                    <a:bodyPr/>
                    <a:lstStyle/>
                    <a:p>
                      <a:r>
                        <a:rPr sz="1100" b="0" i="0">
                          <a:solidFill>
                            <a:srgbClr val="39424F"/>
                          </a:solidFill>
                          <a:latin typeface="Segoe UI"/>
                        </a:rPr>
                        <a:t>bên trong zkVM</a:t>
                      </a:r>
                    </a:p>
                  </a:txBody>
                  <a:tcPr marL="64008" marR="64008" marT="27432" marB="27432" anchor="ctr">
                    <a:solidFill>
                      <a:srgbClr val="FFFFFF"/>
                    </a:solidFill>
                  </a:tcPr>
                </a:tc>
              </a:tr>
              <a:tr h="292608">
                <a:tc>
                  <a:txBody>
                    <a:bodyPr/>
                    <a:lstStyle/>
                    <a:p>
                      <a:r>
                        <a:rPr sz="1100" b="0" i="0">
                          <a:solidFill>
                            <a:srgbClr val="39424F"/>
                          </a:solidFill>
                          <a:latin typeface="Segoe UI"/>
                        </a:rPr>
                        <a:t>Tốc độ</a:t>
                      </a:r>
                    </a:p>
                  </a:txBody>
                  <a:tcPr marL="64008" marR="64008" marT="27432" marB="27432" anchor="ctr">
                    <a:solidFill>
                      <a:srgbClr val="FFFFFF"/>
                    </a:solidFill>
                  </a:tcPr>
                </a:tc>
                <a:tc>
                  <a:txBody>
                    <a:bodyPr/>
                    <a:lstStyle/>
                    <a:p>
                      <a:r>
                        <a:rPr sz="1100" b="0" i="0">
                          <a:solidFill>
                            <a:srgbClr val="39424F"/>
                          </a:solidFill>
                          <a:latin typeface="Segoe UI"/>
                        </a:rPr>
                        <a:t>mili giây</a:t>
                      </a:r>
                    </a:p>
                  </a:txBody>
                  <a:tcPr marL="64008" marR="64008" marT="27432" marB="27432" anchor="ctr">
                    <a:solidFill>
                      <a:srgbClr val="FFFFFF"/>
                    </a:solidFill>
                  </a:tcPr>
                </a:tc>
                <a:tc>
                  <a:txBody>
                    <a:bodyPr/>
                    <a:lstStyle/>
                    <a:p>
                      <a:r>
                        <a:rPr sz="1100" b="0" i="0">
                          <a:solidFill>
                            <a:srgbClr val="39424F"/>
                          </a:solidFill>
                          <a:latin typeface="Segoe UI"/>
                        </a:rPr>
                        <a:t>giây → hàng chục phút, kèm prove</a:t>
                      </a:r>
                    </a:p>
                  </a:txBody>
                  <a:tcPr marL="64008" marR="64008" marT="27432" marB="27432" anchor="ctr">
                    <a:solidFill>
                      <a:srgbClr val="FFFFFF"/>
                    </a:solidFill>
                  </a:tcPr>
                </a:tc>
              </a:tr>
              <a:tr h="292608">
                <a:tc>
                  <a:txBody>
                    <a:bodyPr/>
                    <a:lstStyle/>
                    <a:p>
                      <a:r>
                        <a:rPr sz="1100" b="0" i="0">
                          <a:solidFill>
                            <a:srgbClr val="39424F"/>
                          </a:solidFill>
                          <a:latin typeface="Segoe UI"/>
                        </a:rPr>
                        <a:t>Sinh ra gì</a:t>
                      </a:r>
                    </a:p>
                  </a:txBody>
                  <a:tcPr marL="64008" marR="64008" marT="27432" marB="27432" anchor="ctr">
                    <a:solidFill>
                      <a:srgbClr val="FFFFFF"/>
                    </a:solidFill>
                  </a:tcPr>
                </a:tc>
                <a:tc>
                  <a:txBody>
                    <a:bodyPr/>
                    <a:lstStyle/>
                    <a:p>
                      <a:r>
                        <a:rPr sz="1100" b="0" i="0">
                          <a:solidFill>
                            <a:srgbClr val="39424F"/>
                          </a:solidFill>
                          <a:latin typeface="Segoe UI"/>
                        </a:rPr>
                        <a:t>test vector, artifact, số Bảng 1</a:t>
                      </a:r>
                    </a:p>
                  </a:txBody>
                  <a:tcPr marL="64008" marR="64008" marT="27432" marB="27432" anchor="ctr">
                    <a:solidFill>
                      <a:srgbClr val="FFFFFF"/>
                    </a:solidFill>
                  </a:tcPr>
                </a:tc>
                <a:tc>
                  <a:txBody>
                    <a:bodyPr/>
                    <a:lstStyle/>
                    <a:p>
                      <a:r>
                        <a:rPr sz="1100" b="0" i="0">
                          <a:solidFill>
                            <a:srgbClr val="39424F"/>
                          </a:solidFill>
                          <a:latin typeface="Segoe UI"/>
                        </a:rPr>
                        <a:t>proof</a:t>
                      </a:r>
                    </a:p>
                  </a:txBody>
                  <a:tcPr marL="64008" marR="64008" marT="27432" marB="27432" anchor="ctr">
                    <a:solidFill>
                      <a:srgbClr val="FFFFFF"/>
                    </a:solidFill>
                  </a:tcPr>
                </a:tc>
              </a:tr>
              <a:tr h="292608">
                <a:tc>
                  <a:txBody>
                    <a:bodyPr/>
                    <a:lstStyle/>
                    <a:p>
                      <a:r>
                        <a:rPr sz="1100" b="0" i="0">
                          <a:solidFill>
                            <a:srgbClr val="39424F"/>
                          </a:solidFill>
                          <a:latin typeface="Segoe UI"/>
                        </a:rPr>
                        <a:t>Bỏ đi được?</a:t>
                      </a:r>
                    </a:p>
                  </a:txBody>
                  <a:tcPr marL="64008" marR="64008" marT="27432" marB="27432" anchor="ctr">
                    <a:solidFill>
                      <a:srgbClr val="FFFFFF"/>
                    </a:solidFill>
                  </a:tcPr>
                </a:tc>
                <a:tc>
                  <a:txBody>
                    <a:bodyPr/>
                    <a:lstStyle/>
                    <a:p>
                      <a:r>
                        <a:rPr sz="1100" b="0" i="0">
                          <a:solidFill>
                            <a:srgbClr val="39424F"/>
                          </a:solidFill>
                          <a:latin typeface="Segoe UI"/>
                        </a:rPr>
                        <a:t>KHÔNG</a:t>
                      </a:r>
                    </a:p>
                  </a:txBody>
                  <a:tcPr marL="64008" marR="64008" marT="27432" marB="27432" anchor="ctr">
                    <a:solidFill>
                      <a:srgbClr val="FFFFFF"/>
                    </a:solidFill>
                  </a:tcPr>
                </a:tc>
                <a:tc>
                  <a:txBody>
                    <a:bodyPr/>
                    <a:lstStyle/>
                    <a:p>
                      <a:r>
                        <a:rPr sz="1100" b="0" i="0">
                          <a:solidFill>
                            <a:srgbClr val="39424F"/>
                          </a:solidFill>
                          <a:latin typeface="Segoe UI"/>
                        </a:rPr>
                        <a:t>KHÔNG</a:t>
                      </a:r>
                    </a:p>
                  </a:txBody>
                  <a:tcPr marL="64008" marR="64008" marT="27432" marB="27432" anchor="ctr">
                    <a:solidFill>
                      <a:srgbClr val="FFFFFF"/>
                    </a:solidFill>
                  </a:tcPr>
                </a:tc>
              </a:tr>
            </a:tbl>
          </a:graphicData>
        </a:graphic>
      </p:graphicFrame>
      <p:sp>
        <p:nvSpPr>
          <p:cNvPr id="8" name="TextBox 7"/>
          <p:cNvSpPr txBox="1"/>
          <p:nvPr/>
        </p:nvSpPr>
        <p:spPr>
          <a:xfrm>
            <a:off x="658368" y="4114800"/>
            <a:ext cx="6675120" cy="365760"/>
          </a:xfrm>
          <a:prstGeom prst="rect">
            <a:avLst/>
          </a:prstGeom>
          <a:noFill/>
        </p:spPr>
        <p:txBody>
          <a:bodyPr wrap="square" lIns="0" rIns="0" tIns="0" bIns="0">
            <a:spAutoFit/>
          </a:bodyPr>
          <a:lstStyle/>
          <a:p>
            <a:pPr>
              <a:lnSpc>
                <a:spcPct val="122000"/>
              </a:lnSpc>
              <a:spcAft>
                <a:spcPts val="700"/>
              </a:spcAft>
            </a:pPr>
            <a:r>
              <a:rPr sz="1250" b="1" i="0">
                <a:solidFill>
                  <a:srgbClr val="17605B"/>
                </a:solidFill>
                <a:latin typeface="Segoe UI"/>
              </a:rPr>
              <a:t>—  </a:t>
            </a:r>
            <a:r>
              <a:rPr sz="1250" b="1" i="0">
                <a:solidFill>
                  <a:srgbClr val="141821"/>
                </a:solidFill>
                <a:latin typeface="Segoe UI"/>
              </a:rPr>
              <a:t>Không bỏ Python được</a:t>
            </a:r>
            <a:r>
              <a:rPr sz="1250" b="0" i="0">
                <a:solidFill>
                  <a:srgbClr val="39424F"/>
                </a:solidFill>
                <a:latin typeface="Segoe UI"/>
              </a:rPr>
              <a:t> — nó sinh ra dữ liệu để chứng minh, nó là mức so sánh (“guest tính đúng” là đúng so với *cái gì*?), và nó bắt lỗi trong mili giây thay vì trả tiền GPU để bắt.</a:t>
            </a:r>
          </a:p>
          <a:p>
            <a:pPr>
              <a:lnSpc>
                <a:spcPct val="122000"/>
              </a:lnSpc>
              <a:spcAft>
                <a:spcPts val="700"/>
              </a:spcAft>
            </a:pPr>
            <a:r>
              <a:rPr sz="1250" b="1" i="0">
                <a:solidFill>
                  <a:srgbClr val="17605B"/>
                </a:solidFill>
                <a:latin typeface="Segoe UI"/>
              </a:rPr>
              <a:t>—  </a:t>
            </a:r>
            <a:r>
              <a:rPr sz="1250" b="1" i="0">
                <a:solidFill>
                  <a:srgbClr val="141821"/>
                </a:solidFill>
                <a:latin typeface="Segoe UI"/>
              </a:rPr>
              <a:t>Không bỏ Rust được</a:t>
            </a:r>
            <a:r>
              <a:rPr sz="1250" b="0" i="0">
                <a:solidFill>
                  <a:srgbClr val="39424F"/>
                </a:solidFill>
                <a:latin typeface="Segoe UI"/>
              </a:rPr>
              <a:t> — oracle Python chạy trên máy prover, nó </a:t>
            </a:r>
            <a:r>
              <a:rPr sz="1250" b="1" i="0">
                <a:solidFill>
                  <a:srgbClr val="141821"/>
                </a:solidFill>
                <a:latin typeface="Segoe UI"/>
              </a:rPr>
              <a:t>không</a:t>
            </a:r>
            <a:r>
              <a:rPr sz="1250" b="0" i="0">
                <a:solidFill>
                  <a:srgbClr val="39424F"/>
                </a:solidFill>
                <a:latin typeface="Segoe UI"/>
              </a:rPr>
              <a:t> là bằng chứng gì với người ngoài. Ai cũng viết được một script in ra “đúng rồi”.</a:t>
            </a:r>
          </a:p>
        </p:txBody>
      </p:sp>
      <p:sp>
        <p:nvSpPr>
          <p:cNvPr id="9" name="TextBox 8"/>
          <p:cNvSpPr txBox="1"/>
          <p:nvPr/>
        </p:nvSpPr>
        <p:spPr>
          <a:xfrm>
            <a:off x="7900416" y="2139696"/>
            <a:ext cx="343814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CƠ CHẾ PHÒNG THỦ, ĐÃ CỨU MỘT LẦN THẬT</a:t>
            </a:r>
          </a:p>
          <a:p>
            <a:pPr>
              <a:lnSpc>
                <a:spcPct val="122000"/>
              </a:lnSpc>
            </a:pPr>
            <a:r>
              <a:rPr sz="1250" b="0" i="0">
                <a:solidFill>
                  <a:srgbClr val="39424F"/>
                </a:solidFill>
                <a:latin typeface="Segoe UI"/>
              </a:rPr>
              <a:t>Lỗi tràn i64 </a:t>
            </a:r>
            <a:r>
              <a:rPr sz="1250" b="1" i="0">
                <a:solidFill>
                  <a:srgbClr val="141821"/>
                </a:solidFill>
                <a:latin typeface="Segoe UI"/>
              </a:rPr>
              <a:t>chỉ bị phát hiện vì hai bản bất đồng</a:t>
            </a:r>
            <a:r>
              <a:rPr sz="1250" b="0" i="0">
                <a:solidFill>
                  <a:srgbClr val="39424F"/>
                </a:solidFill>
                <a:latin typeface="Segoe UI"/>
              </a:rPr>
              <a:t>: Python dùng số nguyên độ chính xác tuỳ ý nên không gói vòng, Rust i64 thì gói vòng thành số âm. Nếu chỉ có một bản, một phép tính vô nghĩa đã được chứng minh thành công và không ai biết.</a:t>
            </a:r>
          </a:p>
        </p:txBody>
      </p:sp>
      <p:sp>
        <p:nvSpPr>
          <p:cNvPr id="12" name="TextBox 11"/>
          <p:cNvSpPr txBox="1"/>
          <p:nvPr/>
        </p:nvSpPr>
        <p:spPr>
          <a:xfrm>
            <a:off x="7900416" y="4077332"/>
            <a:ext cx="343814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CÁI GIÁ PHẢI TRẢ</a:t>
            </a:r>
          </a:p>
          <a:p>
            <a:pPr>
              <a:lnSpc>
                <a:spcPct val="122000"/>
              </a:lnSpc>
            </a:pPr>
            <a:r>
              <a:rPr sz="1250" b="0" i="0">
                <a:solidFill>
                  <a:srgbClr val="39424F"/>
                </a:solidFill>
                <a:latin typeface="Segoe UI"/>
              </a:rPr>
              <a:t>Mỗi lần đổi quan hệ phải sửa </a:t>
            </a:r>
            <a:r>
              <a:rPr sz="1250" b="1" i="0">
                <a:solidFill>
                  <a:srgbClr val="141821"/>
                </a:solidFill>
                <a:latin typeface="Segoe UI"/>
              </a:rPr>
              <a:t>cả hai</a:t>
            </a:r>
            <a:r>
              <a:rPr sz="1250" b="0" i="0">
                <a:solidFill>
                  <a:srgbClr val="39424F"/>
                </a:solidFill>
                <a:latin typeface="Segoe UI"/>
              </a:rPr>
              <a:t>, và chuỗi JSON chuẩn tắc phải khớp </a:t>
            </a:r>
            <a:r>
              <a:rPr sz="1250" b="1" i="0">
                <a:solidFill>
                  <a:srgbClr val="141821"/>
                </a:solidFill>
                <a:latin typeface="Segoe UI"/>
              </a:rPr>
              <a:t>đến từng byte</a:t>
            </a:r>
            <a:r>
              <a:rPr sz="1250" b="0" i="0">
                <a:solidFill>
                  <a:srgbClr val="39424F"/>
                </a:solidFill>
                <a:latin typeface="Segoe UI"/>
              </a:rPr>
              <a:t> — guest không có bộ mã hoá JSON, nó dựng chuỗi bằng tay.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p:cNvSpPr/>
          <p:nvPr/>
        </p:nvSpPr>
        <p:spPr>
          <a:xfrm>
            <a:off x="658368" y="4160520"/>
            <a:ext cx="3977639"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16052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2 · QUAN HỆ</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2 — Tám quan hệ: vào gì, ra gì</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Vòng huấn luyện DQN có bảy bước; tám quan hệ phủ nó theo kiểu đồng tâm.</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9</a:t>
            </a:r>
          </a:p>
        </p:txBody>
      </p:sp>
      <p:sp>
        <p:nvSpPr>
          <p:cNvPr id="7" name="Rectangle 6"/>
          <p:cNvSpPr/>
          <p:nvPr/>
        </p:nvSpPr>
        <p:spPr>
          <a:xfrm>
            <a:off x="658368" y="1965960"/>
            <a:ext cx="3977639" cy="1996821"/>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3685031" cy="1777365"/>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Vòng huấn luyện DQN, một bước</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1  lấy transition (s,a,r,s',done)</a:t>
            </a:r>
          </a:p>
          <a:p>
            <a:pPr>
              <a:lnSpc>
                <a:spcPct val="134000"/>
              </a:lnSpc>
              <a:spcAft>
                <a:spcPts val="0"/>
              </a:spcAft>
            </a:pPr>
            <a:r>
              <a:rPr sz="1050" b="0" i="0">
                <a:solidFill>
                  <a:srgbClr val="39424F"/>
                </a:solidFill>
                <a:latin typeface="Consolas"/>
              </a:rPr>
              <a:t>2  chạy mạng trên s   → Q(s,a)</a:t>
            </a:r>
          </a:p>
          <a:p>
            <a:pPr>
              <a:lnSpc>
                <a:spcPct val="134000"/>
              </a:lnSpc>
              <a:spcAft>
                <a:spcPts val="0"/>
              </a:spcAft>
            </a:pPr>
            <a:r>
              <a:rPr sz="1050" b="0" i="0">
                <a:solidFill>
                  <a:srgbClr val="39424F"/>
                </a:solidFill>
                <a:latin typeface="Consolas"/>
              </a:rPr>
              <a:t>3  chạy mạng trên s'  → max Q(s',a')</a:t>
            </a:r>
          </a:p>
          <a:p>
            <a:pPr>
              <a:lnSpc>
                <a:spcPct val="134000"/>
              </a:lnSpc>
              <a:spcAft>
                <a:spcPts val="0"/>
              </a:spcAft>
            </a:pPr>
            <a:r>
              <a:rPr sz="1050" b="0" i="0">
                <a:solidFill>
                  <a:srgbClr val="39424F"/>
                </a:solidFill>
                <a:latin typeface="Consolas"/>
              </a:rPr>
              <a:t>4  TD target = r + γ·max Q(s',a')</a:t>
            </a:r>
          </a:p>
          <a:p>
            <a:pPr>
              <a:lnSpc>
                <a:spcPct val="134000"/>
              </a:lnSpc>
              <a:spcAft>
                <a:spcPts val="0"/>
              </a:spcAft>
            </a:pPr>
            <a:r>
              <a:rPr sz="1050" b="0" i="0">
                <a:solidFill>
                  <a:srgbClr val="39424F"/>
                </a:solidFill>
                <a:latin typeface="Consolas"/>
              </a:rPr>
              <a:t>5  loss = SmoothL1(TD target − Q(s,a))</a:t>
            </a:r>
          </a:p>
          <a:p>
            <a:pPr>
              <a:lnSpc>
                <a:spcPct val="134000"/>
              </a:lnSpc>
              <a:spcAft>
                <a:spcPts val="0"/>
              </a:spcAft>
            </a:pPr>
            <a:r>
              <a:rPr sz="1050" b="0" i="0">
                <a:solidFill>
                  <a:srgbClr val="39424F"/>
                </a:solidFill>
                <a:latin typeface="Consolas"/>
              </a:rPr>
              <a:t>6  tính gradient</a:t>
            </a:r>
          </a:p>
          <a:p>
            <a:pPr>
              <a:lnSpc>
                <a:spcPct val="134000"/>
              </a:lnSpc>
              <a:spcAft>
                <a:spcPts val="0"/>
              </a:spcAft>
            </a:pPr>
            <a:r>
              <a:rPr sz="1050" b="0" i="0">
                <a:solidFill>
                  <a:srgbClr val="39424F"/>
                </a:solidFill>
                <a:latin typeface="Consolas"/>
              </a:rPr>
              <a:t>7  cập nhật trọng số</a:t>
            </a:r>
          </a:p>
        </p:txBody>
      </p:sp>
      <p:sp>
        <p:nvSpPr>
          <p:cNvPr id="9" name="TextBox 8"/>
          <p:cNvSpPr txBox="1"/>
          <p:nvPr/>
        </p:nvSpPr>
        <p:spPr>
          <a:xfrm>
            <a:off x="877824" y="4288536"/>
            <a:ext cx="3575303"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GIỮ CẢ QUAN HỆ NHỎ</a:t>
            </a:r>
          </a:p>
          <a:p>
            <a:pPr>
              <a:lnSpc>
                <a:spcPct val="122000"/>
              </a:lnSpc>
            </a:pPr>
            <a:r>
              <a:rPr sz="1250" b="0" i="0">
                <a:solidFill>
                  <a:srgbClr val="39424F"/>
                </a:solidFill>
                <a:latin typeface="Segoe UI"/>
              </a:rPr>
              <a:t>Mỗi cái là một </a:t>
            </a:r>
            <a:r>
              <a:rPr sz="1250" b="1" i="0">
                <a:solidFill>
                  <a:srgbClr val="141821"/>
                </a:solidFill>
                <a:latin typeface="Segoe UI"/>
              </a:rPr>
              <a:t>điểm đo độc lập</a:t>
            </a:r>
            <a:r>
              <a:rPr sz="1250" b="0" i="0">
                <a:solidFill>
                  <a:srgbClr val="39424F"/>
                </a:solidFill>
                <a:latin typeface="Segoe UI"/>
              </a:rPr>
              <a:t> cho Bảng 2. Và khi quan hệ lớn hỏng, quan hệ nhỏ chỉ ra </a:t>
            </a:r>
            <a:r>
              <a:rPr sz="1250" b="1" i="0">
                <a:solidFill>
                  <a:srgbClr val="141821"/>
                </a:solidFill>
                <a:latin typeface="Segoe UI"/>
              </a:rPr>
              <a:t>hỏng ở đâu</a:t>
            </a:r>
            <a:r>
              <a:rPr sz="1250" b="0" i="0">
                <a:solidFill>
                  <a:srgbClr val="39424F"/>
                </a:solidFill>
                <a:latin typeface="Segoe UI"/>
              </a:rPr>
              <a:t>.</a:t>
            </a:r>
          </a:p>
        </p:txBody>
      </p:sp>
      <p:graphicFrame>
        <p:nvGraphicFramePr>
          <p:cNvPr id="12" name="Table 11"/>
          <p:cNvGraphicFramePr>
            <a:graphicFrameLocks noGrp="1"/>
          </p:cNvGraphicFramePr>
          <p:nvPr/>
        </p:nvGraphicFramePr>
        <p:xfrm>
          <a:off x="5029200" y="1965960"/>
          <a:ext cx="6492240" cy="2633472"/>
        </p:xfrm>
        <a:graphic>
          <a:graphicData uri="http://schemas.openxmlformats.org/drawingml/2006/table">
            <a:tbl>
              <a:tblPr bandRow="1">
                <a:tableStyleId>{5C22544A-7EE6-4342-B048-85BDC9FD1C3A}</a:tableStyleId>
              </a:tblPr>
              <a:tblGrid>
                <a:gridCol w="2028825"/>
                <a:gridCol w="811530"/>
                <a:gridCol w="3651885"/>
              </a:tblGrid>
              <a:tr h="292608">
                <a:tc>
                  <a:txBody>
                    <a:bodyPr/>
                    <a:lstStyle/>
                    <a:p>
                      <a:r>
                        <a:rPr sz="950" b="1" i="0">
                          <a:solidFill>
                            <a:srgbClr val="6B7581"/>
                          </a:solidFill>
                          <a:latin typeface="Segoe UI"/>
                        </a:rPr>
                        <a:t>QUAN HỆ</a:t>
                      </a:r>
                    </a:p>
                  </a:txBody>
                  <a:tcPr marL="64008" marR="64008" marT="27432" marB="27432" anchor="ctr">
                    <a:solidFill>
                      <a:srgbClr val="FFFFFF"/>
                    </a:solidFill>
                  </a:tcPr>
                </a:tc>
                <a:tc>
                  <a:txBody>
                    <a:bodyPr/>
                    <a:lstStyle/>
                    <a:p>
                      <a:r>
                        <a:rPr sz="950" b="1" i="0">
                          <a:solidFill>
                            <a:srgbClr val="6B7581"/>
                          </a:solidFill>
                          <a:latin typeface="Segoe UI"/>
                        </a:rPr>
                        <a:t>BƯỚC</a:t>
                      </a:r>
                    </a:p>
                  </a:txBody>
                  <a:tcPr marL="64008" marR="64008" marT="27432" marB="27432" anchor="ctr">
                    <a:solidFill>
                      <a:srgbClr val="FFFFFF"/>
                    </a:solidFill>
                  </a:tcPr>
                </a:tc>
                <a:tc>
                  <a:txBody>
                    <a:bodyPr/>
                    <a:lstStyle/>
                    <a:p>
                      <a:r>
                        <a:rPr sz="950" b="1" i="0">
                          <a:solidFill>
                            <a:srgbClr val="6B7581"/>
                          </a:solidFill>
                          <a:latin typeface="Segoe UI"/>
                        </a:rPr>
                        <a:t>CHỨNG MINH ĐIỀU GÌ</a:t>
                      </a:r>
                    </a:p>
                  </a:txBody>
                  <a:tcPr marL="64008" marR="64008" marT="27432" marB="27432" anchor="ctr">
                    <a:solidFill>
                      <a:srgbClr val="FFFFFF"/>
                    </a:solidFill>
                  </a:tcPr>
                </a:tc>
              </a:tr>
              <a:tr h="292608">
                <a:tc>
                  <a:txBody>
                    <a:bodyPr/>
                    <a:lstStyle/>
                    <a:p>
                      <a:r>
                        <a:rPr sz="1100" b="0" i="0">
                          <a:solidFill>
                            <a:srgbClr val="39424F"/>
                          </a:solidFill>
                          <a:latin typeface="Segoe UI"/>
                        </a:rPr>
                        <a:t>merkle_membership</a:t>
                      </a:r>
                    </a:p>
                  </a:txBody>
                  <a:tcPr marL="64008" marR="64008" marT="27432" marB="27432" anchor="ctr">
                    <a:solidFill>
                      <a:srgbClr val="FFFFFF"/>
                    </a:solidFill>
                  </a:tcPr>
                </a:tc>
                <a:tc>
                  <a:txBody>
                    <a:bodyPr/>
                    <a:lstStyle/>
                    <a:p>
                      <a:r>
                        <a:rPr sz="1100" b="0" i="0">
                          <a:solidFill>
                            <a:srgbClr val="39424F"/>
                          </a:solidFill>
                          <a:latin typeface="Segoe UI"/>
                        </a:rPr>
                        <a:t>trước 1</a:t>
                      </a:r>
                    </a:p>
                  </a:txBody>
                  <a:tcPr marL="64008" marR="64008" marT="27432" marB="27432" anchor="ctr">
                    <a:solidFill>
                      <a:srgbClr val="FFFFFF"/>
                    </a:solidFill>
                  </a:tcPr>
                </a:tc>
                <a:tc>
                  <a:txBody>
                    <a:bodyPr/>
                    <a:lstStyle/>
                    <a:p>
                      <a:r>
                        <a:rPr sz="1100" b="0" i="0">
                          <a:solidFill>
                            <a:srgbClr val="39424F"/>
                          </a:solidFill>
                          <a:latin typeface="Segoe UI"/>
                        </a:rPr>
                        <a:t>dòng dữ liệu này nằm trong cây đã cam kết</a:t>
                      </a:r>
                    </a:p>
                  </a:txBody>
                  <a:tcPr marL="64008" marR="64008" marT="27432" marB="27432" anchor="ctr">
                    <a:solidFill>
                      <a:srgbClr val="FFFFFF"/>
                    </a:solidFill>
                  </a:tcPr>
                </a:tc>
              </a:tr>
              <a:tr h="292608">
                <a:tc>
                  <a:txBody>
                    <a:bodyPr/>
                    <a:lstStyle/>
                    <a:p>
                      <a:r>
                        <a:rPr sz="1100" b="0" i="0">
                          <a:solidFill>
                            <a:srgbClr val="39424F"/>
                          </a:solidFill>
                          <a:latin typeface="Segoe UI"/>
                        </a:rPr>
                        <a:t>td_mvp</a:t>
                      </a:r>
                    </a:p>
                  </a:txBody>
                  <a:tcPr marL="64008" marR="64008" marT="27432" marB="27432" anchor="ctr">
                    <a:solidFill>
                      <a:srgbClr val="FFFFFF"/>
                    </a:solidFill>
                  </a:tcPr>
                </a:tc>
                <a:tc>
                  <a:txBody>
                    <a:bodyPr/>
                    <a:lstStyle/>
                    <a:p>
                      <a:r>
                        <a:rPr sz="1100" b="0" i="0">
                          <a:solidFill>
                            <a:srgbClr val="39424F"/>
                          </a:solidFill>
                          <a:latin typeface="Segoe UI"/>
                        </a:rPr>
                        <a:t>4–5</a:t>
                      </a:r>
                    </a:p>
                  </a:txBody>
                  <a:tcPr marL="64008" marR="64008" marT="27432" marB="27432" anchor="ctr">
                    <a:solidFill>
                      <a:srgbClr val="FFFFFF"/>
                    </a:solidFill>
                  </a:tcPr>
                </a:tc>
                <a:tc>
                  <a:txBody>
                    <a:bodyPr/>
                    <a:lstStyle/>
                    <a:p>
                      <a:r>
                        <a:rPr sz="1100" b="0" i="0">
                          <a:solidFill>
                            <a:srgbClr val="39424F"/>
                          </a:solidFill>
                          <a:latin typeface="Segoe UI"/>
                        </a:rPr>
                        <a:t>TD target và loss SmoothL1 tính đúng</a:t>
                      </a:r>
                    </a:p>
                  </a:txBody>
                  <a:tcPr marL="64008" marR="64008" marT="27432" marB="27432" anchor="ctr">
                    <a:solidFill>
                      <a:srgbClr val="FFFFFF"/>
                    </a:solidFill>
                  </a:tcPr>
                </a:tc>
              </a:tr>
              <a:tr h="292608">
                <a:tc>
                  <a:txBody>
                    <a:bodyPr/>
                    <a:lstStyle/>
                    <a:p>
                      <a:r>
                        <a:rPr sz="1100" b="0" i="0">
                          <a:solidFill>
                            <a:srgbClr val="39424F"/>
                          </a:solidFill>
                          <a:latin typeface="Segoe UI"/>
                        </a:rPr>
                        <a:t>forward_td_mlp</a:t>
                      </a:r>
                    </a:p>
                  </a:txBody>
                  <a:tcPr marL="64008" marR="64008" marT="27432" marB="27432" anchor="ctr">
                    <a:solidFill>
                      <a:srgbClr val="FFFFFF"/>
                    </a:solidFill>
                  </a:tcPr>
                </a:tc>
                <a:tc>
                  <a:txBody>
                    <a:bodyPr/>
                    <a:lstStyle/>
                    <a:p>
                      <a:r>
                        <a:rPr sz="1100" b="0" i="0">
                          <a:solidFill>
                            <a:srgbClr val="39424F"/>
                          </a:solidFill>
                          <a:latin typeface="Segoe UI"/>
                        </a:rPr>
                        <a:t>2–5</a:t>
                      </a:r>
                    </a:p>
                  </a:txBody>
                  <a:tcPr marL="64008" marR="64008" marT="27432" marB="27432" anchor="ctr">
                    <a:solidFill>
                      <a:srgbClr val="FFFFFF"/>
                    </a:solidFill>
                  </a:tcPr>
                </a:tc>
                <a:tc>
                  <a:txBody>
                    <a:bodyPr/>
                    <a:lstStyle/>
                    <a:p>
                      <a:r>
                        <a:rPr sz="1100" b="0" i="0">
                          <a:solidFill>
                            <a:srgbClr val="39424F"/>
                          </a:solidFill>
                          <a:latin typeface="Segoe UI"/>
                        </a:rPr>
                        <a:t>các giá trị Q do đúng mạng này sinh ra</a:t>
                      </a:r>
                    </a:p>
                  </a:txBody>
                  <a:tcPr marL="64008" marR="64008" marT="27432" marB="27432" anchor="ctr">
                    <a:solidFill>
                      <a:srgbClr val="FFFFFF"/>
                    </a:solidFill>
                  </a:tcPr>
                </a:tc>
              </a:tr>
              <a:tr h="292608">
                <a:tc>
                  <a:txBody>
                    <a:bodyPr/>
                    <a:lstStyle/>
                    <a:p>
                      <a:r>
                        <a:rPr sz="1100" b="0" i="0">
                          <a:solidFill>
                            <a:srgbClr val="39424F"/>
                          </a:solidFill>
                          <a:latin typeface="Segoe UI"/>
                        </a:rPr>
                        <a:t>one_step_sgd_tiny</a:t>
                      </a:r>
                    </a:p>
                  </a:txBody>
                  <a:tcPr marL="64008" marR="64008" marT="27432" marB="27432" anchor="ctr">
                    <a:solidFill>
                      <a:srgbClr val="FFFFFF"/>
                    </a:solidFill>
                  </a:tcPr>
                </a:tc>
                <a:tc>
                  <a:txBody>
                    <a:bodyPr/>
                    <a:lstStyle/>
                    <a:p>
                      <a:r>
                        <a:rPr sz="1100" b="0" i="0">
                          <a:solidFill>
                            <a:srgbClr val="39424F"/>
                          </a:solidFill>
                          <a:latin typeface="Segoe UI"/>
                        </a:rPr>
                        <a:t>6–7</a:t>
                      </a:r>
                    </a:p>
                  </a:txBody>
                  <a:tcPr marL="64008" marR="64008" marT="27432" marB="27432" anchor="ctr">
                    <a:solidFill>
                      <a:srgbClr val="FFFFFF"/>
                    </a:solidFill>
                  </a:tcPr>
                </a:tc>
                <a:tc>
                  <a:txBody>
                    <a:bodyPr/>
                    <a:lstStyle/>
                    <a:p>
                      <a:r>
                        <a:rPr sz="1100" b="0" i="0">
                          <a:solidFill>
                            <a:srgbClr val="39424F"/>
                          </a:solidFill>
                          <a:latin typeface="Segoe UI"/>
                        </a:rPr>
                        <a:t>gradient và w ← w − η·g áp đúng</a:t>
                      </a:r>
                    </a:p>
                  </a:txBody>
                  <a:tcPr marL="64008" marR="64008" marT="27432" marB="27432" anchor="ctr">
                    <a:solidFill>
                      <a:srgbClr val="FFFFFF"/>
                    </a:solidFill>
                  </a:tcPr>
                </a:tc>
              </a:tr>
              <a:tr h="292608">
                <a:tc>
                  <a:txBody>
                    <a:bodyPr/>
                    <a:lstStyle/>
                    <a:p>
                      <a:r>
                        <a:rPr sz="1100" b="0" i="0">
                          <a:solidFill>
                            <a:srgbClr val="39424F"/>
                          </a:solidFill>
                          <a:latin typeface="Segoe UI"/>
                        </a:rPr>
                        <a:t>short_trace</a:t>
                      </a:r>
                    </a:p>
                  </a:txBody>
                  <a:tcPr marL="64008" marR="64008" marT="27432" marB="27432" anchor="ctr">
                    <a:solidFill>
                      <a:srgbClr val="FFFFFF"/>
                    </a:solidFill>
                  </a:tcPr>
                </a:tc>
                <a:tc>
                  <a:txBody>
                    <a:bodyPr/>
                    <a:lstStyle/>
                    <a:p>
                      <a:r>
                        <a:rPr sz="1100" b="0" i="0">
                          <a:solidFill>
                            <a:srgbClr val="39424F"/>
                          </a:solidFill>
                          <a:latin typeface="Segoe UI"/>
                        </a:rPr>
                        <a:t>giữa</a:t>
                      </a:r>
                    </a:p>
                  </a:txBody>
                  <a:tcPr marL="64008" marR="64008" marT="27432" marB="27432" anchor="ctr">
                    <a:solidFill>
                      <a:srgbClr val="FFFFFF"/>
                    </a:solidFill>
                  </a:tcPr>
                </a:tc>
                <a:tc>
                  <a:txBody>
                    <a:bodyPr/>
                    <a:lstStyle/>
                    <a:p>
                      <a:r>
                        <a:rPr sz="1100" b="0" i="0">
                          <a:solidFill>
                            <a:srgbClr val="39424F"/>
                          </a:solidFill>
                          <a:latin typeface="Segoe UI"/>
                        </a:rPr>
                        <a:t>checkpoint cuối bước t = checkpoint đầu bước t+1</a:t>
                      </a:r>
                    </a:p>
                  </a:txBody>
                  <a:tcPr marL="64008" marR="64008" marT="27432" marB="27432" anchor="ctr">
                    <a:solidFill>
                      <a:srgbClr val="FFFFFF"/>
                    </a:solidFill>
                  </a:tcPr>
                </a:tc>
              </a:tr>
              <a:tr h="292608">
                <a:tc>
                  <a:txBody>
                    <a:bodyPr/>
                    <a:lstStyle/>
                    <a:p>
                      <a:r>
                        <a:rPr sz="1100" b="1" i="0">
                          <a:solidFill>
                            <a:srgbClr val="141821"/>
                          </a:solidFill>
                          <a:latin typeface="Segoe UI"/>
                        </a:rPr>
                        <a:t>training_update</a:t>
                      </a:r>
                    </a:p>
                  </a:txBody>
                  <a:tcPr marL="64008" marR="64008" marT="27432" marB="27432" anchor="ctr">
                    <a:solidFill>
                      <a:srgbClr val="DCEAE8"/>
                    </a:solidFill>
                  </a:tcPr>
                </a:tc>
                <a:tc>
                  <a:txBody>
                    <a:bodyPr/>
                    <a:lstStyle/>
                    <a:p>
                      <a:r>
                        <a:rPr sz="1100" b="0" i="0">
                          <a:solidFill>
                            <a:srgbClr val="39424F"/>
                          </a:solidFill>
                          <a:latin typeface="Segoe UI"/>
                        </a:rPr>
                        <a:t>1–7</a:t>
                      </a:r>
                    </a:p>
                  </a:txBody>
                  <a:tcPr marL="64008" marR="64008" marT="27432" marB="27432" anchor="ctr">
                    <a:solidFill>
                      <a:srgbClr val="DCEAE8"/>
                    </a:solidFill>
                  </a:tcPr>
                </a:tc>
                <a:tc>
                  <a:txBody>
                    <a:bodyPr/>
                    <a:lstStyle/>
                    <a:p>
                      <a:r>
                        <a:rPr sz="1100" b="0" i="0">
                          <a:solidFill>
                            <a:srgbClr val="39424F"/>
                          </a:solidFill>
                          <a:latin typeface="Segoe UI"/>
                        </a:rPr>
                        <a:t>một bước huấn luyện HOÀN CHỈNH</a:t>
                      </a:r>
                    </a:p>
                  </a:txBody>
                  <a:tcPr marL="64008" marR="64008" marT="27432" marB="27432" anchor="ctr">
                    <a:solidFill>
                      <a:srgbClr val="DCEAE8"/>
                    </a:solidFill>
                  </a:tcPr>
                </a:tc>
              </a:tr>
              <a:tr h="292608">
                <a:tc>
                  <a:txBody>
                    <a:bodyPr/>
                    <a:lstStyle/>
                    <a:p>
                      <a:r>
                        <a:rPr sz="1100" b="1" i="0">
                          <a:solidFill>
                            <a:srgbClr val="141821"/>
                          </a:solidFill>
                          <a:latin typeface="Segoe UI"/>
                        </a:rPr>
                        <a:t>training_fragment</a:t>
                      </a:r>
                    </a:p>
                  </a:txBody>
                  <a:tcPr marL="64008" marR="64008" marT="27432" marB="27432" anchor="ctr">
                    <a:solidFill>
                      <a:srgbClr val="DCEAE8"/>
                    </a:solidFill>
                  </a:tcPr>
                </a:tc>
                <a:tc>
                  <a:txBody>
                    <a:bodyPr/>
                    <a:lstStyle/>
                    <a:p>
                      <a:r>
                        <a:rPr sz="1100" b="0" i="0">
                          <a:solidFill>
                            <a:srgbClr val="39424F"/>
                          </a:solidFill>
                          <a:latin typeface="Segoe UI"/>
                        </a:rPr>
                        <a:t>k × 1–7</a:t>
                      </a:r>
                    </a:p>
                  </a:txBody>
                  <a:tcPr marL="64008" marR="64008" marT="27432" marB="27432" anchor="ctr">
                    <a:solidFill>
                      <a:srgbClr val="DCEAE8"/>
                    </a:solidFill>
                  </a:tcPr>
                </a:tc>
                <a:tc>
                  <a:txBody>
                    <a:bodyPr/>
                    <a:lstStyle/>
                    <a:p>
                      <a:r>
                        <a:rPr sz="1100" b="0" i="0">
                          <a:solidFill>
                            <a:srgbClr val="39424F"/>
                          </a:solidFill>
                          <a:latin typeface="Segoe UI"/>
                        </a:rPr>
                        <a:t>k bước + lịch sync target + biên Q</a:t>
                      </a:r>
                    </a:p>
                  </a:txBody>
                  <a:tcPr marL="64008" marR="64008" marT="27432" marB="27432" anchor="ctr">
                    <a:solidFill>
                      <a:srgbClr val="DCEAE8"/>
                    </a:solidFill>
                  </a:tcPr>
                </a:tc>
              </a:tr>
              <a:tr h="292608">
                <a:tc>
                  <a:txBody>
                    <a:bodyPr/>
                    <a:lstStyle/>
                    <a:p>
                      <a:r>
                        <a:rPr sz="1100" b="1" i="0">
                          <a:solidFill>
                            <a:srgbClr val="141821"/>
                          </a:solidFill>
                          <a:latin typeface="Segoe UI"/>
                        </a:rPr>
                        <a:t>training_aggregation</a:t>
                      </a:r>
                    </a:p>
                  </a:txBody>
                  <a:tcPr marL="64008" marR="64008" marT="27432" marB="27432" anchor="ctr">
                    <a:solidFill>
                      <a:srgbClr val="DCEAE8"/>
                    </a:solidFill>
                  </a:tcPr>
                </a:tc>
                <a:tc>
                  <a:txBody>
                    <a:bodyPr/>
                    <a:lstStyle/>
                    <a:p>
                      <a:r>
                        <a:rPr sz="1100" b="0" i="0">
                          <a:solidFill>
                            <a:srgbClr val="39424F"/>
                          </a:solidFill>
                          <a:latin typeface="Segoe UI"/>
                        </a:rPr>
                        <a:t>lớp 4</a:t>
                      </a:r>
                    </a:p>
                  </a:txBody>
                  <a:tcPr marL="64008" marR="64008" marT="27432" marB="27432" anchor="ctr">
                    <a:solidFill>
                      <a:srgbClr val="DCEAE8"/>
                    </a:solidFill>
                  </a:tcPr>
                </a:tc>
                <a:tc>
                  <a:txBody>
                    <a:bodyPr/>
                    <a:lstStyle/>
                    <a:p>
                      <a:r>
                        <a:rPr sz="1100" b="0" i="0">
                          <a:solidFill>
                            <a:srgbClr val="39424F"/>
                          </a:solidFill>
                          <a:latin typeface="Segoe UI"/>
                        </a:rPr>
                        <a:t>nhiều fragment → một lượt chạy</a:t>
                      </a:r>
                    </a:p>
                  </a:txBody>
                  <a:tcPr marL="64008" marR="64008" marT="27432" marB="27432" anchor="ctr">
                    <a:solidFill>
                      <a:srgbClr val="DCEAE8"/>
                    </a:solidFill>
                  </a:tcPr>
                </a:tc>
              </a:tr>
            </a:tbl>
          </a:graphicData>
        </a:graphic>
      </p:graphicFrame>
      <p:sp>
        <p:nvSpPr>
          <p:cNvPr id="13" name="TextBox 12"/>
          <p:cNvSpPr txBox="1"/>
          <p:nvPr/>
        </p:nvSpPr>
        <p:spPr>
          <a:xfrm>
            <a:off x="5029200" y="4892040"/>
            <a:ext cx="6492240" cy="822960"/>
          </a:xfrm>
          <a:prstGeom prst="rect">
            <a:avLst/>
          </a:prstGeom>
          <a:noFill/>
        </p:spPr>
        <p:txBody>
          <a:bodyPr wrap="square" lIns="0" rIns="0" tIns="0" bIns="0">
            <a:spAutoFit/>
          </a:bodyPr>
          <a:lstStyle/>
          <a:p>
            <a:pPr>
              <a:lnSpc>
                <a:spcPct val="120000"/>
              </a:lnSpc>
            </a:pPr>
            <a:r>
              <a:rPr sz="1200" b="0" i="0">
                <a:solidFill>
                  <a:srgbClr val="39424F"/>
                </a:solidFill>
                <a:latin typeface="Segoe UI"/>
              </a:rPr>
              <a:t>merkle_membership là quan hệ </a:t>
            </a:r>
            <a:r>
              <a:rPr sz="1200" b="1" i="0">
                <a:solidFill>
                  <a:srgbClr val="141821"/>
                </a:solidFill>
                <a:latin typeface="Segoe UI"/>
              </a:rPr>
              <a:t>duy nhất nối phép tính với dữ liệu</a:t>
            </a:r>
            <a:r>
              <a:rPr sz="1200" b="0" i="0">
                <a:solidFill>
                  <a:srgbClr val="39424F"/>
                </a:solidFill>
                <a:latin typeface="Segoe UI"/>
              </a:rPr>
              <a:t>. Không có nó, mọi thứ phía sau chỉ chứng minh “tôi đã tính đúng trên một bộ số nào đó”, chứ không phải “trên dữ liệu đã đăng ký”.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 name="Rectangle 15"/>
          <p:cNvSpPr/>
          <p:nvPr/>
        </p:nvSpPr>
        <p:spPr>
          <a:xfrm>
            <a:off x="4663440" y="5257800"/>
            <a:ext cx="6858000" cy="842644"/>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63440" y="5257800"/>
            <a:ext cx="38100" cy="842644"/>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2 · QUAN HỆ</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2 — Một quan hệ xử lý kiểu gì: training_fragment</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Quan hệ nhận một dict, kiểm từng ràng buộc, trả một dict. Không đọc file, không CLI.</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10</a:t>
            </a:r>
          </a:p>
        </p:txBody>
      </p:sp>
      <p:sp>
        <p:nvSpPr>
          <p:cNvPr id="7" name="TextBox 6"/>
          <p:cNvSpPr txBox="1"/>
          <p:nvPr/>
        </p:nvSpPr>
        <p:spPr>
          <a:xfrm>
            <a:off x="658368" y="1965960"/>
            <a:ext cx="3566160" cy="274320"/>
          </a:xfrm>
          <a:prstGeom prst="rect">
            <a:avLst/>
          </a:prstGeom>
          <a:noFill/>
        </p:spPr>
        <p:txBody>
          <a:bodyPr wrap="square" lIns="0" rIns="0" tIns="0" bIns="0">
            <a:spAutoFit/>
          </a:bodyPr>
          <a:lstStyle/>
          <a:p>
            <a:r>
              <a:rPr sz="1100" b="1" i="0">
                <a:solidFill>
                  <a:srgbClr val="6B7581"/>
                </a:solidFill>
                <a:latin typeface="Segoe UI"/>
              </a:rPr>
              <a:t>ĐẦU VÀO — case JSON</a:t>
            </a:r>
          </a:p>
        </p:txBody>
      </p:sp>
      <p:sp>
        <p:nvSpPr>
          <p:cNvPr id="8" name="Rectangle 7"/>
          <p:cNvSpPr/>
          <p:nvPr/>
        </p:nvSpPr>
        <p:spPr>
          <a:xfrm>
            <a:off x="658368" y="2240280"/>
            <a:ext cx="3566160" cy="1996821"/>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350008"/>
            <a:ext cx="3273552" cy="1777365"/>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a:t>
            </a:r>
          </a:p>
          <a:p>
            <a:pPr>
              <a:lnSpc>
                <a:spcPct val="134000"/>
              </a:lnSpc>
              <a:spcAft>
                <a:spcPts val="0"/>
              </a:spcAft>
            </a:pPr>
            <a:r>
              <a:rPr sz="1050" b="0" i="0">
                <a:solidFill>
                  <a:srgbClr val="39424F"/>
                </a:solidFill>
                <a:latin typeface="Consolas"/>
              </a:rPr>
              <a:t>  schema_version:</a:t>
            </a:r>
          </a:p>
          <a:p>
            <a:pPr>
              <a:lnSpc>
                <a:spcPct val="134000"/>
              </a:lnSpc>
              <a:spcAft>
                <a:spcPts val="0"/>
              </a:spcAft>
            </a:pPr>
            <a:r>
              <a:rPr sz="1050" b="0" i="0">
                <a:solidFill>
                  <a:srgbClr val="39424F"/>
                </a:solidFill>
                <a:latin typeface="Consolas"/>
              </a:rPr>
              <a:t>    sp1_training_fragment_case_v2</a:t>
            </a:r>
          </a:p>
          <a:p>
            <a:pPr>
              <a:lnSpc>
                <a:spcPct val="134000"/>
              </a:lnSpc>
              <a:spcAft>
                <a:spcPts val="0"/>
              </a:spcAft>
            </a:pPr>
            <a:r>
              <a:rPr sz="1050" b="0" i="0">
                <a:solidFill>
                  <a:srgbClr val="39424F"/>
                </a:solidFill>
                <a:latin typeface="Consolas"/>
              </a:rPr>
              <a:t>  public_inputs:  { … 30 trường }</a:t>
            </a:r>
          </a:p>
          <a:p>
            <a:pPr>
              <a:lnSpc>
                <a:spcPct val="134000"/>
              </a:lnSpc>
              <a:spcAft>
                <a:spcPts val="0"/>
              </a:spcAft>
            </a:pPr>
            <a:r>
              <a:rPr sz="1050" b="0" i="0">
                <a:solidFill>
                  <a:srgbClr val="39424F"/>
                </a:solidFill>
                <a:latin typeface="Consolas"/>
              </a:rPr>
              <a:t>  private_witness: {</a:t>
            </a:r>
          </a:p>
          <a:p>
            <a:pPr>
              <a:lnSpc>
                <a:spcPct val="134000"/>
              </a:lnSpc>
              <a:spcAft>
                <a:spcPts val="0"/>
              </a:spcAft>
            </a:pPr>
            <a:r>
              <a:rPr sz="1050" b="0" i="0">
                <a:solidFill>
                  <a:srgbClr val="39424F"/>
                </a:solidFill>
                <a:latin typeface="Consolas"/>
              </a:rPr>
              <a:t>    provenance: { … },</a:t>
            </a:r>
          </a:p>
          <a:p>
            <a:pPr>
              <a:lnSpc>
                <a:spcPct val="134000"/>
              </a:lnSpc>
              <a:spcAft>
                <a:spcPts val="0"/>
              </a:spcAft>
            </a:pPr>
            <a:r>
              <a:rPr sz="1050" b="0" i="0">
                <a:solidFill>
                  <a:srgbClr val="39424F"/>
                </a:solidFill>
                <a:latin typeface="Consolas"/>
              </a:rPr>
              <a:t>    steps: [ { … } × k ]</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a:t>
            </a:r>
          </a:p>
        </p:txBody>
      </p:sp>
      <p:sp>
        <p:nvSpPr>
          <p:cNvPr id="10" name="TextBox 9"/>
          <p:cNvSpPr txBox="1"/>
          <p:nvPr/>
        </p:nvSpPr>
        <p:spPr>
          <a:xfrm>
            <a:off x="658368" y="4343400"/>
            <a:ext cx="3566160" cy="274320"/>
          </a:xfrm>
          <a:prstGeom prst="rect">
            <a:avLst/>
          </a:prstGeom>
          <a:noFill/>
        </p:spPr>
        <p:txBody>
          <a:bodyPr wrap="square" lIns="0" rIns="0" tIns="0" bIns="0">
            <a:spAutoFit/>
          </a:bodyPr>
          <a:lstStyle/>
          <a:p>
            <a:r>
              <a:rPr sz="1100" b="1" i="0">
                <a:solidFill>
                  <a:srgbClr val="17605B"/>
                </a:solidFill>
                <a:latin typeface="Segoe UI"/>
              </a:rPr>
              <a:t>ĐẦU RA</a:t>
            </a:r>
          </a:p>
        </p:txBody>
      </p:sp>
      <p:sp>
        <p:nvSpPr>
          <p:cNvPr id="11" name="Rectangle 10"/>
          <p:cNvSpPr/>
          <p:nvPr/>
        </p:nvSpPr>
        <p:spPr>
          <a:xfrm>
            <a:off x="658368" y="4617720"/>
            <a:ext cx="3566160" cy="1428750"/>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727448"/>
            <a:ext cx="3273552" cy="1209294"/>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accepted        : true | false</a:t>
            </a:r>
          </a:p>
          <a:p>
            <a:pPr>
              <a:lnSpc>
                <a:spcPct val="134000"/>
              </a:lnSpc>
              <a:spcAft>
                <a:spcPts val="0"/>
              </a:spcAft>
            </a:pPr>
            <a:r>
              <a:rPr sz="1050" b="0" i="0">
                <a:solidFill>
                  <a:srgbClr val="39424F"/>
                </a:solidFill>
                <a:latin typeface="Consolas"/>
              </a:rPr>
              <a:t>reason          : chuỗi nếu từ chối</a:t>
            </a:r>
          </a:p>
          <a:p>
            <a:pPr>
              <a:lnSpc>
                <a:spcPct val="134000"/>
              </a:lnSpc>
              <a:spcAft>
                <a:spcPts val="0"/>
              </a:spcAft>
            </a:pPr>
            <a:r>
              <a:rPr sz="1050" b="0" i="0">
                <a:solidFill>
                  <a:srgbClr val="39424F"/>
                </a:solidFill>
                <a:latin typeface="Consolas"/>
              </a:rPr>
              <a:t>final_checkpoint_hash</a:t>
            </a:r>
          </a:p>
          <a:p>
            <a:pPr>
              <a:lnSpc>
                <a:spcPct val="134000"/>
              </a:lnSpc>
              <a:spcAft>
                <a:spcPts val="0"/>
              </a:spcAft>
            </a:pPr>
            <a:r>
              <a:rPr sz="1050" b="0" i="0">
                <a:solidFill>
                  <a:srgbClr val="39424F"/>
                </a:solidFill>
                <a:latin typeface="Consolas"/>
              </a:rPr>
              <a:t>final_target_checkpoint_hash</a:t>
            </a:r>
          </a:p>
          <a:p>
            <a:pPr>
              <a:lnSpc>
                <a:spcPct val="134000"/>
              </a:lnSpc>
              <a:spcAft>
                <a:spcPts val="0"/>
              </a:spcAft>
            </a:pPr>
            <a:r>
              <a:rPr sz="1050" b="0" i="0">
                <a:solidFill>
                  <a:srgbClr val="39424F"/>
                </a:solidFill>
                <a:latin typeface="Consolas"/>
              </a:rPr>
              <a:t>trace_hash, loss_trace_hash,</a:t>
            </a:r>
          </a:p>
          <a:p>
            <a:pPr>
              <a:lnSpc>
                <a:spcPct val="134000"/>
              </a:lnSpc>
              <a:spcAft>
                <a:spcPts val="0"/>
              </a:spcAft>
            </a:pPr>
            <a:r>
              <a:rPr sz="1050" b="0" i="0">
                <a:solidFill>
                  <a:srgbClr val="39424F"/>
                </a:solidFill>
                <a:latin typeface="Consolas"/>
              </a:rPr>
              <a:t>gradient_trace_hash, …</a:t>
            </a:r>
          </a:p>
        </p:txBody>
      </p:sp>
      <p:sp>
        <p:nvSpPr>
          <p:cNvPr id="13" name="TextBox 12"/>
          <p:cNvSpPr txBox="1"/>
          <p:nvPr/>
        </p:nvSpPr>
        <p:spPr>
          <a:xfrm>
            <a:off x="4663440" y="1965960"/>
            <a:ext cx="6858000" cy="274320"/>
          </a:xfrm>
          <a:prstGeom prst="rect">
            <a:avLst/>
          </a:prstGeom>
          <a:noFill/>
        </p:spPr>
        <p:txBody>
          <a:bodyPr wrap="square" lIns="0" rIns="0" tIns="0" bIns="0">
            <a:spAutoFit/>
          </a:bodyPr>
          <a:lstStyle/>
          <a:p>
            <a:r>
              <a:rPr sz="1100" b="1" i="0">
                <a:solidFill>
                  <a:srgbClr val="6B7581"/>
                </a:solidFill>
                <a:latin typeface="Segoe UI"/>
              </a:rPr>
              <a:t>XỬ LÝ — với mỗi bước trong k bước, kiểm theo thứ tự</a:t>
            </a:r>
          </a:p>
        </p:txBody>
      </p:sp>
      <p:sp>
        <p:nvSpPr>
          <p:cNvPr id="14" name="TextBox 13"/>
          <p:cNvSpPr txBox="1"/>
          <p:nvPr/>
        </p:nvSpPr>
        <p:spPr>
          <a:xfrm>
            <a:off x="4663440" y="2286000"/>
            <a:ext cx="6858000" cy="365760"/>
          </a:xfrm>
          <a:prstGeom prst="rect">
            <a:avLst/>
          </a:prstGeom>
          <a:noFill/>
        </p:spPr>
        <p:txBody>
          <a:bodyPr wrap="square" lIns="0" rIns="0" tIns="0" bIns="0">
            <a:spAutoFit/>
          </a:bodyPr>
          <a:lstStyle/>
          <a:p>
            <a:pPr>
              <a:lnSpc>
                <a:spcPct val="122000"/>
              </a:lnSpc>
              <a:spcAft>
                <a:spcPts val="400"/>
              </a:spcAft>
            </a:pPr>
            <a:r>
              <a:rPr sz="1150" b="1" i="0">
                <a:solidFill>
                  <a:srgbClr val="17605B"/>
                </a:solidFill>
                <a:latin typeface="Segoe UI"/>
              </a:rPr>
              <a:t>—  </a:t>
            </a:r>
            <a:r>
              <a:rPr sz="1150" b="1" i="0">
                <a:solidFill>
                  <a:srgbClr val="141821"/>
                </a:solidFill>
                <a:latin typeface="Segoe UI"/>
              </a:rPr>
              <a:t>Dẫn xuất</a:t>
            </a:r>
            <a:r>
              <a:rPr sz="1150" b="0" i="0">
                <a:solidFill>
                  <a:srgbClr val="39424F"/>
                </a:solidFill>
                <a:latin typeface="Segoe UI"/>
              </a:rPr>
              <a:t> chỉ số mẫu — không đọc từ statement:</a:t>
            </a:r>
          </a:p>
          <a:p>
            <a:pPr>
              <a:lnSpc>
                <a:spcPct val="122000"/>
              </a:lnSpc>
              <a:spcAft>
                <a:spcPts val="400"/>
              </a:spcAft>
            </a:pPr>
            <a:r>
              <a:rPr sz="1150" b="1" i="0">
                <a:solidFill>
                  <a:srgbClr val="17605B"/>
                </a:solidFill>
                <a:latin typeface="Segoe UI"/>
              </a:rPr>
              <a:t>—  </a:t>
            </a:r>
            <a:r>
              <a:rPr sz="1150" b="0" i="0">
                <a:solidFill>
                  <a:srgbClr val="39424F"/>
                </a:solidFill>
                <a:latin typeface="Segoe UI"/>
              </a:rPr>
              <a:t>&gt; σ = SHA256("…sampler_seed_v1", dataset_root, global_step_start) mod 2³²</a:t>
            </a:r>
          </a:p>
          <a:p>
            <a:pPr>
              <a:lnSpc>
                <a:spcPct val="122000"/>
              </a:lnSpc>
              <a:spcAft>
                <a:spcPts val="400"/>
              </a:spcAft>
            </a:pPr>
            <a:r>
              <a:rPr sz="1150" b="1" i="0">
                <a:solidFill>
                  <a:srgbClr val="17605B"/>
                </a:solidFill>
                <a:latin typeface="Segoe UI"/>
              </a:rPr>
              <a:t>—  </a:t>
            </a:r>
            <a:r>
              <a:rPr sz="1150" b="0" i="0">
                <a:solidFill>
                  <a:srgbClr val="39424F"/>
                </a:solidFill>
                <a:latin typeface="Segoe UI"/>
              </a:rPr>
              <a:t>&gt; state ← (1.664.525·state + 1.013.904.223) mod 2³²,  lặp step_id+1 lần</a:t>
            </a:r>
          </a:p>
          <a:p>
            <a:pPr>
              <a:lnSpc>
                <a:spcPct val="122000"/>
              </a:lnSpc>
              <a:spcAft>
                <a:spcPts val="400"/>
              </a:spcAft>
            </a:pPr>
            <a:r>
              <a:rPr sz="1150" b="1" i="0">
                <a:solidFill>
                  <a:srgbClr val="17605B"/>
                </a:solidFill>
                <a:latin typeface="Segoe UI"/>
              </a:rPr>
              <a:t>—  </a:t>
            </a:r>
            <a:r>
              <a:rPr sz="1150" b="0" i="0">
                <a:solidFill>
                  <a:srgbClr val="39424F"/>
                </a:solidFill>
                <a:latin typeface="Segoe UI"/>
              </a:rPr>
              <a:t>&gt; sample_index = state mod dataset_size</a:t>
            </a:r>
          </a:p>
          <a:p>
            <a:pPr>
              <a:lnSpc>
                <a:spcPct val="122000"/>
              </a:lnSpc>
              <a:spcAft>
                <a:spcPts val="400"/>
              </a:spcAft>
            </a:pPr>
            <a:r>
              <a:rPr sz="1150" b="1" i="0">
                <a:solidFill>
                  <a:srgbClr val="17605B"/>
                </a:solidFill>
                <a:latin typeface="Segoe UI"/>
              </a:rPr>
              <a:t>—  </a:t>
            </a:r>
            <a:r>
              <a:rPr sz="1150" b="1" i="0">
                <a:solidFill>
                  <a:srgbClr val="141821"/>
                </a:solidFill>
                <a:latin typeface="Segoe UI"/>
              </a:rPr>
              <a:t>Kiểm thành viên</a:t>
            </a:r>
            <a:r>
              <a:rPr sz="1150" b="0" i="0">
                <a:solidFill>
                  <a:srgbClr val="39424F"/>
                </a:solidFill>
                <a:latin typeface="Segoe UI"/>
              </a:rPr>
              <a:t> — SHA256(lá) rồi đi Merkle path lên tới dataset_root</a:t>
            </a:r>
          </a:p>
          <a:p>
            <a:pPr>
              <a:lnSpc>
                <a:spcPct val="122000"/>
              </a:lnSpc>
              <a:spcAft>
                <a:spcPts val="400"/>
              </a:spcAft>
            </a:pPr>
            <a:r>
              <a:rPr sz="1150" b="1" i="0">
                <a:solidFill>
                  <a:srgbClr val="17605B"/>
                </a:solidFill>
                <a:latin typeface="Segoe UI"/>
              </a:rPr>
              <a:t>—  </a:t>
            </a:r>
            <a:r>
              <a:rPr sz="1150" b="1" i="0">
                <a:solidFill>
                  <a:srgbClr val="141821"/>
                </a:solidFill>
                <a:latin typeface="Segoe UI"/>
              </a:rPr>
              <a:t>Kiểm biên Q</a:t>
            </a:r>
            <a:r>
              <a:rPr sz="1150" b="0" i="0">
                <a:solidFill>
                  <a:srgbClr val="39424F"/>
                </a:solidFill>
                <a:latin typeface="Segoe UI"/>
              </a:rPr>
              <a:t> — |q_online|, |q_target| ≤ q_abs_max_fp = 2⁵², </a:t>
            </a:r>
            <a:r>
              <a:rPr sz="1150" b="1" i="0">
                <a:solidFill>
                  <a:srgbClr val="141821"/>
                </a:solidFill>
                <a:latin typeface="Segoe UI"/>
              </a:rPr>
              <a:t>trước</a:t>
            </a:r>
            <a:r>
              <a:rPr sz="1150" b="0" i="0">
                <a:solidFill>
                  <a:srgbClr val="39424F"/>
                </a:solidFill>
                <a:latin typeface="Segoe UI"/>
              </a:rPr>
              <a:t> phép nhân γ·q</a:t>
            </a:r>
          </a:p>
          <a:p>
            <a:pPr>
              <a:lnSpc>
                <a:spcPct val="122000"/>
              </a:lnSpc>
              <a:spcAft>
                <a:spcPts val="400"/>
              </a:spcAft>
            </a:pPr>
            <a:r>
              <a:rPr sz="1150" b="1" i="0">
                <a:solidFill>
                  <a:srgbClr val="17605B"/>
                </a:solidFill>
                <a:latin typeface="Segoe UI"/>
              </a:rPr>
              <a:t>—  </a:t>
            </a:r>
            <a:r>
              <a:rPr sz="1150" b="1" i="0">
                <a:solidFill>
                  <a:srgbClr val="141821"/>
                </a:solidFill>
                <a:latin typeface="Segoe UI"/>
              </a:rPr>
              <a:t>Tính TD target</a:t>
            </a:r>
            <a:r>
              <a:rPr sz="1150" b="0" i="0">
                <a:solidFill>
                  <a:srgbClr val="39424F"/>
                </a:solidFill>
                <a:latin typeface="Segoe UI"/>
              </a:rPr>
              <a:t> — r + (γ·q)//1000, hoặc = r nếu done; Double DQN: online chọn, target chấm</a:t>
            </a:r>
          </a:p>
          <a:p>
            <a:pPr>
              <a:lnSpc>
                <a:spcPct val="122000"/>
              </a:lnSpc>
              <a:spcAft>
                <a:spcPts val="400"/>
              </a:spcAft>
            </a:pPr>
            <a:r>
              <a:rPr sz="1150" b="1" i="0">
                <a:solidFill>
                  <a:srgbClr val="17605B"/>
                </a:solidFill>
                <a:latin typeface="Segoe UI"/>
              </a:rPr>
              <a:t>—  </a:t>
            </a:r>
            <a:r>
              <a:rPr sz="1150" b="1" i="0">
                <a:solidFill>
                  <a:srgbClr val="141821"/>
                </a:solidFill>
                <a:latin typeface="Segoe UI"/>
              </a:rPr>
              <a:t>Tính loss, gradient, cập nhật</a:t>
            </a:r>
            <a:r>
              <a:rPr sz="1150" b="0" i="0">
                <a:solidFill>
                  <a:srgbClr val="39424F"/>
                </a:solidFill>
                <a:latin typeface="Segoe UI"/>
              </a:rPr>
              <a:t> — kẹp từng thành phần vào ±gradient_clip_fp rồi w ← w − (η·g)//1000</a:t>
            </a:r>
          </a:p>
          <a:p>
            <a:pPr>
              <a:lnSpc>
                <a:spcPct val="122000"/>
              </a:lnSpc>
              <a:spcAft>
                <a:spcPts val="400"/>
              </a:spcAft>
            </a:pPr>
            <a:r>
              <a:rPr sz="1150" b="1" i="0">
                <a:solidFill>
                  <a:srgbClr val="17605B"/>
                </a:solidFill>
                <a:latin typeface="Segoe UI"/>
              </a:rPr>
              <a:t>—  </a:t>
            </a:r>
            <a:r>
              <a:rPr sz="1150" b="1" i="0">
                <a:solidFill>
                  <a:srgbClr val="141821"/>
                </a:solidFill>
                <a:latin typeface="Segoe UI"/>
              </a:rPr>
              <a:t>Kiểm chuỗi checkpoint</a:t>
            </a:r>
            <a:r>
              <a:rPr sz="1150" b="0" i="0">
                <a:solidFill>
                  <a:srgbClr val="39424F"/>
                </a:solidFill>
                <a:latin typeface="Segoe UI"/>
              </a:rPr>
              <a:t> — hash sau bước t phải bằng hash trước bước t+1</a:t>
            </a:r>
          </a:p>
          <a:p>
            <a:pPr>
              <a:lnSpc>
                <a:spcPct val="122000"/>
              </a:lnSpc>
              <a:spcAft>
                <a:spcPts val="400"/>
              </a:spcAft>
            </a:pPr>
            <a:r>
              <a:rPr sz="1150" b="1" i="0">
                <a:solidFill>
                  <a:srgbClr val="17605B"/>
                </a:solidFill>
                <a:latin typeface="Segoe UI"/>
              </a:rPr>
              <a:t>—  </a:t>
            </a:r>
            <a:r>
              <a:rPr sz="1150" b="1" i="0">
                <a:solidFill>
                  <a:srgbClr val="141821"/>
                </a:solidFill>
                <a:latin typeface="Segoe UI"/>
              </a:rPr>
              <a:t>Kiểm lịch sync</a:t>
            </a:r>
            <a:r>
              <a:rPr sz="1150" b="0" i="0">
                <a:solidFill>
                  <a:srgbClr val="39424F"/>
                </a:solidFill>
                <a:latin typeface="Segoe UI"/>
              </a:rPr>
              <a:t> — target đứng yên giữa hai mốc, và bằng online đúng tại mốc</a:t>
            </a:r>
          </a:p>
        </p:txBody>
      </p:sp>
      <p:sp>
        <p:nvSpPr>
          <p:cNvPr id="15" name="TextBox 14"/>
          <p:cNvSpPr txBox="1"/>
          <p:nvPr/>
        </p:nvSpPr>
        <p:spPr>
          <a:xfrm>
            <a:off x="4882896" y="5385816"/>
            <a:ext cx="645566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BẢN RUST TRONG GUEST CÓ 106 ASSERT</a:t>
            </a:r>
          </a:p>
          <a:p>
            <a:pPr>
              <a:lnSpc>
                <a:spcPct val="122000"/>
              </a:lnSpc>
            </a:pPr>
            <a:r>
              <a:rPr sz="1250" b="0" i="0">
                <a:solidFill>
                  <a:srgbClr val="39424F"/>
                </a:solidFill>
                <a:latin typeface="Segoe UI"/>
              </a:rPr>
              <a:t>74 assert_eq! và 16 assert!. Mỗi ràng buộc ở trên là một assert trong guest — sai một cái là guest </a:t>
            </a:r>
            <a:r>
              <a:rPr sz="1250" b="1" i="0">
                <a:solidFill>
                  <a:srgbClr val="141821"/>
                </a:solidFill>
                <a:latin typeface="Segoe UI"/>
              </a:rPr>
              <a:t>panic</a:t>
            </a:r>
            <a:r>
              <a:rPr sz="1250" b="0" i="0">
                <a:solidFill>
                  <a:srgbClr val="39424F"/>
                </a:solidFill>
                <a:latin typeface="Segoe UI"/>
              </a:rPr>
              <a:t>, và proof không sinh được.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Rectangle 8"/>
          <p:cNvSpPr/>
          <p:nvPr/>
        </p:nvSpPr>
        <p:spPr>
          <a:xfrm>
            <a:off x="658368" y="4709160"/>
            <a:ext cx="548640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70916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3 · BACKEND</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3 — Công nghệ: vì sao zkVM, vì sao SP1</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11</a:t>
            </a:r>
          </a:p>
        </p:txBody>
      </p:sp>
      <p:sp>
        <p:nvSpPr>
          <p:cNvPr id="6" name="TextBox 5"/>
          <p:cNvSpPr txBox="1"/>
          <p:nvPr/>
        </p:nvSpPr>
        <p:spPr>
          <a:xfrm>
            <a:off x="658368" y="1965960"/>
            <a:ext cx="5486400" cy="365760"/>
          </a:xfrm>
          <a:prstGeom prst="rect">
            <a:avLst/>
          </a:prstGeom>
          <a:noFill/>
        </p:spPr>
        <p:txBody>
          <a:bodyPr wrap="square" lIns="0" rIns="0" tIns="0" bIns="0">
            <a:spAutoFit/>
          </a:bodyPr>
          <a:lstStyle/>
          <a:p>
            <a:pPr>
              <a:lnSpc>
                <a:spcPct val="124000"/>
              </a:lnSpc>
              <a:spcAft>
                <a:spcPts val="600"/>
              </a:spcAft>
            </a:pPr>
            <a:r>
              <a:rPr sz="1250" b="0" i="0">
                <a:solidFill>
                  <a:srgbClr val="39424F"/>
                </a:solidFill>
                <a:latin typeface="Segoe UI"/>
              </a:rPr>
              <a:t>Hệ chứng minh không biết “chương trình” là gì. Nó chỉ biết </a:t>
            </a:r>
            <a:r>
              <a:rPr sz="1250" b="1" i="0">
                <a:solidFill>
                  <a:srgbClr val="141821"/>
                </a:solidFill>
                <a:latin typeface="Segoe UI"/>
              </a:rPr>
              <a:t>hệ phương trình đa thức trên một trường hữu hạn</a:t>
            </a:r>
            <a:r>
              <a:rPr sz="1250" b="0" i="0">
                <a:solidFill>
                  <a:srgbClr val="39424F"/>
                </a:solidFill>
                <a:latin typeface="Segoe UI"/>
              </a:rPr>
              <a:t> — thứ ta gọi là *mạch*. Muốn chứng minh gì thì phải dịch phép tính thành mạch.</a:t>
            </a:r>
          </a:p>
          <a:p>
            <a:pPr>
              <a:lnSpc>
                <a:spcPct val="124000"/>
              </a:lnSpc>
              <a:spcAft>
                <a:spcPts val="600"/>
              </a:spcAft>
            </a:pPr>
            <a:r>
              <a:rPr sz="1250" b="1" i="0">
                <a:solidFill>
                  <a:srgbClr val="141821"/>
                </a:solidFill>
                <a:latin typeface="Segoe UI"/>
              </a:rPr>
              <a:t>zkVM đảo ngược cách làm:</a:t>
            </a:r>
            <a:r>
              <a:rPr sz="1250" b="0" i="0">
                <a:solidFill>
                  <a:srgbClr val="39424F"/>
                </a:solidFill>
                <a:latin typeface="Segoe UI"/>
              </a:rPr>
              <a:t> viết mạch cho </a:t>
            </a:r>
            <a:r>
              <a:rPr sz="1250" b="1" i="0">
                <a:solidFill>
                  <a:srgbClr val="141821"/>
                </a:solidFill>
                <a:latin typeface="Segoe UI"/>
              </a:rPr>
              <a:t>chính CPU</a:t>
            </a:r>
            <a:r>
              <a:rPr sz="1250" b="0" i="0">
                <a:solidFill>
                  <a:srgbClr val="39424F"/>
                </a:solidFill>
                <a:latin typeface="Segoe UI"/>
              </a:rPr>
              <a:t>, rồi chương trình viết bằng Rust bình thường, biên dịch sang RISC-V.</a:t>
            </a:r>
          </a:p>
        </p:txBody>
      </p:sp>
      <p:graphicFrame>
        <p:nvGraphicFramePr>
          <p:cNvPr id="7" name="Table 6"/>
          <p:cNvGraphicFramePr>
            <a:graphicFrameLocks noGrp="1"/>
          </p:cNvGraphicFramePr>
          <p:nvPr/>
        </p:nvGraphicFramePr>
        <p:xfrm>
          <a:off x="658368" y="3291840"/>
          <a:ext cx="5486398" cy="1463040"/>
        </p:xfrm>
        <a:graphic>
          <a:graphicData uri="http://schemas.openxmlformats.org/drawingml/2006/table">
            <a:tbl>
              <a:tblPr bandRow="1">
                <a:tableStyleId>{5C22544A-7EE6-4342-B048-85BDC9FD1C3A}</a:tableStyleId>
              </a:tblPr>
              <a:tblGrid>
                <a:gridCol w="1567542"/>
                <a:gridCol w="2351314"/>
                <a:gridCol w="1567542"/>
              </a:tblGrid>
              <a:tr h="292608">
                <a:tc>
                  <a:txBody>
                    <a:bodyPr/>
                    <a:lstStyle/>
                    <a:p>
                      <a:r>
                        <a:rPr sz="950" b="1" i="0">
                          <a:solidFill>
                            <a:srgbClr val="6B7581"/>
                          </a:solidFill>
                          <a:latin typeface="Segoe UI"/>
                        </a:rPr>
                        <a:t/>
                      </a:r>
                    </a:p>
                  </a:txBody>
                  <a:tcPr marL="64008" marR="64008" marT="27432" marB="27432" anchor="ctr">
                    <a:solidFill>
                      <a:srgbClr val="FFFFFF"/>
                    </a:solidFill>
                  </a:tcPr>
                </a:tc>
                <a:tc>
                  <a:txBody>
                    <a:bodyPr/>
                    <a:lstStyle/>
                    <a:p>
                      <a:r>
                        <a:rPr sz="950" b="1" i="0">
                          <a:solidFill>
                            <a:srgbClr val="6B7581"/>
                          </a:solidFill>
                          <a:latin typeface="Segoe UI"/>
                        </a:rPr>
                        <a:t>MẠCH THỦ CÔNG</a:t>
                      </a:r>
                    </a:p>
                  </a:txBody>
                  <a:tcPr marL="64008" marR="64008" marT="27432" marB="27432" anchor="ctr">
                    <a:solidFill>
                      <a:srgbClr val="FFFFFF"/>
                    </a:solidFill>
                  </a:tcPr>
                </a:tc>
                <a:tc>
                  <a:txBody>
                    <a:bodyPr/>
                    <a:lstStyle/>
                    <a:p>
                      <a:r>
                        <a:rPr sz="950" b="1" i="0">
                          <a:solidFill>
                            <a:srgbClr val="6B7581"/>
                          </a:solidFill>
                          <a:latin typeface="Segoe UI"/>
                        </a:rPr>
                        <a:t>ZKVM</a:t>
                      </a:r>
                    </a:p>
                  </a:txBody>
                  <a:tcPr marL="64008" marR="64008" marT="27432" marB="27432" anchor="ctr">
                    <a:solidFill>
                      <a:srgbClr val="FFFFFF"/>
                    </a:solidFill>
                  </a:tcPr>
                </a:tc>
              </a:tr>
              <a:tr h="292608">
                <a:tc>
                  <a:txBody>
                    <a:bodyPr/>
                    <a:lstStyle/>
                    <a:p>
                      <a:r>
                        <a:rPr sz="1100" b="0" i="0">
                          <a:solidFill>
                            <a:srgbClr val="39424F"/>
                          </a:solidFill>
                          <a:latin typeface="Segoe UI"/>
                        </a:rPr>
                        <a:t>Công sức</a:t>
                      </a:r>
                    </a:p>
                  </a:txBody>
                  <a:tcPr marL="64008" marR="64008" marT="27432" marB="27432" anchor="ctr">
                    <a:solidFill>
                      <a:srgbClr val="FFFFFF"/>
                    </a:solidFill>
                  </a:tcPr>
                </a:tc>
                <a:tc>
                  <a:txBody>
                    <a:bodyPr/>
                    <a:lstStyle/>
                    <a:p>
                      <a:r>
                        <a:rPr sz="1100" b="0" i="0">
                          <a:solidFill>
                            <a:srgbClr val="39424F"/>
                          </a:solidFill>
                          <a:latin typeface="Segoe UI"/>
                        </a:rPr>
                        <a:t>rất lớn</a:t>
                      </a:r>
                    </a:p>
                  </a:txBody>
                  <a:tcPr marL="64008" marR="64008" marT="27432" marB="27432" anchor="ctr">
                    <a:solidFill>
                      <a:srgbClr val="FFFFFF"/>
                    </a:solidFill>
                  </a:tcPr>
                </a:tc>
                <a:tc>
                  <a:txBody>
                    <a:bodyPr/>
                    <a:lstStyle/>
                    <a:p>
                      <a:r>
                        <a:rPr sz="1100" b="0" i="0">
                          <a:solidFill>
                            <a:srgbClr val="39424F"/>
                          </a:solidFill>
                          <a:latin typeface="Segoe UI"/>
                        </a:rPr>
                        <a:t>thấp</a:t>
                      </a:r>
                    </a:p>
                  </a:txBody>
                  <a:tcPr marL="64008" marR="64008" marT="27432" marB="27432" anchor="ctr">
                    <a:solidFill>
                      <a:srgbClr val="FFFFFF"/>
                    </a:solidFill>
                  </a:tcPr>
                </a:tc>
              </a:tr>
              <a:tr h="292608">
                <a:tc>
                  <a:txBody>
                    <a:bodyPr/>
                    <a:lstStyle/>
                    <a:p>
                      <a:r>
                        <a:rPr sz="1100" b="0" i="0">
                          <a:solidFill>
                            <a:srgbClr val="39424F"/>
                          </a:solidFill>
                          <a:latin typeface="Segoe UI"/>
                        </a:rPr>
                        <a:t>Nguy cơ sai lặng lẽ</a:t>
                      </a:r>
                    </a:p>
                  </a:txBody>
                  <a:tcPr marL="64008" marR="64008" marT="27432" marB="27432" anchor="ctr">
                    <a:solidFill>
                      <a:srgbClr val="FFFFFF"/>
                    </a:solidFill>
                  </a:tcPr>
                </a:tc>
                <a:tc>
                  <a:txBody>
                    <a:bodyPr/>
                    <a:lstStyle/>
                    <a:p>
                      <a:r>
                        <a:rPr sz="1100" b="0" i="0">
                          <a:solidFill>
                            <a:srgbClr val="39424F"/>
                          </a:solidFill>
                          <a:latin typeface="Segoe UI"/>
                        </a:rPr>
                        <a:t>cao — ràng buộc thiếu thì không ai báo</a:t>
                      </a:r>
                    </a:p>
                  </a:txBody>
                  <a:tcPr marL="64008" marR="64008" marT="27432" marB="27432" anchor="ctr">
                    <a:solidFill>
                      <a:srgbClr val="FFFFFF"/>
                    </a:solidFill>
                  </a:tcPr>
                </a:tc>
                <a:tc>
                  <a:txBody>
                    <a:bodyPr/>
                    <a:lstStyle/>
                    <a:p>
                      <a:r>
                        <a:rPr sz="1100" b="0" i="0">
                          <a:solidFill>
                            <a:srgbClr val="39424F"/>
                          </a:solidFill>
                          <a:latin typeface="Segoe UI"/>
                        </a:rPr>
                        <a:t>thấp</a:t>
                      </a:r>
                    </a:p>
                  </a:txBody>
                  <a:tcPr marL="64008" marR="64008" marT="27432" marB="27432" anchor="ctr">
                    <a:solidFill>
                      <a:srgbClr val="FFFFFF"/>
                    </a:solidFill>
                  </a:tcPr>
                </a:tc>
              </a:tr>
              <a:tr h="292608">
                <a:tc>
                  <a:txBody>
                    <a:bodyPr/>
                    <a:lstStyle/>
                    <a:p>
                      <a:r>
                        <a:rPr sz="1100" b="0" i="0">
                          <a:solidFill>
                            <a:srgbClr val="39424F"/>
                          </a:solidFill>
                          <a:latin typeface="Segoe UI"/>
                        </a:rPr>
                        <a:t>Tốc độ prove</a:t>
                      </a:r>
                    </a:p>
                  </a:txBody>
                  <a:tcPr marL="64008" marR="64008" marT="27432" marB="27432" anchor="ctr">
                    <a:solidFill>
                      <a:srgbClr val="FFFFFF"/>
                    </a:solidFill>
                  </a:tcPr>
                </a:tc>
                <a:tc>
                  <a:txBody>
                    <a:bodyPr/>
                    <a:lstStyle/>
                    <a:p>
                      <a:r>
                        <a:rPr sz="1100" b="0" i="0">
                          <a:solidFill>
                            <a:srgbClr val="39424F"/>
                          </a:solidFill>
                          <a:latin typeface="Segoe UI"/>
                        </a:rPr>
                        <a:t>nhanh hơn nhiều</a:t>
                      </a:r>
                    </a:p>
                  </a:txBody>
                  <a:tcPr marL="64008" marR="64008" marT="27432" marB="27432" anchor="ctr">
                    <a:solidFill>
                      <a:srgbClr val="FFFFFF"/>
                    </a:solidFill>
                  </a:tcPr>
                </a:tc>
                <a:tc>
                  <a:txBody>
                    <a:bodyPr/>
                    <a:lstStyle/>
                    <a:p>
                      <a:r>
                        <a:rPr sz="1100" b="0" i="0">
                          <a:solidFill>
                            <a:srgbClr val="39424F"/>
                          </a:solidFill>
                          <a:latin typeface="Segoe UI"/>
                        </a:rPr>
                        <a:t>chậm hơn</a:t>
                      </a:r>
                    </a:p>
                  </a:txBody>
                  <a:tcPr marL="64008" marR="64008" marT="27432" marB="27432" anchor="ctr">
                    <a:solidFill>
                      <a:srgbClr val="FFFFFF"/>
                    </a:solidFill>
                  </a:tcPr>
                </a:tc>
              </a:tr>
              <a:tr h="292608">
                <a:tc>
                  <a:txBody>
                    <a:bodyPr/>
                    <a:lstStyle/>
                    <a:p>
                      <a:r>
                        <a:rPr sz="1100" b="1" i="0">
                          <a:solidFill>
                            <a:srgbClr val="141821"/>
                          </a:solidFill>
                          <a:latin typeface="Segoe UI"/>
                        </a:rPr>
                        <a:t>Reviewer kiểm được</a:t>
                      </a:r>
                    </a:p>
                  </a:txBody>
                  <a:tcPr marL="64008" marR="64008" marT="27432" marB="27432" anchor="ctr">
                    <a:solidFill>
                      <a:srgbClr val="DCEAE8"/>
                    </a:solidFill>
                  </a:tcPr>
                </a:tc>
                <a:tc>
                  <a:txBody>
                    <a:bodyPr/>
                    <a:lstStyle/>
                    <a:p>
                      <a:r>
                        <a:rPr sz="1100" b="0" i="0">
                          <a:solidFill>
                            <a:srgbClr val="39424F"/>
                          </a:solidFill>
                          <a:latin typeface="Segoe UI"/>
                        </a:rPr>
                        <a:t>phải đọc ràng buộc số học</a:t>
                      </a:r>
                    </a:p>
                  </a:txBody>
                  <a:tcPr marL="64008" marR="64008" marT="27432" marB="27432" anchor="ctr">
                    <a:solidFill>
                      <a:srgbClr val="DCEAE8"/>
                    </a:solidFill>
                  </a:tcPr>
                </a:tc>
                <a:tc>
                  <a:txBody>
                    <a:bodyPr/>
                    <a:lstStyle/>
                    <a:p>
                      <a:r>
                        <a:rPr sz="1100" b="0" i="0">
                          <a:solidFill>
                            <a:srgbClr val="39424F"/>
                          </a:solidFill>
                          <a:latin typeface="Segoe UI"/>
                        </a:rPr>
                        <a:t>đọc thẳng mã Rust</a:t>
                      </a:r>
                    </a:p>
                  </a:txBody>
                  <a:tcPr marL="64008" marR="64008" marT="27432" marB="27432" anchor="ctr">
                    <a:solidFill>
                      <a:srgbClr val="DCEAE8"/>
                    </a:solidFill>
                  </a:tcPr>
                </a:tc>
              </a:tr>
            </a:tbl>
          </a:graphicData>
        </a:graphic>
      </p:graphicFrame>
      <p:sp>
        <p:nvSpPr>
          <p:cNvPr id="8" name="TextBox 7"/>
          <p:cNvSpPr txBox="1"/>
          <p:nvPr/>
        </p:nvSpPr>
        <p:spPr>
          <a:xfrm>
            <a:off x="877824" y="4837176"/>
            <a:ext cx="508406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ĐÁNH ĐỔI CÓ CHỦ Ý</a:t>
            </a:r>
          </a:p>
          <a:p>
            <a:pPr>
              <a:lnSpc>
                <a:spcPct val="122000"/>
              </a:lnSpc>
            </a:pPr>
            <a:r>
              <a:rPr sz="1250" b="0" i="0">
                <a:solidFill>
                  <a:srgbClr val="39424F"/>
                </a:solidFill>
                <a:latin typeface="Segoe UI"/>
              </a:rPr>
              <a:t>Đề tài chọn zkVM và </a:t>
            </a:r>
            <a:r>
              <a:rPr sz="1250" b="1" i="0">
                <a:solidFill>
                  <a:srgbClr val="141821"/>
                </a:solidFill>
                <a:latin typeface="Segoe UI"/>
              </a:rPr>
              <a:t>chấp nhận chậm hơn</a:t>
            </a:r>
            <a:r>
              <a:rPr sz="1250" b="0" i="0">
                <a:solidFill>
                  <a:srgbClr val="39424F"/>
                </a:solidFill>
                <a:latin typeface="Segoe UI"/>
              </a:rPr>
              <a:t>, vì mục tiêu là một artifact reviewer kiểm chứng được. Với một paper về tính kiểm chứng được, đánh đổi đó đúng chiều.</a:t>
            </a:r>
          </a:p>
        </p:txBody>
      </p:sp>
      <p:graphicFrame>
        <p:nvGraphicFramePr>
          <p:cNvPr id="11" name="Table 10"/>
          <p:cNvGraphicFramePr>
            <a:graphicFrameLocks noGrp="1"/>
          </p:cNvGraphicFramePr>
          <p:nvPr/>
        </p:nvGraphicFramePr>
        <p:xfrm>
          <a:off x="6492240" y="1965960"/>
          <a:ext cx="5029199" cy="1755648"/>
        </p:xfrm>
        <a:graphic>
          <a:graphicData uri="http://schemas.openxmlformats.org/drawingml/2006/table">
            <a:tbl>
              <a:tblPr bandRow="1">
                <a:tableStyleId>{5C22544A-7EE6-4342-B048-85BDC9FD1C3A}</a:tableStyleId>
              </a:tblPr>
              <a:tblGrid>
                <a:gridCol w="1547446"/>
                <a:gridCol w="3481753"/>
              </a:tblGrid>
              <a:tr h="292608">
                <a:tc>
                  <a:txBody>
                    <a:bodyPr/>
                    <a:lstStyle/>
                    <a:p>
                      <a:r>
                        <a:rPr sz="950" b="1" i="0">
                          <a:solidFill>
                            <a:srgbClr val="6B7581"/>
                          </a:solidFill>
                          <a:latin typeface="Segoe UI"/>
                        </a:rPr>
                        <a:t>LỰA CHỌN</a:t>
                      </a:r>
                    </a:p>
                  </a:txBody>
                  <a:tcPr marL="64008" marR="64008" marT="27432" marB="27432" anchor="ctr">
                    <a:solidFill>
                      <a:srgbClr val="FFFFFF"/>
                    </a:solidFill>
                  </a:tcPr>
                </a:tc>
                <a:tc>
                  <a:txBody>
                    <a:bodyPr/>
                    <a:lstStyle/>
                    <a:p>
                      <a:r>
                        <a:rPr sz="950" b="1" i="0">
                          <a:solidFill>
                            <a:srgbClr val="6B7581"/>
                          </a:solidFill>
                          <a:latin typeface="Segoe UI"/>
                        </a:rPr>
                        <a:t>VÌ SAO KHÔNG CHỌN CHO ĐỀ TÀI NÀY</a:t>
                      </a:r>
                    </a:p>
                  </a:txBody>
                  <a:tcPr marL="64008" marR="64008" marT="27432" marB="27432" anchor="ctr">
                    <a:solidFill>
                      <a:srgbClr val="FFFFFF"/>
                    </a:solidFill>
                  </a:tcPr>
                </a:tc>
              </a:tr>
              <a:tr h="292608">
                <a:tc>
                  <a:txBody>
                    <a:bodyPr/>
                    <a:lstStyle/>
                    <a:p>
                      <a:r>
                        <a:rPr sz="1100" b="0" i="0">
                          <a:solidFill>
                            <a:srgbClr val="39424F"/>
                          </a:solidFill>
                          <a:latin typeface="Segoe UI"/>
                        </a:rPr>
                        <a:t>Circom / Halo2</a:t>
                      </a:r>
                    </a:p>
                  </a:txBody>
                  <a:tcPr marL="64008" marR="64008" marT="27432" marB="27432" anchor="ctr">
                    <a:solidFill>
                      <a:srgbClr val="FFFFFF"/>
                    </a:solidFill>
                  </a:tcPr>
                </a:tc>
                <a:tc>
                  <a:txBody>
                    <a:bodyPr/>
                    <a:lstStyle/>
                    <a:p>
                      <a:r>
                        <a:rPr sz="1100" b="0" i="0">
                          <a:solidFill>
                            <a:srgbClr val="39424F"/>
                          </a:solidFill>
                          <a:latin typeface="Segoe UI"/>
                        </a:rPr>
                        <a:t>reviewer không đọc nổi quan hệ DQN dưới dạng ràng buộc</a:t>
                      </a:r>
                    </a:p>
                  </a:txBody>
                  <a:tcPr marL="64008" marR="64008" marT="27432" marB="27432" anchor="ctr">
                    <a:solidFill>
                      <a:srgbClr val="FFFFFF"/>
                    </a:solidFill>
                  </a:tcPr>
                </a:tc>
              </a:tr>
              <a:tr h="292608">
                <a:tc>
                  <a:txBody>
                    <a:bodyPr/>
                    <a:lstStyle/>
                    <a:p>
                      <a:r>
                        <a:rPr sz="1100" b="0" i="0">
                          <a:solidFill>
                            <a:srgbClr val="39424F"/>
                          </a:solidFill>
                          <a:latin typeface="Segoe UI"/>
                        </a:rPr>
                        <a:t>ezkl</a:t>
                      </a:r>
                    </a:p>
                  </a:txBody>
                  <a:tcPr marL="64008" marR="64008" marT="27432" marB="27432" anchor="ctr">
                    <a:solidFill>
                      <a:srgbClr val="FFFFFF"/>
                    </a:solidFill>
                  </a:tcPr>
                </a:tc>
                <a:tc>
                  <a:txBody>
                    <a:bodyPr/>
                    <a:lstStyle/>
                    <a:p>
                      <a:r>
                        <a:rPr sz="1100" b="0" i="0">
                          <a:solidFill>
                            <a:srgbClr val="39424F"/>
                          </a:solidFill>
                          <a:latin typeface="Segoe UI"/>
                        </a:rPr>
                        <a:t>chuyên cho suy luận, không diễn đạt được sync target hay lấy mẫu replay</a:t>
                      </a:r>
                    </a:p>
                  </a:txBody>
                  <a:tcPr marL="64008" marR="64008" marT="27432" marB="27432" anchor="ctr">
                    <a:solidFill>
                      <a:srgbClr val="FFFFFF"/>
                    </a:solidFill>
                  </a:tcPr>
                </a:tc>
              </a:tr>
              <a:tr h="292608">
                <a:tc>
                  <a:txBody>
                    <a:bodyPr/>
                    <a:lstStyle/>
                    <a:p>
                      <a:r>
                        <a:rPr sz="1100" b="0" i="0">
                          <a:solidFill>
                            <a:srgbClr val="39424F"/>
                          </a:solidFill>
                          <a:latin typeface="Segoe UI"/>
                        </a:rPr>
                        <a:t>RISC Zero</a:t>
                      </a:r>
                    </a:p>
                  </a:txBody>
                  <a:tcPr marL="64008" marR="64008" marT="27432" marB="27432" anchor="ctr">
                    <a:solidFill>
                      <a:srgbClr val="FFFFFF"/>
                    </a:solidFill>
                  </a:tcPr>
                </a:tc>
                <a:tc>
                  <a:txBody>
                    <a:bodyPr/>
                    <a:lstStyle/>
                    <a:p>
                      <a:r>
                        <a:rPr sz="1100" b="0" i="0">
                          <a:solidFill>
                            <a:srgbClr val="39424F"/>
                          </a:solidFill>
                          <a:latin typeface="Segoe UI"/>
                        </a:rPr>
                        <a:t>ứng viên hợp lý thật — không loại vì kém</a:t>
                      </a:r>
                    </a:p>
                  </a:txBody>
                  <a:tcPr marL="64008" marR="64008" marT="27432" marB="27432" anchor="ctr">
                    <a:solidFill>
                      <a:srgbClr val="FFFFFF"/>
                    </a:solidFill>
                  </a:tcPr>
                </a:tc>
              </a:tr>
              <a:tr h="292608">
                <a:tc>
                  <a:txBody>
                    <a:bodyPr/>
                    <a:lstStyle/>
                    <a:p>
                      <a:r>
                        <a:rPr sz="1100" b="0" i="0">
                          <a:solidFill>
                            <a:srgbClr val="39424F"/>
                          </a:solidFill>
                          <a:latin typeface="Segoe UI"/>
                        </a:rPr>
                        <a:t>Jolt</a:t>
                      </a:r>
                    </a:p>
                  </a:txBody>
                  <a:tcPr marL="64008" marR="64008" marT="27432" marB="27432" anchor="ctr">
                    <a:solidFill>
                      <a:srgbClr val="FFFFFF"/>
                    </a:solidFill>
                  </a:tcPr>
                </a:tc>
                <a:tc>
                  <a:txBody>
                    <a:bodyPr/>
                    <a:lstStyle/>
                    <a:p>
                      <a:r>
                        <a:rPr sz="1100" b="0" i="0">
                          <a:solidFill>
                            <a:srgbClr val="39424F"/>
                          </a:solidFill>
                          <a:latin typeface="Segoe UI"/>
                        </a:rPr>
                        <a:t>non hơn về recursion và lớp bọc Groth16 tại thời điểm chọn</a:t>
                      </a:r>
                    </a:p>
                  </a:txBody>
                  <a:tcPr marL="64008" marR="64008" marT="27432" marB="27432" anchor="ctr">
                    <a:solidFill>
                      <a:srgbClr val="FFFFFF"/>
                    </a:solidFill>
                  </a:tcPr>
                </a:tc>
              </a:tr>
              <a:tr h="292608">
                <a:tc>
                  <a:txBody>
                    <a:bodyPr/>
                    <a:lstStyle/>
                    <a:p>
                      <a:r>
                        <a:rPr sz="1100" b="0" i="0">
                          <a:solidFill>
                            <a:srgbClr val="39424F"/>
                          </a:solidFill>
                          <a:latin typeface="Segoe UI"/>
                        </a:rPr>
                        <a:t>Cairo</a:t>
                      </a:r>
                    </a:p>
                  </a:txBody>
                  <a:tcPr marL="64008" marR="64008" marT="27432" marB="27432" anchor="ctr">
                    <a:solidFill>
                      <a:srgbClr val="FFFFFF"/>
                    </a:solidFill>
                  </a:tcPr>
                </a:tc>
                <a:tc>
                  <a:txBody>
                    <a:bodyPr/>
                    <a:lstStyle/>
                    <a:p>
                      <a:r>
                        <a:rPr sz="1100" b="0" i="0">
                          <a:solidFill>
                            <a:srgbClr val="39424F"/>
                          </a:solidFill>
                          <a:latin typeface="Segoe UI"/>
                        </a:rPr>
                        <a:t>ISA riêng, không dùng lại được hệ sinh thái Rust/LLVM</a:t>
                      </a:r>
                    </a:p>
                  </a:txBody>
                  <a:tcPr marL="64008" marR="64008" marT="27432" marB="27432" anchor="ctr">
                    <a:solidFill>
                      <a:srgbClr val="FFFFFF"/>
                    </a:solidFill>
                  </a:tcPr>
                </a:tc>
              </a:tr>
            </a:tbl>
          </a:graphicData>
        </a:graphic>
      </p:graphicFrame>
      <p:sp>
        <p:nvSpPr>
          <p:cNvPr id="12" name="TextBox 11"/>
          <p:cNvSpPr txBox="1"/>
          <p:nvPr/>
        </p:nvSpPr>
        <p:spPr>
          <a:xfrm>
            <a:off x="6492240" y="4114800"/>
            <a:ext cx="5029200" cy="365760"/>
          </a:xfrm>
          <a:prstGeom prst="rect">
            <a:avLst/>
          </a:prstGeom>
          <a:noFill/>
        </p:spPr>
        <p:txBody>
          <a:bodyPr wrap="square" lIns="0" rIns="0" tIns="0" bIns="0">
            <a:spAutoFit/>
          </a:bodyPr>
          <a:lstStyle/>
          <a:p>
            <a:pPr>
              <a:lnSpc>
                <a:spcPct val="122000"/>
              </a:lnSpc>
              <a:spcAft>
                <a:spcPts val="500"/>
              </a:spcAft>
            </a:pPr>
            <a:r>
              <a:rPr sz="1150" b="1" i="0">
                <a:solidFill>
                  <a:srgbClr val="17605B"/>
                </a:solidFill>
                <a:latin typeface="Segoe UI"/>
              </a:rPr>
              <a:t>—  </a:t>
            </a:r>
            <a:r>
              <a:rPr sz="1150" b="1" i="0">
                <a:solidFill>
                  <a:srgbClr val="141821"/>
                </a:solidFill>
                <a:latin typeface="Segoe UI"/>
              </a:rPr>
              <a:t>Guest viết bằng Rust thường</a:t>
            </a:r>
            <a:r>
              <a:rPr sz="1150" b="0" i="0">
                <a:solidFill>
                  <a:srgbClr val="39424F"/>
                </a:solidFill>
                <a:latin typeface="Segoe UI"/>
              </a:rPr>
              <a:t>, logic nằm trong shared/, test được trên CPU</a:t>
            </a:r>
          </a:p>
          <a:p>
            <a:pPr>
              <a:lnSpc>
                <a:spcPct val="122000"/>
              </a:lnSpc>
              <a:spcAft>
                <a:spcPts val="500"/>
              </a:spcAft>
            </a:pPr>
            <a:r>
              <a:rPr sz="1150" b="1" i="0">
                <a:solidFill>
                  <a:srgbClr val="17605B"/>
                </a:solidFill>
                <a:latin typeface="Segoe UI"/>
              </a:rPr>
              <a:t>—  </a:t>
            </a:r>
            <a:r>
              <a:rPr sz="1150" b="1" i="0">
                <a:solidFill>
                  <a:srgbClr val="141821"/>
                </a:solidFill>
                <a:latin typeface="Segoe UI"/>
              </a:rPr>
              <a:t>Có đường CUDA</a:t>
            </a:r>
            <a:r>
              <a:rPr sz="1150" b="0" i="0">
                <a:solidFill>
                  <a:srgbClr val="39424F"/>
                </a:solidFill>
                <a:latin typeface="Segoe UI"/>
              </a:rPr>
              <a:t> — fragment k=8: 144,6 s (CPU) → 3,8 s (A10G), nhanh 38×</a:t>
            </a:r>
          </a:p>
          <a:p>
            <a:pPr>
              <a:lnSpc>
                <a:spcPct val="122000"/>
              </a:lnSpc>
              <a:spcAft>
                <a:spcPts val="500"/>
              </a:spcAft>
            </a:pPr>
            <a:r>
              <a:rPr sz="1150" b="1" i="0">
                <a:solidFill>
                  <a:srgbClr val="17605B"/>
                </a:solidFill>
                <a:latin typeface="Segoe UI"/>
              </a:rPr>
              <a:t>—  </a:t>
            </a:r>
            <a:r>
              <a:rPr sz="1150" b="1" i="0">
                <a:solidFill>
                  <a:srgbClr val="141821"/>
                </a:solidFill>
                <a:latin typeface="Segoe UI"/>
              </a:rPr>
              <a:t>Recursion chạy được thật</a:t>
            </a:r>
            <a:r>
              <a:rPr sz="1150" b="0" i="0">
                <a:solidFill>
                  <a:srgbClr val="39424F"/>
                </a:solidFill>
                <a:latin typeface="Segoe UI"/>
              </a:rPr>
              <a:t> — guest verify proof con bằng mật mã</a:t>
            </a:r>
          </a:p>
          <a:p>
            <a:pPr>
              <a:lnSpc>
                <a:spcPct val="122000"/>
              </a:lnSpc>
              <a:spcAft>
                <a:spcPts val="500"/>
              </a:spcAft>
            </a:pPr>
            <a:r>
              <a:rPr sz="1150" b="1" i="0">
                <a:solidFill>
                  <a:srgbClr val="17605B"/>
                </a:solidFill>
                <a:latin typeface="Segoe UI"/>
              </a:rPr>
              <a:t>—  </a:t>
            </a:r>
            <a:r>
              <a:rPr sz="1150" b="1" i="0">
                <a:solidFill>
                  <a:srgbClr val="141821"/>
                </a:solidFill>
                <a:latin typeface="Segoe UI"/>
              </a:rPr>
              <a:t>Precompile SHA-256</a:t>
            </a:r>
            <a:r>
              <a:rPr sz="1150" b="0" i="0">
                <a:solidFill>
                  <a:srgbClr val="39424F"/>
                </a:solidFill>
                <a:latin typeface="Segoe UI"/>
              </a:rPr>
              <a:t> — Merkle là phép tính trung tâm, precompile làm nó rẻ</a:t>
            </a:r>
          </a:p>
          <a:p>
            <a:pPr>
              <a:lnSpc>
                <a:spcPct val="122000"/>
              </a:lnSpc>
              <a:spcAft>
                <a:spcPts val="500"/>
              </a:spcAft>
            </a:pPr>
            <a:r>
              <a:rPr sz="1150" b="1" i="0">
                <a:solidFill>
                  <a:srgbClr val="17605B"/>
                </a:solidFill>
                <a:latin typeface="Segoe UI"/>
              </a:rPr>
              <a:t>—  </a:t>
            </a:r>
            <a:r>
              <a:rPr sz="1150" b="1" i="0">
                <a:solidFill>
                  <a:srgbClr val="141821"/>
                </a:solidFill>
                <a:latin typeface="Segoe UI"/>
              </a:rPr>
              <a:t>Không cần Docker cho CUDA</a:t>
            </a:r>
            <a:r>
              <a:rPr sz="1150" b="0" i="0">
                <a:solidFill>
                  <a:srgbClr val="39424F"/>
                </a:solidFill>
                <a:latin typeface="Segoe UI"/>
              </a:rPr>
              <a:t> — tải sp1-gpu-server rồi nối Unix socket</a:t>
            </a:r>
          </a:p>
        </p:txBody>
      </p:sp>
      <p:sp>
        <p:nvSpPr>
          <p:cNvPr id="13" name="TextBox 12"/>
          <p:cNvSpPr txBox="1"/>
          <p:nvPr/>
        </p:nvSpPr>
        <p:spPr>
          <a:xfrm>
            <a:off x="6492240" y="5989320"/>
            <a:ext cx="5029200" cy="457200"/>
          </a:xfrm>
          <a:prstGeom prst="rect">
            <a:avLst/>
          </a:prstGeom>
          <a:noFill/>
        </p:spPr>
        <p:txBody>
          <a:bodyPr wrap="square" lIns="0" rIns="0" tIns="0" bIns="0">
            <a:spAutoFit/>
          </a:bodyPr>
          <a:lstStyle/>
          <a:p>
            <a:pPr>
              <a:lnSpc>
                <a:spcPct val="118000"/>
              </a:lnSpc>
            </a:pPr>
            <a:r>
              <a:rPr sz="1100" b="0" i="0">
                <a:solidFill>
                  <a:srgbClr val="6B7581"/>
                </a:solidFill>
                <a:latin typeface="Segoe UI"/>
              </a:rPr>
              <a:t>Nói thẳng khi bị hỏi: </a:t>
            </a:r>
            <a:r>
              <a:rPr sz="1100" b="0" i="0">
                <a:solidFill>
                  <a:srgbClr val="39424F"/>
                </a:solidFill>
                <a:latin typeface="Segoe UI"/>
              </a:rPr>
              <a:t>chưa khảo sát so sánh có hệ thống với RISC Zero. Chọn SP1 vì đường CUDA và recursion đã dùng được lúc bắt đầu.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 name="Rectangle 15"/>
          <p:cNvSpPr/>
          <p:nvPr/>
        </p:nvSpPr>
        <p:spPr>
          <a:xfrm>
            <a:off x="6263640" y="4709160"/>
            <a:ext cx="525780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470916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029200"/>
            <a:ext cx="539496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502920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3 · BACKEND</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3 — guest / host / shared, và quy trình prove</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12</a:t>
            </a:r>
          </a:p>
        </p:txBody>
      </p:sp>
      <p:graphicFrame>
        <p:nvGraphicFramePr>
          <p:cNvPr id="6" name="Table 5"/>
          <p:cNvGraphicFramePr>
            <a:graphicFrameLocks noGrp="1"/>
          </p:cNvGraphicFramePr>
          <p:nvPr/>
        </p:nvGraphicFramePr>
        <p:xfrm>
          <a:off x="658368" y="1965960"/>
          <a:ext cx="5394959" cy="1170432"/>
        </p:xfrm>
        <a:graphic>
          <a:graphicData uri="http://schemas.openxmlformats.org/drawingml/2006/table">
            <a:tbl>
              <a:tblPr bandRow="1">
                <a:tableStyleId>{5C22544A-7EE6-4342-B048-85BDC9FD1C3A}</a:tableStyleId>
              </a:tblPr>
              <a:tblGrid>
                <a:gridCol w="1156062"/>
                <a:gridCol w="1541417"/>
                <a:gridCol w="2697480"/>
              </a:tblGrid>
              <a:tr h="292608">
                <a:tc>
                  <a:txBody>
                    <a:bodyPr/>
                    <a:lstStyle/>
                    <a:p>
                      <a:r>
                        <a:rPr sz="950" b="1" i="0">
                          <a:solidFill>
                            <a:srgbClr val="6B7581"/>
                          </a:solidFill>
                          <a:latin typeface="Segoe UI"/>
                        </a:rPr>
                        <a:t>THÀNH PHẦN</a:t>
                      </a:r>
                    </a:p>
                  </a:txBody>
                  <a:tcPr marL="64008" marR="64008" marT="27432" marB="27432" anchor="ctr">
                    <a:solidFill>
                      <a:srgbClr val="FFFFFF"/>
                    </a:solidFill>
                  </a:tcPr>
                </a:tc>
                <a:tc>
                  <a:txBody>
                    <a:bodyPr/>
                    <a:lstStyle/>
                    <a:p>
                      <a:r>
                        <a:rPr sz="950" b="1" i="0">
                          <a:solidFill>
                            <a:srgbClr val="6B7581"/>
                          </a:solidFill>
                          <a:latin typeface="Segoe UI"/>
                        </a:rPr>
                        <a:t>CHẠY Ở ĐÂU</a:t>
                      </a:r>
                    </a:p>
                  </a:txBody>
                  <a:tcPr marL="64008" marR="64008" marT="27432" marB="27432" anchor="ctr">
                    <a:solidFill>
                      <a:srgbClr val="FFFFFF"/>
                    </a:solidFill>
                  </a:tcPr>
                </a:tc>
                <a:tc>
                  <a:txBody>
                    <a:bodyPr/>
                    <a:lstStyle/>
                    <a:p>
                      <a:r>
                        <a:rPr sz="950" b="1" i="0">
                          <a:solidFill>
                            <a:srgbClr val="6B7581"/>
                          </a:solidFill>
                          <a:latin typeface="Segoe UI"/>
                        </a:rPr>
                        <a:t>VIỆC</a:t>
                      </a:r>
                    </a:p>
                  </a:txBody>
                  <a:tcPr marL="64008" marR="64008" marT="27432" marB="27432" anchor="ctr">
                    <a:solidFill>
                      <a:srgbClr val="FFFFFF"/>
                    </a:solidFill>
                  </a:tcPr>
                </a:tc>
              </a:tr>
              <a:tr h="292608">
                <a:tc>
                  <a:txBody>
                    <a:bodyPr/>
                    <a:lstStyle/>
                    <a:p>
                      <a:r>
                        <a:rPr sz="1100" b="1" i="0">
                          <a:solidFill>
                            <a:srgbClr val="141821"/>
                          </a:solidFill>
                          <a:latin typeface="Segoe UI"/>
                        </a:rPr>
                        <a:t>guest</a:t>
                      </a:r>
                    </a:p>
                  </a:txBody>
                  <a:tcPr marL="64008" marR="64008" marT="27432" marB="27432" anchor="ctr">
                    <a:solidFill>
                      <a:srgbClr val="DCEAE8"/>
                    </a:solidFill>
                  </a:tcPr>
                </a:tc>
                <a:tc>
                  <a:txBody>
                    <a:bodyPr/>
                    <a:lstStyle/>
                    <a:p>
                      <a:r>
                        <a:rPr sz="1100" b="0" i="0">
                          <a:solidFill>
                            <a:srgbClr val="39424F"/>
                          </a:solidFill>
                          <a:latin typeface="Segoe UI"/>
                        </a:rPr>
                        <a:t>bên TRONG zkVM</a:t>
                      </a:r>
                    </a:p>
                  </a:txBody>
                  <a:tcPr marL="64008" marR="64008" marT="27432" marB="27432" anchor="ctr">
                    <a:solidFill>
                      <a:srgbClr val="DCEAE8"/>
                    </a:solidFill>
                  </a:tcPr>
                </a:tc>
                <a:tc>
                  <a:txBody>
                    <a:bodyPr/>
                    <a:lstStyle/>
                    <a:p>
                      <a:r>
                        <a:rPr sz="1100" b="0" i="0">
                          <a:solidFill>
                            <a:srgbClr val="39424F"/>
                          </a:solidFill>
                          <a:latin typeface="Segoe UI"/>
                        </a:rPr>
                        <a:t>phép tính được chứng minh</a:t>
                      </a:r>
                    </a:p>
                  </a:txBody>
                  <a:tcPr marL="64008" marR="64008" marT="27432" marB="27432" anchor="ctr">
                    <a:solidFill>
                      <a:srgbClr val="DCEAE8"/>
                    </a:solidFill>
                  </a:tcPr>
                </a:tc>
              </a:tr>
              <a:tr h="292608">
                <a:tc>
                  <a:txBody>
                    <a:bodyPr/>
                    <a:lstStyle/>
                    <a:p>
                      <a:r>
                        <a:rPr sz="1100" b="0" i="0">
                          <a:solidFill>
                            <a:srgbClr val="39424F"/>
                          </a:solidFill>
                          <a:latin typeface="Segoe UI"/>
                        </a:rPr>
                        <a:t>host</a:t>
                      </a:r>
                    </a:p>
                  </a:txBody>
                  <a:tcPr marL="64008" marR="64008" marT="27432" marB="27432" anchor="ctr">
                    <a:solidFill>
                      <a:srgbClr val="FFFFFF"/>
                    </a:solidFill>
                  </a:tcPr>
                </a:tc>
                <a:tc>
                  <a:txBody>
                    <a:bodyPr/>
                    <a:lstStyle/>
                    <a:p>
                      <a:r>
                        <a:rPr sz="1100" b="0" i="0">
                          <a:solidFill>
                            <a:srgbClr val="39424F"/>
                          </a:solidFill>
                          <a:latin typeface="Segoe UI"/>
                        </a:rPr>
                        <a:t>máy thường</a:t>
                      </a:r>
                    </a:p>
                  </a:txBody>
                  <a:tcPr marL="64008" marR="64008" marT="27432" marB="27432" anchor="ctr">
                    <a:solidFill>
                      <a:srgbClr val="FFFFFF"/>
                    </a:solidFill>
                  </a:tcPr>
                </a:tc>
                <a:tc>
                  <a:txBody>
                    <a:bodyPr/>
                    <a:lstStyle/>
                    <a:p>
                      <a:r>
                        <a:rPr sz="1100" b="0" i="0">
                          <a:solidFill>
                            <a:srgbClr val="39424F"/>
                          </a:solidFill>
                          <a:latin typeface="Segoe UI"/>
                        </a:rPr>
                        <a:t>nạp dữ liệu, gọi prover, ghi metrics</a:t>
                      </a:r>
                    </a:p>
                  </a:txBody>
                  <a:tcPr marL="64008" marR="64008" marT="27432" marB="27432" anchor="ctr">
                    <a:solidFill>
                      <a:srgbClr val="FFFFFF"/>
                    </a:solidFill>
                  </a:tcPr>
                </a:tc>
              </a:tr>
              <a:tr h="292608">
                <a:tc>
                  <a:txBody>
                    <a:bodyPr/>
                    <a:lstStyle/>
                    <a:p>
                      <a:r>
                        <a:rPr sz="1100" b="0" i="0">
                          <a:solidFill>
                            <a:srgbClr val="39424F"/>
                          </a:solidFill>
                          <a:latin typeface="Segoe UI"/>
                        </a:rPr>
                        <a:t>shared</a:t>
                      </a:r>
                    </a:p>
                  </a:txBody>
                  <a:tcPr marL="64008" marR="64008" marT="27432" marB="27432" anchor="ctr">
                    <a:solidFill>
                      <a:srgbClr val="FFFFFF"/>
                    </a:solidFill>
                  </a:tcPr>
                </a:tc>
                <a:tc>
                  <a:txBody>
                    <a:bodyPr/>
                    <a:lstStyle/>
                    <a:p>
                      <a:r>
                        <a:rPr sz="1100" b="0" i="0">
                          <a:solidFill>
                            <a:srgbClr val="39424F"/>
                          </a:solidFill>
                          <a:latin typeface="Segoe UI"/>
                        </a:rPr>
                        <a:t>cả hai bên</a:t>
                      </a:r>
                    </a:p>
                  </a:txBody>
                  <a:tcPr marL="64008" marR="64008" marT="27432" marB="27432" anchor="ctr">
                    <a:solidFill>
                      <a:srgbClr val="FFFFFF"/>
                    </a:solidFill>
                  </a:tcPr>
                </a:tc>
                <a:tc>
                  <a:txBody>
                    <a:bodyPr/>
                    <a:lstStyle/>
                    <a:p>
                      <a:r>
                        <a:rPr sz="1100" b="0" i="0">
                          <a:solidFill>
                            <a:srgbClr val="39424F"/>
                          </a:solidFill>
                          <a:latin typeface="Segoe UI"/>
                        </a:rPr>
                        <a:t>thư viện Rust chứa logic quan hệ</a:t>
                      </a:r>
                    </a:p>
                  </a:txBody>
                  <a:tcPr marL="64008" marR="64008" marT="27432" marB="27432" anchor="ctr">
                    <a:solidFill>
                      <a:srgbClr val="FFFFFF"/>
                    </a:solidFill>
                  </a:tcPr>
                </a:tc>
              </a:tr>
            </a:tbl>
          </a:graphicData>
        </a:graphic>
      </p:graphicFrame>
      <p:sp>
        <p:nvSpPr>
          <p:cNvPr id="7" name="Rectangle 6"/>
          <p:cNvSpPr/>
          <p:nvPr/>
        </p:nvSpPr>
        <p:spPr>
          <a:xfrm>
            <a:off x="658368" y="3200400"/>
            <a:ext cx="5394960" cy="1807464"/>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3310128"/>
            <a:ext cx="5102352" cy="1588008"/>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RUN_SP1_PROVE=1 cargo run --release -p &lt;host&gt; -- --prove</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  a. PRECHECK  gọi verifier trong shared/ để kiểm vector</a:t>
            </a:r>
          </a:p>
          <a:p>
            <a:pPr>
              <a:lnSpc>
                <a:spcPct val="134000"/>
              </a:lnSpc>
              <a:spcAft>
                <a:spcPts val="0"/>
              </a:spcAft>
            </a:pPr>
            <a:r>
              <a:rPr sz="1050" b="0" i="0">
                <a:solidFill>
                  <a:srgbClr val="39424F"/>
                </a:solidFill>
                <a:latin typeface="Consolas"/>
              </a:rPr>
              <a:t>               TRƯỚC khi prove — prove một vector sai là</a:t>
            </a:r>
          </a:p>
          <a:p>
            <a:pPr>
              <a:lnSpc>
                <a:spcPct val="134000"/>
              </a:lnSpc>
              <a:spcAft>
                <a:spcPts val="0"/>
              </a:spcAft>
            </a:pPr>
            <a:r>
              <a:rPr sz="1050" b="0" i="0">
                <a:solidFill>
                  <a:srgbClr val="39424F"/>
                </a:solidFill>
                <a:latin typeface="Consolas"/>
              </a:rPr>
              <a:t>               đốt tiền GPU vô ích</a:t>
            </a:r>
          </a:p>
          <a:p>
            <a:pPr>
              <a:lnSpc>
                <a:spcPct val="134000"/>
              </a:lnSpc>
              <a:spcAft>
                <a:spcPts val="0"/>
              </a:spcAft>
            </a:pPr>
            <a:r>
              <a:rPr sz="1050" b="0" i="0">
                <a:solidFill>
                  <a:srgbClr val="39424F"/>
                </a:solidFill>
                <a:latin typeface="Consolas"/>
              </a:rPr>
              <a:t>  b. PROVE     nạp vector, chạy guest, sinh proof STARK</a:t>
            </a:r>
          </a:p>
          <a:p>
            <a:pPr>
              <a:lnSpc>
                <a:spcPct val="134000"/>
              </a:lnSpc>
              <a:spcAft>
                <a:spcPts val="0"/>
              </a:spcAft>
            </a:pPr>
            <a:r>
              <a:rPr sz="1050" b="0" i="0">
                <a:solidFill>
                  <a:srgbClr val="39424F"/>
                </a:solidFill>
                <a:latin typeface="Consolas"/>
              </a:rPr>
              <a:t>  c. VERIFY    kiểm lại proof vừa sinh, ghi proof_verified</a:t>
            </a:r>
          </a:p>
          <a:p>
            <a:pPr>
              <a:lnSpc>
                <a:spcPct val="134000"/>
              </a:lnSpc>
              <a:spcAft>
                <a:spcPts val="0"/>
              </a:spcAft>
            </a:pPr>
            <a:r>
              <a:rPr sz="1050" b="0" i="0">
                <a:solidFill>
                  <a:srgbClr val="39424F"/>
                </a:solidFill>
                <a:latin typeface="Consolas"/>
              </a:rPr>
              <a:t>  d. TAMPER    quét giả mạo trong cùng lượt chạy</a:t>
            </a:r>
          </a:p>
        </p:txBody>
      </p:sp>
      <p:sp>
        <p:nvSpPr>
          <p:cNvPr id="9" name="TextBox 8"/>
          <p:cNvSpPr txBox="1"/>
          <p:nvPr/>
        </p:nvSpPr>
        <p:spPr>
          <a:xfrm>
            <a:off x="877824" y="5157216"/>
            <a:ext cx="499262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CÓ BƯỚC (A)</a:t>
            </a:r>
          </a:p>
          <a:p>
            <a:pPr>
              <a:lnSpc>
                <a:spcPct val="122000"/>
              </a:lnSpc>
            </a:pPr>
            <a:r>
              <a:rPr sz="1250" b="0" i="0">
                <a:solidFill>
                  <a:srgbClr val="39424F"/>
                </a:solidFill>
                <a:latin typeface="Segoe UI"/>
              </a:rPr>
              <a:t>Một lượt prove có thể mất 25 phút trên GPU thuê theo giờ. Oracle Python chạy mili giây. Bắt lỗi ở đâu rẻ hơn thì bắt ở đó.</a:t>
            </a:r>
          </a:p>
        </p:txBody>
      </p:sp>
      <p:sp>
        <p:nvSpPr>
          <p:cNvPr id="12" name="TextBox 11"/>
          <p:cNvSpPr txBox="1"/>
          <p:nvPr/>
        </p:nvSpPr>
        <p:spPr>
          <a:xfrm>
            <a:off x="6263640" y="1965960"/>
            <a:ext cx="5257800" cy="274320"/>
          </a:xfrm>
          <a:prstGeom prst="rect">
            <a:avLst/>
          </a:prstGeom>
          <a:noFill/>
        </p:spPr>
        <p:txBody>
          <a:bodyPr wrap="square" lIns="0" rIns="0" tIns="0" bIns="0">
            <a:spAutoFit/>
          </a:bodyPr>
          <a:lstStyle/>
          <a:p>
            <a:r>
              <a:rPr sz="1100" b="1" i="0">
                <a:solidFill>
                  <a:srgbClr val="6B7581"/>
                </a:solidFill>
                <a:latin typeface="Segoe UI"/>
              </a:rPr>
              <a:t>metrics.json — mỏ neo truy vết của mỗi dòng Bảng 2</a:t>
            </a:r>
          </a:p>
        </p:txBody>
      </p:sp>
      <p:sp>
        <p:nvSpPr>
          <p:cNvPr id="13" name="Rectangle 12"/>
          <p:cNvSpPr/>
          <p:nvPr/>
        </p:nvSpPr>
        <p:spPr>
          <a:xfrm>
            <a:off x="6263640" y="2240280"/>
            <a:ext cx="5257800" cy="2375535"/>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350008"/>
            <a:ext cx="4965192" cy="2156079"/>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relation             training_fragment</a:t>
            </a:r>
          </a:p>
          <a:p>
            <a:pPr>
              <a:lnSpc>
                <a:spcPct val="134000"/>
              </a:lnSpc>
              <a:spcAft>
                <a:spcPts val="0"/>
              </a:spcAft>
            </a:pPr>
            <a:r>
              <a:rPr sz="1050" b="0" i="0">
                <a:solidFill>
                  <a:srgbClr val="39424F"/>
                </a:solidFill>
                <a:latin typeface="Consolas"/>
              </a:rPr>
              <a:t>cycle_count          4.258.262</a:t>
            </a:r>
          </a:p>
          <a:p>
            <a:pPr>
              <a:lnSpc>
                <a:spcPct val="134000"/>
              </a:lnSpc>
              <a:spcAft>
                <a:spcPts val="0"/>
              </a:spcAft>
            </a:pPr>
            <a:r>
              <a:rPr sz="1050" b="0" i="0">
                <a:solidFill>
                  <a:srgbClr val="39424F"/>
                </a:solidFill>
                <a:latin typeface="Consolas"/>
              </a:rPr>
              <a:t>prove_time_seconds   3.293015934</a:t>
            </a:r>
          </a:p>
          <a:p>
            <a:pPr>
              <a:lnSpc>
                <a:spcPct val="134000"/>
              </a:lnSpc>
              <a:spcAft>
                <a:spcPts val="0"/>
              </a:spcAft>
            </a:pPr>
            <a:r>
              <a:rPr sz="1050" b="0" i="0">
                <a:solidFill>
                  <a:srgbClr val="39424F"/>
                </a:solidFill>
                <a:latin typeface="Consolas"/>
              </a:rPr>
              <a:t>verify_time_seconds  0.128721639</a:t>
            </a:r>
          </a:p>
          <a:p>
            <a:pPr>
              <a:lnSpc>
                <a:spcPct val="134000"/>
              </a:lnSpc>
              <a:spcAft>
                <a:spcPts val="0"/>
              </a:spcAft>
            </a:pPr>
            <a:r>
              <a:rPr sz="1050" b="0" i="0">
                <a:solidFill>
                  <a:srgbClr val="39424F"/>
                </a:solidFill>
                <a:latin typeface="Consolas"/>
              </a:rPr>
              <a:t>proof_size_bytes     2.830.831</a:t>
            </a:r>
          </a:p>
          <a:p>
            <a:pPr>
              <a:lnSpc>
                <a:spcPct val="134000"/>
              </a:lnSpc>
              <a:spcAft>
                <a:spcPts val="0"/>
              </a:spcAft>
            </a:pPr>
            <a:r>
              <a:rPr sz="1050" b="0" i="0">
                <a:solidFill>
                  <a:srgbClr val="39424F"/>
                </a:solidFill>
                <a:latin typeface="Consolas"/>
              </a:rPr>
              <a:t>prover               cuda</a:t>
            </a:r>
          </a:p>
          <a:p>
            <a:pPr>
              <a:lnSpc>
                <a:spcPct val="134000"/>
              </a:lnSpc>
              <a:spcAft>
                <a:spcPts val="0"/>
              </a:spcAft>
            </a:pPr>
            <a:r>
              <a:rPr sz="1050" b="0" i="0">
                <a:solidFill>
                  <a:srgbClr val="39424F"/>
                </a:solidFill>
                <a:latin typeface="Consolas"/>
              </a:rPr>
              <a:t>proof_verified       true</a:t>
            </a:r>
          </a:p>
          <a:p>
            <a:pPr>
              <a:lnSpc>
                <a:spcPct val="134000"/>
              </a:lnSpc>
              <a:spcAft>
                <a:spcPts val="0"/>
              </a:spcAft>
            </a:pPr>
            <a:r>
              <a:rPr sz="1050" b="0" i="0">
                <a:solidFill>
                  <a:srgbClr val="39424F"/>
                </a:solidFill>
                <a:latin typeface="Consolas"/>
              </a:rPr>
              <a:t>test_vector_sha256   f2656757…   ← đầu vào nào</a:t>
            </a:r>
          </a:p>
          <a:p>
            <a:pPr>
              <a:lnSpc>
                <a:spcPct val="134000"/>
              </a:lnSpc>
              <a:spcAft>
                <a:spcPts val="0"/>
              </a:spcAft>
            </a:pPr>
            <a:r>
              <a:rPr sz="1050" b="0" i="0">
                <a:solidFill>
                  <a:srgbClr val="39424F"/>
                </a:solidFill>
                <a:latin typeface="Consolas"/>
              </a:rPr>
              <a:t>guest_elf_sha256     6f135f17…   ← chương trình nào</a:t>
            </a:r>
          </a:p>
          <a:p>
            <a:pPr>
              <a:lnSpc>
                <a:spcPct val="134000"/>
              </a:lnSpc>
              <a:spcAft>
                <a:spcPts val="0"/>
              </a:spcAft>
            </a:pPr>
            <a:r>
              <a:rPr sz="1050" b="0" i="0">
                <a:solidFill>
                  <a:srgbClr val="39424F"/>
                </a:solidFill>
                <a:latin typeface="Consolas"/>
              </a:rPr>
              <a:t>public_inputs_sha256 0846d55b…   ← phát biểu gì</a:t>
            </a:r>
          </a:p>
          <a:p>
            <a:pPr>
              <a:lnSpc>
                <a:spcPct val="134000"/>
              </a:lnSpc>
              <a:spcAft>
                <a:spcPts val="0"/>
              </a:spcAft>
            </a:pPr>
            <a:r>
              <a:rPr sz="1050" b="0" i="0">
                <a:solidFill>
                  <a:srgbClr val="39424F"/>
                </a:solidFill>
                <a:latin typeface="Consolas"/>
              </a:rPr>
              <a:t>sp1_version          6.1.0</a:t>
            </a:r>
          </a:p>
        </p:txBody>
      </p:sp>
      <p:sp>
        <p:nvSpPr>
          <p:cNvPr id="15" name="TextBox 14"/>
          <p:cNvSpPr txBox="1"/>
          <p:nvPr/>
        </p:nvSpPr>
        <p:spPr>
          <a:xfrm>
            <a:off x="6483096" y="4837176"/>
            <a:ext cx="485546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BA HASH CUỐI LÀ THỨ LÀM BẢNG KIỂM ĐƯỢC</a:t>
            </a:r>
          </a:p>
          <a:p>
            <a:pPr>
              <a:lnSpc>
                <a:spcPct val="122000"/>
              </a:lnSpc>
            </a:pPr>
            <a:r>
              <a:rPr sz="1250" b="0" i="0">
                <a:solidFill>
                  <a:srgbClr val="39424F"/>
                </a:solidFill>
                <a:latin typeface="Segoe UI"/>
              </a:rPr>
              <a:t>Chúng trả lời ba câu khác nhau: proof này chạy trên </a:t>
            </a:r>
            <a:r>
              <a:rPr sz="1250" b="1" i="0">
                <a:solidFill>
                  <a:srgbClr val="141821"/>
                </a:solidFill>
                <a:latin typeface="Segoe UI"/>
              </a:rPr>
              <a:t>đầu vào nào</a:t>
            </a:r>
            <a:r>
              <a:rPr sz="1250" b="0" i="0">
                <a:solidFill>
                  <a:srgbClr val="39424F"/>
                </a:solidFill>
                <a:latin typeface="Segoe UI"/>
              </a:rPr>
              <a:t>, bằng </a:t>
            </a:r>
            <a:r>
              <a:rPr sz="1250" b="1" i="0">
                <a:solidFill>
                  <a:srgbClr val="141821"/>
                </a:solidFill>
                <a:latin typeface="Segoe UI"/>
              </a:rPr>
              <a:t>chương trình nào</a:t>
            </a:r>
            <a:r>
              <a:rPr sz="1250" b="0" i="0">
                <a:solidFill>
                  <a:srgbClr val="39424F"/>
                </a:solidFill>
                <a:latin typeface="Segoe UI"/>
              </a:rPr>
              <a:t>, và chứng minh </a:t>
            </a:r>
            <a:r>
              <a:rPr sz="1250" b="1" i="0">
                <a:solidFill>
                  <a:srgbClr val="141821"/>
                </a:solidFill>
                <a:latin typeface="Segoe UI"/>
              </a:rPr>
              <a:t>phát biểu gì</a:t>
            </a:r>
            <a:r>
              <a:rPr sz="1250" b="0" i="0">
                <a:solidFill>
                  <a:srgbClr val="39424F"/>
                </a:solidFill>
                <a:latin typeface="Segoe UI"/>
              </a:rPr>
              <a:t>. Thiếu một cái là dòng đó không truy ngược được.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 name="Rectangle 15"/>
          <p:cNvSpPr/>
          <p:nvPr/>
        </p:nvSpPr>
        <p:spPr>
          <a:xfrm>
            <a:off x="6903720" y="5440680"/>
            <a:ext cx="461772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03720" y="544068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03720" y="4343400"/>
            <a:ext cx="461772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434340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3 · BACKEND</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Prover chứng minh những gì — public input thật</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training_fragment_cartpole_expert_k1 — mọi giá trị lấy từ test vector đã commit.</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13</a:t>
            </a:r>
          </a:p>
        </p:txBody>
      </p:sp>
      <p:sp>
        <p:nvSpPr>
          <p:cNvPr id="7" name="Rectangle 6"/>
          <p:cNvSpPr/>
          <p:nvPr/>
        </p:nvSpPr>
        <p:spPr>
          <a:xfrm>
            <a:off x="658368" y="1965960"/>
            <a:ext cx="5852160" cy="4079748"/>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5559552" cy="3860292"/>
          </a:xfrm>
          <a:prstGeom prst="rect">
            <a:avLst/>
          </a:prstGeom>
          <a:noFill/>
        </p:spPr>
        <p:txBody>
          <a:bodyPr wrap="square" lIns="0" rIns="0" tIns="0" bIns="0">
            <a:spAutoFit/>
          </a:bodyPr>
          <a:lstStyle/>
          <a:p>
            <a:pPr>
              <a:lnSpc>
                <a:spcPct val="134000"/>
              </a:lnSpc>
              <a:spcAft>
                <a:spcPts val="0"/>
              </a:spcAft>
            </a:pPr>
            <a:r>
              <a:rPr sz="1000" b="0" i="0">
                <a:solidFill>
                  <a:srgbClr val="39424F"/>
                </a:solidFill>
                <a:latin typeface="Consolas"/>
              </a:rPr>
              <a:t>── Cam kết dữ liệu ──────────────────────────────</a:t>
            </a:r>
          </a:p>
          <a:p>
            <a:pPr>
              <a:lnSpc>
                <a:spcPct val="134000"/>
              </a:lnSpc>
              <a:spcAft>
                <a:spcPts val="0"/>
              </a:spcAft>
            </a:pPr>
            <a:r>
              <a:rPr sz="1000" b="0" i="0">
                <a:solidFill>
                  <a:srgbClr val="39424F"/>
                </a:solidFill>
                <a:latin typeface="Consolas"/>
              </a:rPr>
              <a:t>dataset_root               02de61a9…   ← gốc Merkle cartpole-expert-v2</a:t>
            </a:r>
          </a:p>
          <a:p>
            <a:pPr>
              <a:lnSpc>
                <a:spcPct val="134000"/>
              </a:lnSpc>
              <a:spcAft>
                <a:spcPts val="0"/>
              </a:spcAft>
            </a:pPr>
            <a:r>
              <a:rPr sz="1000" b="0" i="0">
                <a:solidFill>
                  <a:srgbClr val="39424F"/>
                </a:solidFill>
                <a:latin typeface="Consolas"/>
              </a:rPr>
              <a:t>dataset_size               50261</a:t>
            </a:r>
          </a:p>
          <a:p>
            <a:pPr>
              <a:lnSpc>
                <a:spcPct val="134000"/>
              </a:lnSpc>
              <a:spcAft>
                <a:spcPts val="0"/>
              </a:spcAft>
            </a:pPr>
            <a:r>
              <a:rPr sz="1000" b="0" i="0">
                <a:solidFill>
                  <a:srgbClr val="39424F"/>
                </a:solidFill>
                <a:latin typeface="Consolas"/>
              </a:rPr>
              <a:t>manifest_hash              bdc07f0d…</a:t>
            </a:r>
          </a:p>
          <a:p>
            <a:pPr>
              <a:lnSpc>
                <a:spcPct val="134000"/>
              </a:lnSpc>
              <a:spcAft>
                <a:spcPts val="0"/>
              </a:spcAft>
            </a:pPr>
            <a:r>
              <a:rPr sz="1000" b="0" i="0">
                <a:solidFill>
                  <a:srgbClr val="39424F"/>
                </a:solidFill>
                <a:latin typeface="Consolas"/>
              </a:rPr>
              <a:t>audit_report_hash          06f123bd…   ← báo cáo kiểm toán</a:t>
            </a:r>
          </a:p>
          <a:p>
            <a:pPr>
              <a:lnSpc>
                <a:spcPct val="134000"/>
              </a:lnSpc>
              <a:spcAft>
                <a:spcPts val="0"/>
              </a:spcAft>
            </a:pPr>
            <a:r>
              <a:rPr sz="1000" b="0" i="0">
                <a:solidFill>
                  <a:srgbClr val="39424F"/>
                </a:solidFill>
                <a:latin typeface="Consolas"/>
              </a:rPr>
              <a:t>raw_trajectory_hash        f6c25677…</a:t>
            </a:r>
          </a:p>
          <a:p>
            <a:pPr>
              <a:lnSpc>
                <a:spcPct val="134000"/>
              </a:lnSpc>
              <a:spcAft>
                <a:spcPts val="0"/>
              </a:spcAft>
            </a:pPr>
            <a:r>
              <a:rPr sz="1000" b="0" i="0">
                <a:solidFill>
                  <a:srgbClr val="39424F"/>
                </a:solidFill>
                <a:latin typeface="Consolas"/>
              </a:rPr>
              <a:t>collection_log_final_hash  75e224aa…</a:t>
            </a:r>
          </a:p>
          <a:p>
            <a:pPr>
              <a:lnSpc>
                <a:spcPct val="134000"/>
              </a:lnSpc>
              <a:spcAft>
                <a:spcPts val="0"/>
              </a:spcAft>
            </a:pPr>
            <a:r>
              <a:rPr sz="1000" b="0" i="0">
                <a:solidFill>
                  <a:srgbClr val="39424F"/>
                </a:solidFill>
                <a:latin typeface="Consolas"/>
              </a:rPr>
              <a:t> </a:t>
            </a:r>
          </a:p>
          <a:p>
            <a:pPr>
              <a:lnSpc>
                <a:spcPct val="134000"/>
              </a:lnSpc>
              <a:spcAft>
                <a:spcPts val="0"/>
              </a:spcAft>
            </a:pPr>
            <a:r>
              <a:rPr sz="1000" b="0" i="0">
                <a:solidFill>
                  <a:srgbClr val="39424F"/>
                </a:solidFill>
                <a:latin typeface="Consolas"/>
              </a:rPr>
              <a:t>── Siêu tham số, công khai và kiểm được ─────────</a:t>
            </a:r>
          </a:p>
          <a:p>
            <a:pPr>
              <a:lnSpc>
                <a:spcPct val="134000"/>
              </a:lnSpc>
              <a:spcAft>
                <a:spcPts val="0"/>
              </a:spcAft>
            </a:pPr>
            <a:r>
              <a:rPr sz="1000" b="0" i="0">
                <a:solidFill>
                  <a:srgbClr val="39424F"/>
                </a:solidFill>
                <a:latin typeface="Consolas"/>
              </a:rPr>
              <a:t>fixed_point_scale          1000</a:t>
            </a:r>
          </a:p>
          <a:p>
            <a:pPr>
              <a:lnSpc>
                <a:spcPct val="134000"/>
              </a:lnSpc>
              <a:spcAft>
                <a:spcPts val="0"/>
              </a:spcAft>
            </a:pPr>
            <a:r>
              <a:rPr sz="1000" b="0" i="0">
                <a:solidFill>
                  <a:srgbClr val="39424F"/>
                </a:solidFill>
                <a:latin typeface="Consolas"/>
              </a:rPr>
              <a:t>gamma                      990         ← γ = 0,99</a:t>
            </a:r>
          </a:p>
          <a:p>
            <a:pPr>
              <a:lnSpc>
                <a:spcPct val="134000"/>
              </a:lnSpc>
              <a:spcAft>
                <a:spcPts val="0"/>
              </a:spcAft>
            </a:pPr>
            <a:r>
              <a:rPr sz="1000" b="0" i="0">
                <a:solidFill>
                  <a:srgbClr val="39424F"/>
                </a:solidFill>
                <a:latin typeface="Consolas"/>
              </a:rPr>
              <a:t>learning_rate              50          ← η = 0,05</a:t>
            </a:r>
          </a:p>
          <a:p>
            <a:pPr>
              <a:lnSpc>
                <a:spcPct val="134000"/>
              </a:lnSpc>
              <a:spcAft>
                <a:spcPts val="0"/>
              </a:spcAft>
            </a:pPr>
            <a:r>
              <a:rPr sz="1000" b="0" i="0">
                <a:solidFill>
                  <a:srgbClr val="39424F"/>
                </a:solidFill>
                <a:latin typeface="Consolas"/>
              </a:rPr>
              <a:t>batch_size                 1</a:t>
            </a:r>
          </a:p>
          <a:p>
            <a:pPr>
              <a:lnSpc>
                <a:spcPct val="134000"/>
              </a:lnSpc>
              <a:spcAft>
                <a:spcPts val="0"/>
              </a:spcAft>
            </a:pPr>
            <a:r>
              <a:rPr sz="1000" b="0" i="0">
                <a:solidFill>
                  <a:srgbClr val="39424F"/>
                </a:solidFill>
                <a:latin typeface="Consolas"/>
              </a:rPr>
              <a:t>gradient_clip_fp           10000</a:t>
            </a:r>
          </a:p>
          <a:p>
            <a:pPr>
              <a:lnSpc>
                <a:spcPct val="134000"/>
              </a:lnSpc>
              <a:spcAft>
                <a:spcPts val="0"/>
              </a:spcAft>
            </a:pPr>
            <a:r>
              <a:rPr sz="1000" b="0" i="0">
                <a:solidFill>
                  <a:srgbClr val="39424F"/>
                </a:solidFill>
                <a:latin typeface="Consolas"/>
              </a:rPr>
              <a:t>q_abs_max_fp               4503599627370496   ← 2⁵²</a:t>
            </a:r>
          </a:p>
          <a:p>
            <a:pPr>
              <a:lnSpc>
                <a:spcPct val="134000"/>
              </a:lnSpc>
              <a:spcAft>
                <a:spcPts val="0"/>
              </a:spcAft>
            </a:pPr>
            <a:r>
              <a:rPr sz="1000" b="0" i="0">
                <a:solidFill>
                  <a:srgbClr val="39424F"/>
                </a:solidFill>
                <a:latin typeface="Consolas"/>
              </a:rPr>
              <a:t>target_sync_interval       4</a:t>
            </a:r>
          </a:p>
          <a:p>
            <a:pPr>
              <a:lnSpc>
                <a:spcPct val="134000"/>
              </a:lnSpc>
              <a:spcAft>
                <a:spcPts val="0"/>
              </a:spcAft>
            </a:pPr>
            <a:r>
              <a:rPr sz="1000" b="0" i="0">
                <a:solidFill>
                  <a:srgbClr val="39424F"/>
                </a:solidFill>
                <a:latin typeface="Consolas"/>
              </a:rPr>
              <a:t>target_sync_mode           hard</a:t>
            </a:r>
          </a:p>
          <a:p>
            <a:pPr>
              <a:lnSpc>
                <a:spcPct val="134000"/>
              </a:lnSpc>
              <a:spcAft>
                <a:spcPts val="0"/>
              </a:spcAft>
            </a:pPr>
            <a:r>
              <a:rPr sz="1000" b="0" i="0">
                <a:solidFill>
                  <a:srgbClr val="39424F"/>
                </a:solidFill>
                <a:latin typeface="Consolas"/>
              </a:rPr>
              <a:t> </a:t>
            </a:r>
          </a:p>
          <a:p>
            <a:pPr>
              <a:lnSpc>
                <a:spcPct val="134000"/>
              </a:lnSpc>
              <a:spcAft>
                <a:spcPts val="0"/>
              </a:spcAft>
            </a:pPr>
            <a:r>
              <a:rPr sz="1000" b="0" i="0">
                <a:solidFill>
                  <a:srgbClr val="39424F"/>
                </a:solidFill>
                <a:latin typeface="Consolas"/>
              </a:rPr>
              <a:t>── Chuỗi checkpoint ─────────────────────────────</a:t>
            </a:r>
          </a:p>
          <a:p>
            <a:pPr>
              <a:lnSpc>
                <a:spcPct val="134000"/>
              </a:lnSpc>
              <a:spcAft>
                <a:spcPts val="0"/>
              </a:spcAft>
            </a:pPr>
            <a:r>
              <a:rPr sz="1000" b="0" i="0">
                <a:solidFill>
                  <a:srgbClr val="39424F"/>
                </a:solidFill>
                <a:latin typeface="Consolas"/>
              </a:rPr>
              <a:t>start_checkpoint_hash      107e13f5…</a:t>
            </a:r>
          </a:p>
          <a:p>
            <a:pPr>
              <a:lnSpc>
                <a:spcPct val="134000"/>
              </a:lnSpc>
              <a:spcAft>
                <a:spcPts val="0"/>
              </a:spcAft>
            </a:pPr>
            <a:r>
              <a:rPr sz="1000" b="0" i="0">
                <a:solidFill>
                  <a:srgbClr val="39424F"/>
                </a:solidFill>
                <a:latin typeface="Consolas"/>
              </a:rPr>
              <a:t>final_checkpoint_hash      1c77751a…</a:t>
            </a:r>
          </a:p>
        </p:txBody>
      </p:sp>
      <p:sp>
        <p:nvSpPr>
          <p:cNvPr id="9" name="TextBox 8"/>
          <p:cNvSpPr txBox="1"/>
          <p:nvPr/>
        </p:nvSpPr>
        <p:spPr>
          <a:xfrm>
            <a:off x="6903720" y="1965960"/>
            <a:ext cx="4617720" cy="274320"/>
          </a:xfrm>
          <a:prstGeom prst="rect">
            <a:avLst/>
          </a:prstGeom>
          <a:noFill/>
        </p:spPr>
        <p:txBody>
          <a:bodyPr wrap="square" lIns="0" rIns="0" tIns="0" bIns="0">
            <a:spAutoFit/>
          </a:bodyPr>
          <a:lstStyle/>
          <a:p>
            <a:r>
              <a:rPr sz="1100" b="1" i="0">
                <a:solidFill>
                  <a:srgbClr val="8C3A2E"/>
                </a:solidFill>
                <a:latin typeface="Segoe UI"/>
              </a:rPr>
              <a:t>PRIVATE WITNESS — verifier KHÔNG thấy</a:t>
            </a:r>
          </a:p>
        </p:txBody>
      </p:sp>
      <p:sp>
        <p:nvSpPr>
          <p:cNvPr id="10" name="Rectangle 9"/>
          <p:cNvSpPr/>
          <p:nvPr/>
        </p:nvSpPr>
        <p:spPr>
          <a:xfrm>
            <a:off x="6903720" y="2240280"/>
            <a:ext cx="4617720" cy="2276348"/>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50024" y="2350008"/>
            <a:ext cx="4325112" cy="2056892"/>
          </a:xfrm>
          <a:prstGeom prst="rect">
            <a:avLst/>
          </a:prstGeom>
          <a:noFill/>
        </p:spPr>
        <p:txBody>
          <a:bodyPr wrap="square" lIns="0" rIns="0" tIns="0" bIns="0">
            <a:spAutoFit/>
          </a:bodyPr>
          <a:lstStyle/>
          <a:p>
            <a:pPr>
              <a:lnSpc>
                <a:spcPct val="134000"/>
              </a:lnSpc>
              <a:spcAft>
                <a:spcPts val="0"/>
              </a:spcAft>
            </a:pPr>
            <a:r>
              <a:rPr sz="1000" b="0" i="0">
                <a:solidFill>
                  <a:srgbClr val="39424F"/>
                </a:solidFill>
                <a:latin typeface="Consolas"/>
              </a:rPr>
              <a:t>steps[0] = {</a:t>
            </a:r>
          </a:p>
          <a:p>
            <a:pPr>
              <a:lnSpc>
                <a:spcPct val="134000"/>
              </a:lnSpc>
              <a:spcAft>
                <a:spcPts val="0"/>
              </a:spcAft>
            </a:pPr>
            <a:r>
              <a:rPr sz="1000" b="0" i="0">
                <a:solidFill>
                  <a:srgbClr val="39424F"/>
                </a:solidFill>
                <a:latin typeface="Consolas"/>
              </a:rPr>
              <a:t>  transition        : {state, action,</a:t>
            </a:r>
          </a:p>
          <a:p>
            <a:pPr>
              <a:lnSpc>
                <a:spcPct val="134000"/>
              </a:lnSpc>
              <a:spcAft>
                <a:spcPts val="0"/>
              </a:spcAft>
            </a:pPr>
            <a:r>
              <a:rPr sz="1000" b="0" i="0">
                <a:solidFill>
                  <a:srgbClr val="39424F"/>
                </a:solidFill>
                <a:latin typeface="Consolas"/>
              </a:rPr>
              <a:t>                       reward, next_state}</a:t>
            </a:r>
          </a:p>
          <a:p>
            <a:pPr>
              <a:lnSpc>
                <a:spcPct val="134000"/>
              </a:lnSpc>
              <a:spcAft>
                <a:spcPts val="0"/>
              </a:spcAft>
            </a:pPr>
            <a:r>
              <a:rPr sz="1000" b="0" i="0">
                <a:solidFill>
                  <a:srgbClr val="39424F"/>
                </a:solidFill>
                <a:latin typeface="Consolas"/>
              </a:rPr>
              <a:t>  leaf_index        : 43</a:t>
            </a:r>
          </a:p>
          <a:p>
            <a:pPr>
              <a:lnSpc>
                <a:spcPct val="134000"/>
              </a:lnSpc>
              <a:spcAft>
                <a:spcPts val="0"/>
              </a:spcAft>
            </a:pPr>
            <a:r>
              <a:rPr sz="1000" b="0" i="0">
                <a:solidFill>
                  <a:srgbClr val="39424F"/>
                </a:solidFill>
                <a:latin typeface="Consolas"/>
              </a:rPr>
              <a:t>  leaf_hash         : 290fce5d…</a:t>
            </a:r>
          </a:p>
          <a:p>
            <a:pPr>
              <a:lnSpc>
                <a:spcPct val="134000"/>
              </a:lnSpc>
              <a:spcAft>
                <a:spcPts val="0"/>
              </a:spcAft>
            </a:pPr>
            <a:r>
              <a:rPr sz="1000" b="0" i="0">
                <a:solidFill>
                  <a:srgbClr val="39424F"/>
                </a:solidFill>
                <a:latin typeface="Consolas"/>
              </a:rPr>
              <a:t>  merkle_path       : [ {level, sibling_hash,</a:t>
            </a:r>
          </a:p>
          <a:p>
            <a:pPr>
              <a:lnSpc>
                <a:spcPct val="134000"/>
              </a:lnSpc>
              <a:spcAft>
                <a:spcPts val="0"/>
              </a:spcAft>
            </a:pPr>
            <a:r>
              <a:rPr sz="1000" b="0" i="0">
                <a:solidFill>
                  <a:srgbClr val="39424F"/>
                </a:solidFill>
                <a:latin typeface="Consolas"/>
              </a:rPr>
              <a:t>                         current_is_left}, … ]</a:t>
            </a:r>
          </a:p>
          <a:p>
            <a:pPr>
              <a:lnSpc>
                <a:spcPct val="134000"/>
              </a:lnSpc>
              <a:spcAft>
                <a:spcPts val="0"/>
              </a:spcAft>
            </a:pPr>
            <a:r>
              <a:rPr sz="1000" b="0" i="0">
                <a:solidFill>
                  <a:srgbClr val="39424F"/>
                </a:solidFill>
                <a:latin typeface="Consolas"/>
              </a:rPr>
              <a:t>  online_model_before / _after</a:t>
            </a:r>
          </a:p>
          <a:p>
            <a:pPr>
              <a:lnSpc>
                <a:spcPct val="134000"/>
              </a:lnSpc>
              <a:spcAft>
                <a:spcPts val="0"/>
              </a:spcAft>
            </a:pPr>
            <a:r>
              <a:rPr sz="1000" b="0" i="0">
                <a:solidFill>
                  <a:srgbClr val="39424F"/>
                </a:solidFill>
                <a:latin typeface="Consolas"/>
              </a:rPr>
              <a:t>  target_model_before / _after</a:t>
            </a:r>
          </a:p>
          <a:p>
            <a:pPr>
              <a:lnSpc>
                <a:spcPct val="134000"/>
              </a:lnSpc>
              <a:spcAft>
                <a:spcPts val="0"/>
              </a:spcAft>
            </a:pPr>
            <a:r>
              <a:rPr sz="1000" b="0" i="0">
                <a:solidFill>
                  <a:srgbClr val="39424F"/>
                </a:solidFill>
                <a:latin typeface="Consolas"/>
              </a:rPr>
              <a:t>  intermediates     : {deltas, grads, …}</a:t>
            </a:r>
          </a:p>
          <a:p>
            <a:pPr>
              <a:lnSpc>
                <a:spcPct val="134000"/>
              </a:lnSpc>
              <a:spcAft>
                <a:spcPts val="0"/>
              </a:spcAft>
            </a:pPr>
            <a:r>
              <a:rPr sz="1000" b="0" i="0">
                <a:solidFill>
                  <a:srgbClr val="39424F"/>
                </a:solidFill>
                <a:latin typeface="Consolas"/>
              </a:rPr>
              <a:t>}</a:t>
            </a:r>
          </a:p>
        </p:txBody>
      </p:sp>
      <p:sp>
        <p:nvSpPr>
          <p:cNvPr id="12" name="TextBox 11"/>
          <p:cNvSpPr txBox="1"/>
          <p:nvPr/>
        </p:nvSpPr>
        <p:spPr>
          <a:xfrm>
            <a:off x="7123176" y="4471416"/>
            <a:ext cx="42153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RANH GIỚI RIÊNG TƯ</a:t>
            </a:r>
          </a:p>
          <a:p>
            <a:pPr>
              <a:lnSpc>
                <a:spcPct val="122000"/>
              </a:lnSpc>
            </a:pPr>
            <a:r>
              <a:rPr sz="1250" b="0" i="0">
                <a:solidFill>
                  <a:srgbClr val="39424F"/>
                </a:solidFill>
                <a:latin typeface="Segoe UI"/>
              </a:rPr>
              <a:t>Mọi thứ mô tả </a:t>
            </a:r>
            <a:r>
              <a:rPr sz="1250" b="1" i="0">
                <a:solidFill>
                  <a:srgbClr val="141821"/>
                </a:solidFill>
                <a:latin typeface="Segoe UI"/>
              </a:rPr>
              <a:t>thoả thuận</a:t>
            </a:r>
            <a:r>
              <a:rPr sz="1250" b="0" i="0">
                <a:solidFill>
                  <a:srgbClr val="39424F"/>
                </a:solidFill>
                <a:latin typeface="Segoe UI"/>
              </a:rPr>
              <a:t> thì công khai. Mọi thứ chứa </a:t>
            </a:r>
            <a:r>
              <a:rPr sz="1250" b="1" i="0">
                <a:solidFill>
                  <a:srgbClr val="141821"/>
                </a:solidFill>
                <a:latin typeface="Segoe UI"/>
              </a:rPr>
              <a:t>dữ liệu</a:t>
            </a:r>
            <a:r>
              <a:rPr sz="1250" b="0" i="0">
                <a:solidFill>
                  <a:srgbClr val="39424F"/>
                </a:solidFill>
                <a:latin typeface="Segoe UI"/>
              </a:rPr>
              <a:t> thì riêng tư — chỉ hash của chúng lên public input.</a:t>
            </a:r>
          </a:p>
        </p:txBody>
      </p:sp>
      <p:sp>
        <p:nvSpPr>
          <p:cNvPr id="15" name="TextBox 14"/>
          <p:cNvSpPr txBox="1"/>
          <p:nvPr/>
        </p:nvSpPr>
        <p:spPr>
          <a:xfrm>
            <a:off x="7123176" y="5568696"/>
            <a:ext cx="42153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CÂU MÀ PROOF CHỨNG MINH</a:t>
            </a:r>
          </a:p>
          <a:p>
            <a:pPr>
              <a:lnSpc>
                <a:spcPct val="122000"/>
              </a:lnSpc>
            </a:pPr>
            <a:r>
              <a:rPr sz="1250" b="0" i="0">
                <a:solidFill>
                  <a:srgbClr val="39424F"/>
                </a:solidFill>
                <a:latin typeface="Segoe UI"/>
              </a:rPr>
              <a:t>“Tôi đã dùng η = 0,05, γ = 0,99, clip 10,0, trên đúng dataset gốc 02de61a9, và đi từ mô hình 107e13f5 tới 1c77751a.”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 name="Rectangle 43"/>
          <p:cNvSpPr/>
          <p:nvPr/>
        </p:nvSpPr>
        <p:spPr>
          <a:xfrm>
            <a:off x="7909560" y="4778816"/>
            <a:ext cx="3611880" cy="1271268"/>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909560" y="4778816"/>
            <a:ext cx="38100" cy="1271268"/>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502404"/>
            <a:ext cx="361188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09560" y="3502404"/>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2011680"/>
            <a:ext cx="3611880" cy="1271268"/>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09560" y="2011680"/>
            <a:ext cx="38100" cy="127126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3 · BACKEND</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Verifier verify bằng cách nào</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Verifier không chạy lại phép tính. Nó kiểm một bài toán đa thức tại một điểm ngẫu nhiên.</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14</a:t>
            </a:r>
          </a:p>
        </p:txBody>
      </p:sp>
      <p:sp>
        <p:nvSpPr>
          <p:cNvPr id="7" name="Rectangle 6"/>
          <p:cNvSpPr/>
          <p:nvPr/>
        </p:nvSpPr>
        <p:spPr>
          <a:xfrm>
            <a:off x="658368" y="2011680"/>
            <a:ext cx="6949440" cy="566928"/>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011680"/>
            <a:ext cx="38100" cy="56692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57984"/>
            <a:ext cx="274320" cy="274320"/>
          </a:xfrm>
          <a:prstGeom prst="rect">
            <a:avLst/>
          </a:prstGeom>
          <a:noFill/>
        </p:spPr>
        <p:txBody>
          <a:bodyPr wrap="square" lIns="0" rIns="0" tIns="0" bIns="0">
            <a:spAutoFit/>
          </a:bodyPr>
          <a:lstStyle/>
          <a:p>
            <a:r>
              <a:rPr sz="1300" b="1" i="0">
                <a:solidFill>
                  <a:srgbClr val="17605B"/>
                </a:solidFill>
                <a:latin typeface="Consolas"/>
              </a:rPr>
              <a:t>1</a:t>
            </a:r>
          </a:p>
        </p:txBody>
      </p:sp>
      <p:sp>
        <p:nvSpPr>
          <p:cNvPr id="10" name="TextBox 9"/>
          <p:cNvSpPr txBox="1"/>
          <p:nvPr/>
        </p:nvSpPr>
        <p:spPr>
          <a:xfrm>
            <a:off x="1133856" y="2157984"/>
            <a:ext cx="1600200" cy="274320"/>
          </a:xfrm>
          <a:prstGeom prst="rect">
            <a:avLst/>
          </a:prstGeom>
          <a:noFill/>
        </p:spPr>
        <p:txBody>
          <a:bodyPr wrap="square" lIns="0" rIns="0" tIns="0" bIns="0">
            <a:spAutoFit/>
          </a:bodyPr>
          <a:lstStyle/>
          <a:p>
            <a:r>
              <a:rPr sz="1200" b="1" i="0">
                <a:solidFill>
                  <a:srgbClr val="141821"/>
                </a:solidFill>
                <a:latin typeface="Segoe UI"/>
              </a:rPr>
              <a:t>Nhận ba thứ</a:t>
            </a:r>
          </a:p>
        </p:txBody>
      </p:sp>
      <p:sp>
        <p:nvSpPr>
          <p:cNvPr id="11" name="TextBox 10"/>
          <p:cNvSpPr txBox="1"/>
          <p:nvPr/>
        </p:nvSpPr>
        <p:spPr>
          <a:xfrm>
            <a:off x="2779776" y="2093976"/>
            <a:ext cx="4709160" cy="457200"/>
          </a:xfrm>
          <a:prstGeom prst="rect">
            <a:avLst/>
          </a:prstGeom>
          <a:noFill/>
        </p:spPr>
        <p:txBody>
          <a:bodyPr wrap="square" lIns="0" rIns="0" tIns="0" bIns="0">
            <a:spAutoFit/>
          </a:bodyPr>
          <a:lstStyle/>
          <a:p>
            <a:pPr>
              <a:lnSpc>
                <a:spcPct val="114000"/>
              </a:lnSpc>
            </a:pPr>
            <a:r>
              <a:rPr sz="1100" b="0" i="0">
                <a:solidFill>
                  <a:srgbClr val="39424F"/>
                </a:solidFill>
                <a:latin typeface="Segoe UI"/>
              </a:rPr>
              <a:t>proof (2,8 MB STARK) · public values · vkey của chương trình</a:t>
            </a:r>
          </a:p>
        </p:txBody>
      </p:sp>
      <p:sp>
        <p:nvSpPr>
          <p:cNvPr id="12" name="Rectangle 11"/>
          <p:cNvSpPr/>
          <p:nvPr/>
        </p:nvSpPr>
        <p:spPr>
          <a:xfrm>
            <a:off x="658368" y="2670048"/>
            <a:ext cx="6949440" cy="566928"/>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670048"/>
            <a:ext cx="38100" cy="56692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16352"/>
            <a:ext cx="274320" cy="274320"/>
          </a:xfrm>
          <a:prstGeom prst="rect">
            <a:avLst/>
          </a:prstGeom>
          <a:noFill/>
        </p:spPr>
        <p:txBody>
          <a:bodyPr wrap="square" lIns="0" rIns="0" tIns="0" bIns="0">
            <a:spAutoFit/>
          </a:bodyPr>
          <a:lstStyle/>
          <a:p>
            <a:r>
              <a:rPr sz="1300" b="1" i="0">
                <a:solidFill>
                  <a:srgbClr val="17605B"/>
                </a:solidFill>
                <a:latin typeface="Consolas"/>
              </a:rPr>
              <a:t>2</a:t>
            </a:r>
          </a:p>
        </p:txBody>
      </p:sp>
      <p:sp>
        <p:nvSpPr>
          <p:cNvPr id="15" name="TextBox 14"/>
          <p:cNvSpPr txBox="1"/>
          <p:nvPr/>
        </p:nvSpPr>
        <p:spPr>
          <a:xfrm>
            <a:off x="1133856" y="2816352"/>
            <a:ext cx="1600200" cy="274320"/>
          </a:xfrm>
          <a:prstGeom prst="rect">
            <a:avLst/>
          </a:prstGeom>
          <a:noFill/>
        </p:spPr>
        <p:txBody>
          <a:bodyPr wrap="square" lIns="0" rIns="0" tIns="0" bIns="0">
            <a:spAutoFit/>
          </a:bodyPr>
          <a:lstStyle/>
          <a:p>
            <a:r>
              <a:rPr sz="1200" b="1" i="0">
                <a:solidFill>
                  <a:srgbClr val="141821"/>
                </a:solidFill>
                <a:latin typeface="Segoe UI"/>
              </a:rPr>
              <a:t>Kiểm vkey</a:t>
            </a:r>
          </a:p>
        </p:txBody>
      </p:sp>
      <p:sp>
        <p:nvSpPr>
          <p:cNvPr id="16" name="TextBox 15"/>
          <p:cNvSpPr txBox="1"/>
          <p:nvPr/>
        </p:nvSpPr>
        <p:spPr>
          <a:xfrm>
            <a:off x="2779776" y="2752344"/>
            <a:ext cx="4709160" cy="457200"/>
          </a:xfrm>
          <a:prstGeom prst="rect">
            <a:avLst/>
          </a:prstGeom>
          <a:noFill/>
        </p:spPr>
        <p:txBody>
          <a:bodyPr wrap="square" lIns="0" rIns="0" tIns="0" bIns="0">
            <a:spAutoFit/>
          </a:bodyPr>
          <a:lstStyle/>
          <a:p>
            <a:pPr>
              <a:lnSpc>
                <a:spcPct val="114000"/>
              </a:lnSpc>
            </a:pPr>
            <a:r>
              <a:rPr sz="1100" b="0" i="0">
                <a:solidFill>
                  <a:srgbClr val="39424F"/>
                </a:solidFill>
                <a:latin typeface="Segoe UI"/>
              </a:rPr>
              <a:t>vkey có đúng là của quan hệ training_fragment không — chặn việc đổi sang một chương trình dễ hơn</a:t>
            </a:r>
          </a:p>
        </p:txBody>
      </p:sp>
      <p:sp>
        <p:nvSpPr>
          <p:cNvPr id="17" name="Rectangle 16"/>
          <p:cNvSpPr/>
          <p:nvPr/>
        </p:nvSpPr>
        <p:spPr>
          <a:xfrm>
            <a:off x="658368" y="3328416"/>
            <a:ext cx="6949440" cy="566928"/>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28416"/>
            <a:ext cx="38100" cy="56692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474720"/>
            <a:ext cx="274320" cy="274320"/>
          </a:xfrm>
          <a:prstGeom prst="rect">
            <a:avLst/>
          </a:prstGeom>
          <a:noFill/>
        </p:spPr>
        <p:txBody>
          <a:bodyPr wrap="square" lIns="0" rIns="0" tIns="0" bIns="0">
            <a:spAutoFit/>
          </a:bodyPr>
          <a:lstStyle/>
          <a:p>
            <a:r>
              <a:rPr sz="1300" b="1" i="0">
                <a:solidFill>
                  <a:srgbClr val="17605B"/>
                </a:solidFill>
                <a:latin typeface="Consolas"/>
              </a:rPr>
              <a:t>3</a:t>
            </a:r>
          </a:p>
        </p:txBody>
      </p:sp>
      <p:sp>
        <p:nvSpPr>
          <p:cNvPr id="20" name="TextBox 19"/>
          <p:cNvSpPr txBox="1"/>
          <p:nvPr/>
        </p:nvSpPr>
        <p:spPr>
          <a:xfrm>
            <a:off x="1133856" y="3474720"/>
            <a:ext cx="1600200" cy="274320"/>
          </a:xfrm>
          <a:prstGeom prst="rect">
            <a:avLst/>
          </a:prstGeom>
          <a:noFill/>
        </p:spPr>
        <p:txBody>
          <a:bodyPr wrap="square" lIns="0" rIns="0" tIns="0" bIns="0">
            <a:spAutoFit/>
          </a:bodyPr>
          <a:lstStyle/>
          <a:p>
            <a:r>
              <a:rPr sz="1200" b="1" i="0">
                <a:solidFill>
                  <a:srgbClr val="141821"/>
                </a:solidFill>
                <a:latin typeface="Segoe UI"/>
              </a:rPr>
              <a:t>Kiểm cam kết</a:t>
            </a:r>
          </a:p>
        </p:txBody>
      </p:sp>
      <p:sp>
        <p:nvSpPr>
          <p:cNvPr id="21" name="TextBox 20"/>
          <p:cNvSpPr txBox="1"/>
          <p:nvPr/>
        </p:nvSpPr>
        <p:spPr>
          <a:xfrm>
            <a:off x="2779776" y="3410712"/>
            <a:ext cx="4709160" cy="457200"/>
          </a:xfrm>
          <a:prstGeom prst="rect">
            <a:avLst/>
          </a:prstGeom>
          <a:noFill/>
        </p:spPr>
        <p:txBody>
          <a:bodyPr wrap="square" lIns="0" rIns="0" tIns="0" bIns="0">
            <a:spAutoFit/>
          </a:bodyPr>
          <a:lstStyle/>
          <a:p>
            <a:pPr>
              <a:lnSpc>
                <a:spcPct val="114000"/>
              </a:lnSpc>
            </a:pPr>
            <a:r>
              <a:rPr sz="1100" b="0" i="0">
                <a:solidFill>
                  <a:srgbClr val="39424F"/>
                </a:solidFill>
                <a:latin typeface="Segoe UI"/>
              </a:rPr>
              <a:t>các đa thức đã được niêm phong bằng cây Merkle + FRI, trước khi biết điểm kiểm</a:t>
            </a:r>
          </a:p>
        </p:txBody>
      </p:sp>
      <p:sp>
        <p:nvSpPr>
          <p:cNvPr id="22" name="Rectangle 21"/>
          <p:cNvSpPr/>
          <p:nvPr/>
        </p:nvSpPr>
        <p:spPr>
          <a:xfrm>
            <a:off x="658368" y="3986784"/>
            <a:ext cx="6949440" cy="566928"/>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986784"/>
            <a:ext cx="38100" cy="56692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133088"/>
            <a:ext cx="274320" cy="274320"/>
          </a:xfrm>
          <a:prstGeom prst="rect">
            <a:avLst/>
          </a:prstGeom>
          <a:noFill/>
        </p:spPr>
        <p:txBody>
          <a:bodyPr wrap="square" lIns="0" rIns="0" tIns="0" bIns="0">
            <a:spAutoFit/>
          </a:bodyPr>
          <a:lstStyle/>
          <a:p>
            <a:r>
              <a:rPr sz="1300" b="1" i="0">
                <a:solidFill>
                  <a:srgbClr val="17605B"/>
                </a:solidFill>
                <a:latin typeface="Consolas"/>
              </a:rPr>
              <a:t>4</a:t>
            </a:r>
          </a:p>
        </p:txBody>
      </p:sp>
      <p:sp>
        <p:nvSpPr>
          <p:cNvPr id="25" name="TextBox 24"/>
          <p:cNvSpPr txBox="1"/>
          <p:nvPr/>
        </p:nvSpPr>
        <p:spPr>
          <a:xfrm>
            <a:off x="1133856" y="4133088"/>
            <a:ext cx="1600200" cy="274320"/>
          </a:xfrm>
          <a:prstGeom prst="rect">
            <a:avLst/>
          </a:prstGeom>
          <a:noFill/>
        </p:spPr>
        <p:txBody>
          <a:bodyPr wrap="square" lIns="0" rIns="0" tIns="0" bIns="0">
            <a:spAutoFit/>
          </a:bodyPr>
          <a:lstStyle/>
          <a:p>
            <a:r>
              <a:rPr sz="1200" b="1" i="0">
                <a:solidFill>
                  <a:srgbClr val="141821"/>
                </a:solidFill>
                <a:latin typeface="Segoe UI"/>
              </a:rPr>
              <a:t>Sinh điểm ngẫu nhiên</a:t>
            </a:r>
          </a:p>
        </p:txBody>
      </p:sp>
      <p:sp>
        <p:nvSpPr>
          <p:cNvPr id="26" name="TextBox 25"/>
          <p:cNvSpPr txBox="1"/>
          <p:nvPr/>
        </p:nvSpPr>
        <p:spPr>
          <a:xfrm>
            <a:off x="2779776" y="4069080"/>
            <a:ext cx="4709160" cy="457200"/>
          </a:xfrm>
          <a:prstGeom prst="rect">
            <a:avLst/>
          </a:prstGeom>
          <a:noFill/>
        </p:spPr>
        <p:txBody>
          <a:bodyPr wrap="square" lIns="0" rIns="0" tIns="0" bIns="0">
            <a:spAutoFit/>
          </a:bodyPr>
          <a:lstStyle/>
          <a:p>
            <a:pPr>
              <a:lnSpc>
                <a:spcPct val="114000"/>
              </a:lnSpc>
            </a:pPr>
            <a:r>
              <a:rPr sz="1100" b="0" i="0">
                <a:solidFill>
                  <a:srgbClr val="39424F"/>
                </a:solidFill>
                <a:latin typeface="Segoe UI"/>
              </a:rPr>
              <a:t>Fiat–Shamir: điểm rút ra từ chính hash của cam kết, nên prover không đoán trước được</a:t>
            </a:r>
          </a:p>
        </p:txBody>
      </p:sp>
      <p:sp>
        <p:nvSpPr>
          <p:cNvPr id="27" name="Rectangle 26"/>
          <p:cNvSpPr/>
          <p:nvPr/>
        </p:nvSpPr>
        <p:spPr>
          <a:xfrm>
            <a:off x="658368" y="4645152"/>
            <a:ext cx="6949440" cy="566928"/>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645152"/>
            <a:ext cx="38100" cy="56692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791456"/>
            <a:ext cx="274320" cy="274320"/>
          </a:xfrm>
          <a:prstGeom prst="rect">
            <a:avLst/>
          </a:prstGeom>
          <a:noFill/>
        </p:spPr>
        <p:txBody>
          <a:bodyPr wrap="square" lIns="0" rIns="0" tIns="0" bIns="0">
            <a:spAutoFit/>
          </a:bodyPr>
          <a:lstStyle/>
          <a:p>
            <a:r>
              <a:rPr sz="1300" b="1" i="0">
                <a:solidFill>
                  <a:srgbClr val="17605B"/>
                </a:solidFill>
                <a:latin typeface="Consolas"/>
              </a:rPr>
              <a:t>5</a:t>
            </a:r>
          </a:p>
        </p:txBody>
      </p:sp>
      <p:sp>
        <p:nvSpPr>
          <p:cNvPr id="30" name="TextBox 29"/>
          <p:cNvSpPr txBox="1"/>
          <p:nvPr/>
        </p:nvSpPr>
        <p:spPr>
          <a:xfrm>
            <a:off x="1133856" y="4791456"/>
            <a:ext cx="1600200" cy="274320"/>
          </a:xfrm>
          <a:prstGeom prst="rect">
            <a:avLst/>
          </a:prstGeom>
          <a:noFill/>
        </p:spPr>
        <p:txBody>
          <a:bodyPr wrap="square" lIns="0" rIns="0" tIns="0" bIns="0">
            <a:spAutoFit/>
          </a:bodyPr>
          <a:lstStyle/>
          <a:p>
            <a:r>
              <a:rPr sz="1200" b="1" i="0">
                <a:solidFill>
                  <a:srgbClr val="141821"/>
                </a:solidFill>
                <a:latin typeface="Segoe UI"/>
              </a:rPr>
              <a:t>Đánh giá tại điểm đó</a:t>
            </a:r>
          </a:p>
        </p:txBody>
      </p:sp>
      <p:sp>
        <p:nvSpPr>
          <p:cNvPr id="31" name="TextBox 30"/>
          <p:cNvSpPr txBox="1"/>
          <p:nvPr/>
        </p:nvSpPr>
        <p:spPr>
          <a:xfrm>
            <a:off x="2779776" y="4727448"/>
            <a:ext cx="4709160" cy="457200"/>
          </a:xfrm>
          <a:prstGeom prst="rect">
            <a:avLst/>
          </a:prstGeom>
          <a:noFill/>
        </p:spPr>
        <p:txBody>
          <a:bodyPr wrap="square" lIns="0" rIns="0" tIns="0" bIns="0">
            <a:spAutoFit/>
          </a:bodyPr>
          <a:lstStyle/>
          <a:p>
            <a:pPr>
              <a:lnSpc>
                <a:spcPct val="114000"/>
              </a:lnSpc>
            </a:pPr>
            <a:r>
              <a:rPr sz="1100" b="0" i="0">
                <a:solidFill>
                  <a:srgbClr val="39424F"/>
                </a:solidFill>
                <a:latin typeface="Segoe UI"/>
              </a:rPr>
              <a:t>nếu witness đúng thì đa thức tổ hợp triệt tiêu; nếu sai thì không — hai đa thức bậc d chỉ trùng tại nhiều nhất d điểm</a:t>
            </a:r>
          </a:p>
        </p:txBody>
      </p:sp>
      <p:sp>
        <p:nvSpPr>
          <p:cNvPr id="32" name="Rectangle 31"/>
          <p:cNvSpPr/>
          <p:nvPr/>
        </p:nvSpPr>
        <p:spPr>
          <a:xfrm>
            <a:off x="658368" y="5303520"/>
            <a:ext cx="6949440" cy="566928"/>
          </a:xfrm>
          <a:prstGeom prst="rect">
            <a:avLst/>
          </a:prstGeom>
          <a:solidFill>
            <a:srgbClr val="FFFFFF"/>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303520"/>
            <a:ext cx="38100" cy="56692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449824"/>
            <a:ext cx="274320" cy="274320"/>
          </a:xfrm>
          <a:prstGeom prst="rect">
            <a:avLst/>
          </a:prstGeom>
          <a:noFill/>
        </p:spPr>
        <p:txBody>
          <a:bodyPr wrap="square" lIns="0" rIns="0" tIns="0" bIns="0">
            <a:spAutoFit/>
          </a:bodyPr>
          <a:lstStyle/>
          <a:p>
            <a:r>
              <a:rPr sz="1300" b="1" i="0">
                <a:solidFill>
                  <a:srgbClr val="17605B"/>
                </a:solidFill>
                <a:latin typeface="Consolas"/>
              </a:rPr>
              <a:t>6</a:t>
            </a:r>
          </a:p>
        </p:txBody>
      </p:sp>
      <p:sp>
        <p:nvSpPr>
          <p:cNvPr id="35" name="TextBox 34"/>
          <p:cNvSpPr txBox="1"/>
          <p:nvPr/>
        </p:nvSpPr>
        <p:spPr>
          <a:xfrm>
            <a:off x="1133856" y="5449824"/>
            <a:ext cx="1600200" cy="274320"/>
          </a:xfrm>
          <a:prstGeom prst="rect">
            <a:avLst/>
          </a:prstGeom>
          <a:noFill/>
        </p:spPr>
        <p:txBody>
          <a:bodyPr wrap="square" lIns="0" rIns="0" tIns="0" bIns="0">
            <a:spAutoFit/>
          </a:bodyPr>
          <a:lstStyle/>
          <a:p>
            <a:r>
              <a:rPr sz="1200" b="1" i="0">
                <a:solidFill>
                  <a:srgbClr val="141821"/>
                </a:solidFill>
                <a:latin typeface="Segoe UI"/>
              </a:rPr>
              <a:t>Đọc public values</a:t>
            </a:r>
          </a:p>
        </p:txBody>
      </p:sp>
      <p:sp>
        <p:nvSpPr>
          <p:cNvPr id="36" name="TextBox 35"/>
          <p:cNvSpPr txBox="1"/>
          <p:nvPr/>
        </p:nvSpPr>
        <p:spPr>
          <a:xfrm>
            <a:off x="2779776" y="5385816"/>
            <a:ext cx="4709160" cy="457200"/>
          </a:xfrm>
          <a:prstGeom prst="rect">
            <a:avLst/>
          </a:prstGeom>
          <a:noFill/>
        </p:spPr>
        <p:txBody>
          <a:bodyPr wrap="square" lIns="0" rIns="0" tIns="0" bIns="0">
            <a:spAutoFit/>
          </a:bodyPr>
          <a:lstStyle/>
          <a:p>
            <a:pPr>
              <a:lnSpc>
                <a:spcPct val="114000"/>
              </a:lnSpc>
            </a:pPr>
            <a:r>
              <a:rPr sz="1100" b="0" i="0">
                <a:solidFill>
                  <a:srgbClr val="39424F"/>
                </a:solidFill>
                <a:latin typeface="Segoe UI"/>
              </a:rPr>
              <a:t>so dataset_root, siêu tham số, checkpoint đầu/cuối với hồ sơ đã đăng ký</a:t>
            </a:r>
          </a:p>
        </p:txBody>
      </p:sp>
      <p:sp>
        <p:nvSpPr>
          <p:cNvPr id="37" name="TextBox 36"/>
          <p:cNvSpPr txBox="1"/>
          <p:nvPr/>
        </p:nvSpPr>
        <p:spPr>
          <a:xfrm>
            <a:off x="8129016" y="2139696"/>
            <a:ext cx="320954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CHỈ MẤT 54 MILI GIÂY</a:t>
            </a:r>
          </a:p>
          <a:p>
            <a:pPr>
              <a:lnSpc>
                <a:spcPct val="122000"/>
              </a:lnSpc>
            </a:pPr>
            <a:r>
              <a:rPr sz="1250" b="0" i="0">
                <a:solidFill>
                  <a:srgbClr val="39424F"/>
                </a:solidFill>
                <a:latin typeface="Segoe UI"/>
              </a:rPr>
              <a:t>Verifier </a:t>
            </a:r>
            <a:r>
              <a:rPr sz="1250" b="1" i="0">
                <a:solidFill>
                  <a:srgbClr val="141821"/>
                </a:solidFill>
                <a:latin typeface="Segoe UI"/>
              </a:rPr>
              <a:t>không quan sát chương trình chạy</a:t>
            </a:r>
            <a:r>
              <a:rPr sz="1250" b="0" i="0">
                <a:solidFill>
                  <a:srgbClr val="39424F"/>
                </a:solidFill>
                <a:latin typeface="Segoe UI"/>
              </a:rPr>
              <a:t>. Phép tính đã được biến thành một bài toán đa thức, và bài toán đó chỉ cần kiểm </a:t>
            </a:r>
            <a:r>
              <a:rPr sz="1250" b="1" i="0">
                <a:solidFill>
                  <a:srgbClr val="141821"/>
                </a:solidFill>
                <a:latin typeface="Segoe UI"/>
              </a:rPr>
              <a:t>tại một điểm</a:t>
            </a:r>
            <a:r>
              <a:rPr sz="1250" b="0" i="0">
                <a:solidFill>
                  <a:srgbClr val="39424F"/>
                </a:solidFill>
                <a:latin typeface="Segoe UI"/>
              </a:rPr>
              <a:t>.</a:t>
            </a:r>
          </a:p>
        </p:txBody>
      </p:sp>
      <p:sp>
        <p:nvSpPr>
          <p:cNvPr id="40" name="TextBox 39"/>
          <p:cNvSpPr txBox="1"/>
          <p:nvPr/>
        </p:nvSpPr>
        <p:spPr>
          <a:xfrm>
            <a:off x="8129016" y="3630420"/>
            <a:ext cx="320954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BƯỚC 6 MỚI LÀ BƯỚC CÓ Ý NGHĨA PHÁP LÝ</a:t>
            </a:r>
          </a:p>
          <a:p>
            <a:pPr>
              <a:lnSpc>
                <a:spcPct val="122000"/>
              </a:lnSpc>
            </a:pPr>
            <a:r>
              <a:rPr sz="1250" b="0" i="0">
                <a:solidFill>
                  <a:srgbClr val="39424F"/>
                </a:solidFill>
                <a:latin typeface="Segoe UI"/>
              </a:rPr>
              <a:t>Năm bước đầu nói “phép tính đã chạy đúng”. Bước 6 nói “và nó chạy trên đúng dữ liệu, đúng tham số anh đã đăng ký”.</a:t>
            </a:r>
          </a:p>
        </p:txBody>
      </p:sp>
      <p:sp>
        <p:nvSpPr>
          <p:cNvPr id="43" name="TextBox 42"/>
          <p:cNvSpPr txBox="1"/>
          <p:nvPr/>
        </p:nvSpPr>
        <p:spPr>
          <a:xfrm>
            <a:off x="8129016" y="4906832"/>
            <a:ext cx="320954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GIẢ MẠO KHÔNG TỚI ĐƯỢC ĐÂY</a:t>
            </a:r>
          </a:p>
          <a:p>
            <a:pPr>
              <a:lnSpc>
                <a:spcPct val="122000"/>
              </a:lnSpc>
            </a:pPr>
            <a:r>
              <a:rPr sz="1250" b="0" i="0">
                <a:solidFill>
                  <a:srgbClr val="39424F"/>
                </a:solidFill>
                <a:latin typeface="Segoe UI"/>
              </a:rPr>
              <a:t>Guest </a:t>
            </a:r>
            <a:r>
              <a:rPr sz="1250" b="1" i="0">
                <a:solidFill>
                  <a:srgbClr val="141821"/>
                </a:solidFill>
                <a:latin typeface="Segoe UI"/>
              </a:rPr>
              <a:t>panic khi execute</a:t>
            </a:r>
            <a:r>
              <a:rPr sz="1250" b="0" i="0">
                <a:solidFill>
                  <a:srgbClr val="39424F"/>
                </a:solidFill>
                <a:latin typeface="Segoe UI"/>
              </a:rPr>
              <a:t> (exit 101) trước cả bước prove. Không phải “sinh proof rồi verify từ chối” — mà là </a:t>
            </a:r>
            <a:r>
              <a:rPr sz="1250" b="1" i="0">
                <a:solidFill>
                  <a:srgbClr val="141821"/>
                </a:solidFill>
                <a:latin typeface="Segoe UI"/>
              </a:rPr>
              <a:t>không sinh được</a:t>
            </a:r>
            <a:r>
              <a:rPr sz="1250" b="0" i="0">
                <a:solidFill>
                  <a:srgbClr val="39424F"/>
                </a:solidFill>
                <a:latin typeface="Segoe U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Rectangle 17"/>
          <p:cNvSpPr/>
          <p:nvPr/>
        </p:nvSpPr>
        <p:spPr>
          <a:xfrm>
            <a:off x="7818120" y="5042596"/>
            <a:ext cx="3703320" cy="1056956"/>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18120" y="5042596"/>
            <a:ext cx="38100" cy="1056956"/>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8120" y="3337560"/>
            <a:ext cx="3703320" cy="1485580"/>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337560"/>
            <a:ext cx="38100" cy="148558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KẾT QUẢ · BẢNG 2</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Bảng 2 — Chi phí chứng minh</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26 cấu hình proof-verified, tất cả dưới prover CUDA trên g5.2xlarge.</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15</a:t>
            </a:r>
          </a:p>
        </p:txBody>
      </p:sp>
      <p:graphicFrame>
        <p:nvGraphicFramePr>
          <p:cNvPr id="7" name="Table 6"/>
          <p:cNvGraphicFramePr>
            <a:graphicFrameLocks noGrp="1"/>
          </p:cNvGraphicFramePr>
          <p:nvPr/>
        </p:nvGraphicFramePr>
        <p:xfrm>
          <a:off x="658368" y="2057400"/>
          <a:ext cx="6949437" cy="4096512"/>
        </p:xfrm>
        <a:graphic>
          <a:graphicData uri="http://schemas.openxmlformats.org/drawingml/2006/table">
            <a:tbl>
              <a:tblPr bandRow="1">
                <a:tableStyleId>{5C22544A-7EE6-4342-B048-85BDC9FD1C3A}</a:tableStyleId>
              </a:tblPr>
              <a:tblGrid>
                <a:gridCol w="1667865"/>
                <a:gridCol w="1389888"/>
                <a:gridCol w="833932"/>
                <a:gridCol w="833932"/>
                <a:gridCol w="1389888"/>
                <a:gridCol w="833932"/>
              </a:tblGrid>
              <a:tr h="292608">
                <a:tc>
                  <a:txBody>
                    <a:bodyPr/>
                    <a:lstStyle/>
                    <a:p>
                      <a:r>
                        <a:rPr sz="850" b="1" i="0">
                          <a:solidFill>
                            <a:srgbClr val="6B7581"/>
                          </a:solidFill>
                          <a:latin typeface="Segoe UI"/>
                        </a:rPr>
                        <a:t>QUAN HỆ</a:t>
                      </a:r>
                    </a:p>
                  </a:txBody>
                  <a:tcPr marL="64008" marR="64008" marT="27432" marB="27432" anchor="ctr">
                    <a:solidFill>
                      <a:srgbClr val="FFFFFF"/>
                    </a:solidFill>
                  </a:tcPr>
                </a:tc>
                <a:tc>
                  <a:txBody>
                    <a:bodyPr/>
                    <a:lstStyle/>
                    <a:p>
                      <a:pPr algn="r"/>
                      <a:r>
                        <a:rPr sz="850" b="1" i="0">
                          <a:solidFill>
                            <a:srgbClr val="6B7581"/>
                          </a:solidFill>
                          <a:latin typeface="Segoe UI"/>
                        </a:rPr>
                        <a:t>CYCLES</a:t>
                      </a:r>
                    </a:p>
                  </a:txBody>
                  <a:tcPr marL="64008" marR="64008" marT="27432" marB="27432" anchor="ctr">
                    <a:solidFill>
                      <a:srgbClr val="FFFFFF"/>
                    </a:solidFill>
                  </a:tcPr>
                </a:tc>
                <a:tc>
                  <a:txBody>
                    <a:bodyPr/>
                    <a:lstStyle/>
                    <a:p>
                      <a:pPr algn="r"/>
                      <a:r>
                        <a:rPr sz="850" b="1" i="0">
                          <a:solidFill>
                            <a:srgbClr val="6B7581"/>
                          </a:solidFill>
                          <a:latin typeface="Segoe UI"/>
                        </a:rPr>
                        <a:t>PROVE (S)</a:t>
                      </a:r>
                    </a:p>
                  </a:txBody>
                  <a:tcPr marL="64008" marR="64008" marT="27432" marB="27432" anchor="ctr">
                    <a:solidFill>
                      <a:srgbClr val="FFFFFF"/>
                    </a:solidFill>
                  </a:tcPr>
                </a:tc>
                <a:tc>
                  <a:txBody>
                    <a:bodyPr/>
                    <a:lstStyle/>
                    <a:p>
                      <a:pPr algn="r"/>
                      <a:r>
                        <a:rPr sz="850" b="1" i="0">
                          <a:solidFill>
                            <a:srgbClr val="6B7581"/>
                          </a:solidFill>
                          <a:latin typeface="Segoe UI"/>
                        </a:rPr>
                        <a:t>VERIFY (S)</a:t>
                      </a:r>
                    </a:p>
                  </a:txBody>
                  <a:tcPr marL="64008" marR="64008" marT="27432" marB="27432" anchor="ctr">
                    <a:solidFill>
                      <a:srgbClr val="FFFFFF"/>
                    </a:solidFill>
                  </a:tcPr>
                </a:tc>
                <a:tc>
                  <a:txBody>
                    <a:bodyPr/>
                    <a:lstStyle/>
                    <a:p>
                      <a:pPr algn="r"/>
                      <a:r>
                        <a:rPr sz="850" b="1" i="0">
                          <a:solidFill>
                            <a:srgbClr val="6B7581"/>
                          </a:solidFill>
                          <a:latin typeface="Segoe UI"/>
                        </a:rPr>
                        <a:t>PROOF (B)</a:t>
                      </a:r>
                    </a:p>
                  </a:txBody>
                  <a:tcPr marL="64008" marR="64008" marT="27432" marB="27432" anchor="ctr">
                    <a:solidFill>
                      <a:srgbClr val="FFFFFF"/>
                    </a:solidFill>
                  </a:tcPr>
                </a:tc>
                <a:tc>
                  <a:txBody>
                    <a:bodyPr/>
                    <a:lstStyle/>
                    <a:p>
                      <a:r>
                        <a:rPr sz="850" b="1" i="0">
                          <a:solidFill>
                            <a:srgbClr val="6B7581"/>
                          </a:solidFill>
                          <a:latin typeface="Segoe UI"/>
                        </a:rPr>
                        <a:t>PROVER</a:t>
                      </a:r>
                    </a:p>
                  </a:txBody>
                  <a:tcPr marL="64008" marR="64008" marT="27432" marB="27432" anchor="ctr">
                    <a:solidFill>
                      <a:srgbClr val="FFFFFF"/>
                    </a:solidFill>
                  </a:tcPr>
                </a:tc>
              </a:tr>
              <a:tr h="292608">
                <a:tc>
                  <a:txBody>
                    <a:bodyPr/>
                    <a:lstStyle/>
                    <a:p>
                      <a:r>
                        <a:rPr sz="1000" b="0" i="0">
                          <a:solidFill>
                            <a:srgbClr val="39424F"/>
                          </a:solidFill>
                          <a:latin typeface="Segoe UI"/>
                        </a:rPr>
                        <a:t>TD MVP</a:t>
                      </a:r>
                    </a:p>
                  </a:txBody>
                  <a:tcPr marL="64008" marR="64008" marT="27432" marB="27432" anchor="ctr">
                    <a:solidFill>
                      <a:srgbClr val="FFFFFF"/>
                    </a:solidFill>
                  </a:tcPr>
                </a:tc>
                <a:tc>
                  <a:txBody>
                    <a:bodyPr/>
                    <a:lstStyle/>
                    <a:p>
                      <a:pPr algn="r"/>
                      <a:r>
                        <a:rPr sz="1000" b="0" i="0">
                          <a:solidFill>
                            <a:srgbClr val="39424F"/>
                          </a:solidFill>
                          <a:latin typeface="Consolas"/>
                        </a:rPr>
                        <a:t>434.785</a:t>
                      </a:r>
                    </a:p>
                  </a:txBody>
                  <a:tcPr marL="64008" marR="64008" marT="27432" marB="27432" anchor="ctr">
                    <a:solidFill>
                      <a:srgbClr val="FFFFFF"/>
                    </a:solidFill>
                  </a:tcPr>
                </a:tc>
                <a:tc>
                  <a:txBody>
                    <a:bodyPr/>
                    <a:lstStyle/>
                    <a:p>
                      <a:pPr algn="r"/>
                      <a:r>
                        <a:rPr sz="1000" b="0" i="0">
                          <a:solidFill>
                            <a:srgbClr val="39424F"/>
                          </a:solidFill>
                          <a:latin typeface="Consolas"/>
                        </a:rPr>
                        <a:t>1,0</a:t>
                      </a:r>
                    </a:p>
                  </a:txBody>
                  <a:tcPr marL="64008" marR="64008" marT="27432" marB="27432" anchor="ctr">
                    <a:solidFill>
                      <a:srgbClr val="FFFFFF"/>
                    </a:solidFill>
                  </a:tcPr>
                </a:tc>
                <a:tc>
                  <a:txBody>
                    <a:bodyPr/>
                    <a:lstStyle/>
                    <a:p>
                      <a:pPr algn="r"/>
                      <a:r>
                        <a:rPr sz="1000" b="0" i="0">
                          <a:solidFill>
                            <a:srgbClr val="39424F"/>
                          </a:solidFill>
                          <a:latin typeface="Consolas"/>
                        </a:rPr>
                        <a:t>0,126</a:t>
                      </a:r>
                    </a:p>
                  </a:txBody>
                  <a:tcPr marL="64008" marR="64008" marT="27432" marB="27432" anchor="ctr">
                    <a:solidFill>
                      <a:srgbClr val="FFFFFF"/>
                    </a:solidFill>
                  </a:tcPr>
                </a:tc>
                <a:tc>
                  <a:txBody>
                    <a:bodyPr/>
                    <a:lstStyle/>
                    <a:p>
                      <a:pPr algn="r"/>
                      <a:r>
                        <a:rPr sz="1000" b="0" i="0">
                          <a:solidFill>
                            <a:srgbClr val="39424F"/>
                          </a:solidFill>
                          <a:latin typeface="Consolas"/>
                        </a:rPr>
                        <a:t>2.783.869</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Merkle (canonical)</a:t>
                      </a:r>
                    </a:p>
                  </a:txBody>
                  <a:tcPr marL="64008" marR="64008" marT="27432" marB="27432" anchor="ctr">
                    <a:solidFill>
                      <a:srgbClr val="FFFFFF"/>
                    </a:solidFill>
                  </a:tcPr>
                </a:tc>
                <a:tc>
                  <a:txBody>
                    <a:bodyPr/>
                    <a:lstStyle/>
                    <a:p>
                      <a:pPr algn="r"/>
                      <a:r>
                        <a:rPr sz="1000" b="0" i="0">
                          <a:solidFill>
                            <a:srgbClr val="39424F"/>
                          </a:solidFill>
                          <a:latin typeface="Consolas"/>
                        </a:rPr>
                        <a:t>116.750</a:t>
                      </a:r>
                    </a:p>
                  </a:txBody>
                  <a:tcPr marL="64008" marR="64008" marT="27432" marB="27432" anchor="ctr">
                    <a:solidFill>
                      <a:srgbClr val="FFFFFF"/>
                    </a:solidFill>
                  </a:tcPr>
                </a:tc>
                <a:tc>
                  <a:txBody>
                    <a:bodyPr/>
                    <a:lstStyle/>
                    <a:p>
                      <a:pPr algn="r"/>
                      <a:r>
                        <a:rPr sz="1000" b="0" i="0">
                          <a:solidFill>
                            <a:srgbClr val="39424F"/>
                          </a:solidFill>
                          <a:latin typeface="Consolas"/>
                        </a:rPr>
                        <a:t>0,9</a:t>
                      </a:r>
                    </a:p>
                  </a:txBody>
                  <a:tcPr marL="64008" marR="64008" marT="27432" marB="27432" anchor="ctr">
                    <a:solidFill>
                      <a:srgbClr val="FFFFFF"/>
                    </a:solidFill>
                  </a:tcPr>
                </a:tc>
                <a:tc>
                  <a:txBody>
                    <a:bodyPr/>
                    <a:lstStyle/>
                    <a:p>
                      <a:pPr algn="r"/>
                      <a:r>
                        <a:rPr sz="1000" b="0" i="0">
                          <a:solidFill>
                            <a:srgbClr val="39424F"/>
                          </a:solidFill>
                          <a:latin typeface="Consolas"/>
                        </a:rPr>
                        <a:t>0,125</a:t>
                      </a:r>
                    </a:p>
                  </a:txBody>
                  <a:tcPr marL="64008" marR="64008" marT="27432" marB="27432" anchor="ctr">
                    <a:solidFill>
                      <a:srgbClr val="FFFFFF"/>
                    </a:solidFill>
                  </a:tcPr>
                </a:tc>
                <a:tc>
                  <a:txBody>
                    <a:bodyPr/>
                    <a:lstStyle/>
                    <a:p>
                      <a:pPr algn="r"/>
                      <a:r>
                        <a:rPr sz="1000" b="0" i="0">
                          <a:solidFill>
                            <a:srgbClr val="39424F"/>
                          </a:solidFill>
                          <a:latin typeface="Consolas"/>
                        </a:rPr>
                        <a:t>2.779.510</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Fwd-TD MLP</a:t>
                      </a:r>
                    </a:p>
                  </a:txBody>
                  <a:tcPr marL="64008" marR="64008" marT="27432" marB="27432" anchor="ctr">
                    <a:solidFill>
                      <a:srgbClr val="FFFFFF"/>
                    </a:solidFill>
                  </a:tcPr>
                </a:tc>
                <a:tc>
                  <a:txBody>
                    <a:bodyPr/>
                    <a:lstStyle/>
                    <a:p>
                      <a:pPr algn="r"/>
                      <a:r>
                        <a:rPr sz="1000" b="0" i="0">
                          <a:solidFill>
                            <a:srgbClr val="39424F"/>
                          </a:solidFill>
                          <a:latin typeface="Consolas"/>
                        </a:rPr>
                        <a:t>1.628.852</a:t>
                      </a:r>
                    </a:p>
                  </a:txBody>
                  <a:tcPr marL="64008" marR="64008" marT="27432" marB="27432" anchor="ctr">
                    <a:solidFill>
                      <a:srgbClr val="FFFFFF"/>
                    </a:solidFill>
                  </a:tcPr>
                </a:tc>
                <a:tc>
                  <a:txBody>
                    <a:bodyPr/>
                    <a:lstStyle/>
                    <a:p>
                      <a:pPr algn="r"/>
                      <a:r>
                        <a:rPr sz="1000" b="0" i="0">
                          <a:solidFill>
                            <a:srgbClr val="39424F"/>
                          </a:solidFill>
                          <a:latin typeface="Consolas"/>
                        </a:rPr>
                        <a:t>1,8</a:t>
                      </a:r>
                    </a:p>
                  </a:txBody>
                  <a:tcPr marL="64008" marR="64008" marT="27432" marB="27432" anchor="ctr">
                    <a:solidFill>
                      <a:srgbClr val="FFFFFF"/>
                    </a:solidFill>
                  </a:tcPr>
                </a:tc>
                <a:tc>
                  <a:txBody>
                    <a:bodyPr/>
                    <a:lstStyle/>
                    <a:p>
                      <a:pPr algn="r"/>
                      <a:r>
                        <a:rPr sz="1000" b="0" i="0">
                          <a:solidFill>
                            <a:srgbClr val="39424F"/>
                          </a:solidFill>
                          <a:latin typeface="Consolas"/>
                        </a:rPr>
                        <a:t>0,129</a:t>
                      </a:r>
                    </a:p>
                  </a:txBody>
                  <a:tcPr marL="64008" marR="64008" marT="27432" marB="27432" anchor="ctr">
                    <a:solidFill>
                      <a:srgbClr val="FFFFFF"/>
                    </a:solidFill>
                  </a:tcPr>
                </a:tc>
                <a:tc>
                  <a:txBody>
                    <a:bodyPr/>
                    <a:lstStyle/>
                    <a:p>
                      <a:pPr algn="r"/>
                      <a:r>
                        <a:rPr sz="1000" b="0" i="0">
                          <a:solidFill>
                            <a:srgbClr val="39424F"/>
                          </a:solidFill>
                          <a:latin typeface="Consolas"/>
                        </a:rPr>
                        <a:t>2.798.897</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One-step SGD tiny</a:t>
                      </a:r>
                    </a:p>
                  </a:txBody>
                  <a:tcPr marL="64008" marR="64008" marT="27432" marB="27432" anchor="ctr">
                    <a:solidFill>
                      <a:srgbClr val="FFFFFF"/>
                    </a:solidFill>
                  </a:tcPr>
                </a:tc>
                <a:tc>
                  <a:txBody>
                    <a:bodyPr/>
                    <a:lstStyle/>
                    <a:p>
                      <a:pPr algn="r"/>
                      <a:r>
                        <a:rPr sz="1000" b="0" i="0">
                          <a:solidFill>
                            <a:srgbClr val="39424F"/>
                          </a:solidFill>
                          <a:latin typeface="Consolas"/>
                        </a:rPr>
                        <a:t>928.948</a:t>
                      </a:r>
                    </a:p>
                  </a:txBody>
                  <a:tcPr marL="64008" marR="64008" marT="27432" marB="27432" anchor="ctr">
                    <a:solidFill>
                      <a:srgbClr val="FFFFFF"/>
                    </a:solidFill>
                  </a:tcPr>
                </a:tc>
                <a:tc>
                  <a:txBody>
                    <a:bodyPr/>
                    <a:lstStyle/>
                    <a:p>
                      <a:pPr algn="r"/>
                      <a:r>
                        <a:rPr sz="1000" b="0" i="0">
                          <a:solidFill>
                            <a:srgbClr val="39424F"/>
                          </a:solidFill>
                          <a:latin typeface="Consolas"/>
                        </a:rPr>
                        <a:t>1,3</a:t>
                      </a:r>
                    </a:p>
                  </a:txBody>
                  <a:tcPr marL="64008" marR="64008" marT="27432" marB="27432" anchor="ctr">
                    <a:solidFill>
                      <a:srgbClr val="FFFFFF"/>
                    </a:solidFill>
                  </a:tcPr>
                </a:tc>
                <a:tc>
                  <a:txBody>
                    <a:bodyPr/>
                    <a:lstStyle/>
                    <a:p>
                      <a:pPr algn="r"/>
                      <a:r>
                        <a:rPr sz="1000" b="0" i="0">
                          <a:solidFill>
                            <a:srgbClr val="39424F"/>
                          </a:solidFill>
                          <a:latin typeface="Consolas"/>
                        </a:rPr>
                        <a:t>0,127</a:t>
                      </a:r>
                    </a:p>
                  </a:txBody>
                  <a:tcPr marL="64008" marR="64008" marT="27432" marB="27432" anchor="ctr">
                    <a:solidFill>
                      <a:srgbClr val="FFFFFF"/>
                    </a:solidFill>
                  </a:tcPr>
                </a:tc>
                <a:tc>
                  <a:txBody>
                    <a:bodyPr/>
                    <a:lstStyle/>
                    <a:p>
                      <a:pPr algn="r"/>
                      <a:r>
                        <a:rPr sz="1000" b="0" i="0">
                          <a:solidFill>
                            <a:srgbClr val="39424F"/>
                          </a:solidFill>
                          <a:latin typeface="Consolas"/>
                        </a:rPr>
                        <a:t>2.790.551</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Training update</a:t>
                      </a:r>
                    </a:p>
                  </a:txBody>
                  <a:tcPr marL="64008" marR="64008" marT="27432" marB="27432" anchor="ctr">
                    <a:solidFill>
                      <a:srgbClr val="FFFFFF"/>
                    </a:solidFill>
                  </a:tcPr>
                </a:tc>
                <a:tc>
                  <a:txBody>
                    <a:bodyPr/>
                    <a:lstStyle/>
                    <a:p>
                      <a:pPr algn="r"/>
                      <a:r>
                        <a:rPr sz="1000" b="0" i="0">
                          <a:solidFill>
                            <a:srgbClr val="39424F"/>
                          </a:solidFill>
                          <a:latin typeface="Consolas"/>
                        </a:rPr>
                        <a:t>494.177</a:t>
                      </a:r>
                    </a:p>
                  </a:txBody>
                  <a:tcPr marL="64008" marR="64008" marT="27432" marB="27432" anchor="ctr">
                    <a:solidFill>
                      <a:srgbClr val="FFFFFF"/>
                    </a:solidFill>
                  </a:tcPr>
                </a:tc>
                <a:tc>
                  <a:txBody>
                    <a:bodyPr/>
                    <a:lstStyle/>
                    <a:p>
                      <a:pPr algn="r"/>
                      <a:r>
                        <a:rPr sz="1000" b="0" i="0">
                          <a:solidFill>
                            <a:srgbClr val="39424F"/>
                          </a:solidFill>
                          <a:latin typeface="Consolas"/>
                        </a:rPr>
                        <a:t>1,0</a:t>
                      </a:r>
                    </a:p>
                  </a:txBody>
                  <a:tcPr marL="64008" marR="64008" marT="27432" marB="27432" anchor="ctr">
                    <a:solidFill>
                      <a:srgbClr val="FFFFFF"/>
                    </a:solidFill>
                  </a:tcPr>
                </a:tc>
                <a:tc>
                  <a:txBody>
                    <a:bodyPr/>
                    <a:lstStyle/>
                    <a:p>
                      <a:pPr algn="r"/>
                      <a:r>
                        <a:rPr sz="1000" b="0" i="0">
                          <a:solidFill>
                            <a:srgbClr val="39424F"/>
                          </a:solidFill>
                          <a:latin typeface="Consolas"/>
                        </a:rPr>
                        <a:t>0,126</a:t>
                      </a:r>
                    </a:p>
                  </a:txBody>
                  <a:tcPr marL="64008" marR="64008" marT="27432" marB="27432" anchor="ctr">
                    <a:solidFill>
                      <a:srgbClr val="FFFFFF"/>
                    </a:solidFill>
                  </a:tcPr>
                </a:tc>
                <a:tc>
                  <a:txBody>
                    <a:bodyPr/>
                    <a:lstStyle/>
                    <a:p>
                      <a:pPr algn="r"/>
                      <a:r>
                        <a:rPr sz="1000" b="0" i="0">
                          <a:solidFill>
                            <a:srgbClr val="39424F"/>
                          </a:solidFill>
                          <a:latin typeface="Consolas"/>
                        </a:rPr>
                        <a:t>2.785.799</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Fragment k=1</a:t>
                      </a:r>
                    </a:p>
                  </a:txBody>
                  <a:tcPr marL="64008" marR="64008" marT="27432" marB="27432" anchor="ctr">
                    <a:solidFill>
                      <a:srgbClr val="FFFFFF"/>
                    </a:solidFill>
                  </a:tcPr>
                </a:tc>
                <a:tc>
                  <a:txBody>
                    <a:bodyPr/>
                    <a:lstStyle/>
                    <a:p>
                      <a:pPr algn="r"/>
                      <a:r>
                        <a:rPr sz="1000" b="0" i="0">
                          <a:solidFill>
                            <a:srgbClr val="39424F"/>
                          </a:solidFill>
                          <a:latin typeface="Consolas"/>
                        </a:rPr>
                        <a:t>935.015</a:t>
                      </a:r>
                    </a:p>
                  </a:txBody>
                  <a:tcPr marL="64008" marR="64008" marT="27432" marB="27432" anchor="ctr">
                    <a:solidFill>
                      <a:srgbClr val="FFFFFF"/>
                    </a:solidFill>
                  </a:tcPr>
                </a:tc>
                <a:tc>
                  <a:txBody>
                    <a:bodyPr/>
                    <a:lstStyle/>
                    <a:p>
                      <a:pPr algn="r"/>
                      <a:r>
                        <a:rPr sz="1000" b="0" i="0">
                          <a:solidFill>
                            <a:srgbClr val="39424F"/>
                          </a:solidFill>
                          <a:latin typeface="Consolas"/>
                        </a:rPr>
                        <a:t>1,6</a:t>
                      </a:r>
                    </a:p>
                  </a:txBody>
                  <a:tcPr marL="64008" marR="64008" marT="27432" marB="27432" anchor="ctr">
                    <a:solidFill>
                      <a:srgbClr val="FFFFFF"/>
                    </a:solidFill>
                  </a:tcPr>
                </a:tc>
                <a:tc>
                  <a:txBody>
                    <a:bodyPr/>
                    <a:lstStyle/>
                    <a:p>
                      <a:pPr algn="r"/>
                      <a:r>
                        <a:rPr sz="1000" b="0" i="0">
                          <a:solidFill>
                            <a:srgbClr val="39424F"/>
                          </a:solidFill>
                          <a:latin typeface="Consolas"/>
                        </a:rPr>
                        <a:t>0,127</a:t>
                      </a:r>
                    </a:p>
                  </a:txBody>
                  <a:tcPr marL="64008" marR="64008" marT="27432" marB="27432" anchor="ctr">
                    <a:solidFill>
                      <a:srgbClr val="FFFFFF"/>
                    </a:solidFill>
                  </a:tcPr>
                </a:tc>
                <a:tc>
                  <a:txBody>
                    <a:bodyPr/>
                    <a:lstStyle/>
                    <a:p>
                      <a:pPr algn="r"/>
                      <a:r>
                        <a:rPr sz="1000" b="0" i="0">
                          <a:solidFill>
                            <a:srgbClr val="39424F"/>
                          </a:solidFill>
                          <a:latin typeface="Consolas"/>
                        </a:rPr>
                        <a:t>2.791.999</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Fragment k=8</a:t>
                      </a:r>
                    </a:p>
                  </a:txBody>
                  <a:tcPr marL="64008" marR="64008" marT="27432" marB="27432" anchor="ctr">
                    <a:solidFill>
                      <a:srgbClr val="FFFFFF"/>
                    </a:solidFill>
                  </a:tcPr>
                </a:tc>
                <a:tc>
                  <a:txBody>
                    <a:bodyPr/>
                    <a:lstStyle/>
                    <a:p>
                      <a:pPr algn="r"/>
                      <a:r>
                        <a:rPr sz="1000" b="0" i="0">
                          <a:solidFill>
                            <a:srgbClr val="39424F"/>
                          </a:solidFill>
                          <a:latin typeface="Consolas"/>
                        </a:rPr>
                        <a:t>4.258.262</a:t>
                      </a:r>
                    </a:p>
                  </a:txBody>
                  <a:tcPr marL="64008" marR="64008" marT="27432" marB="27432" anchor="ctr">
                    <a:solidFill>
                      <a:srgbClr val="FFFFFF"/>
                    </a:solidFill>
                  </a:tcPr>
                </a:tc>
                <a:tc>
                  <a:txBody>
                    <a:bodyPr/>
                    <a:lstStyle/>
                    <a:p>
                      <a:pPr algn="r"/>
                      <a:r>
                        <a:rPr sz="1000" b="0" i="0">
                          <a:solidFill>
                            <a:srgbClr val="39424F"/>
                          </a:solidFill>
                          <a:latin typeface="Consolas"/>
                        </a:rPr>
                        <a:t>3,3</a:t>
                      </a:r>
                    </a:p>
                  </a:txBody>
                  <a:tcPr marL="64008" marR="64008" marT="27432" marB="27432" anchor="ctr">
                    <a:solidFill>
                      <a:srgbClr val="FFFFFF"/>
                    </a:solidFill>
                  </a:tcPr>
                </a:tc>
                <a:tc>
                  <a:txBody>
                    <a:bodyPr/>
                    <a:lstStyle/>
                    <a:p>
                      <a:pPr algn="r"/>
                      <a:r>
                        <a:rPr sz="1000" b="0" i="0">
                          <a:solidFill>
                            <a:srgbClr val="39424F"/>
                          </a:solidFill>
                          <a:latin typeface="Consolas"/>
                        </a:rPr>
                        <a:t>0,129</a:t>
                      </a:r>
                    </a:p>
                  </a:txBody>
                  <a:tcPr marL="64008" marR="64008" marT="27432" marB="27432" anchor="ctr">
                    <a:solidFill>
                      <a:srgbClr val="FFFFFF"/>
                    </a:solidFill>
                  </a:tcPr>
                </a:tc>
                <a:tc>
                  <a:txBody>
                    <a:bodyPr/>
                    <a:lstStyle/>
                    <a:p>
                      <a:pPr algn="r"/>
                      <a:r>
                        <a:rPr sz="1000" b="0" i="0">
                          <a:solidFill>
                            <a:srgbClr val="39424F"/>
                          </a:solidFill>
                          <a:latin typeface="Consolas"/>
                        </a:rPr>
                        <a:t>2.830.831</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Fragment, dữ liệu CartPole</a:t>
                      </a:r>
                    </a:p>
                  </a:txBody>
                  <a:tcPr marL="64008" marR="64008" marT="27432" marB="27432" anchor="ctr">
                    <a:solidFill>
                      <a:srgbClr val="FFFFFF"/>
                    </a:solidFill>
                  </a:tcPr>
                </a:tc>
                <a:tc>
                  <a:txBody>
                    <a:bodyPr/>
                    <a:lstStyle/>
                    <a:p>
                      <a:pPr algn="r"/>
                      <a:r>
                        <a:rPr sz="1000" b="0" i="0">
                          <a:solidFill>
                            <a:srgbClr val="39424F"/>
                          </a:solidFill>
                          <a:latin typeface="Consolas"/>
                        </a:rPr>
                        <a:t>4.042.983</a:t>
                      </a:r>
                    </a:p>
                  </a:txBody>
                  <a:tcPr marL="64008" marR="64008" marT="27432" marB="27432" anchor="ctr">
                    <a:solidFill>
                      <a:srgbClr val="FFFFFF"/>
                    </a:solidFill>
                  </a:tcPr>
                </a:tc>
                <a:tc>
                  <a:txBody>
                    <a:bodyPr/>
                    <a:lstStyle/>
                    <a:p>
                      <a:pPr algn="r"/>
                      <a:r>
                        <a:rPr sz="1000" b="0" i="0">
                          <a:solidFill>
                            <a:srgbClr val="39424F"/>
                          </a:solidFill>
                          <a:latin typeface="Consolas"/>
                        </a:rPr>
                        <a:t>3,1</a:t>
                      </a:r>
                    </a:p>
                  </a:txBody>
                  <a:tcPr marL="64008" marR="64008" marT="27432" marB="27432" anchor="ctr">
                    <a:solidFill>
                      <a:srgbClr val="FFFFFF"/>
                    </a:solidFill>
                  </a:tcPr>
                </a:tc>
                <a:tc>
                  <a:txBody>
                    <a:bodyPr/>
                    <a:lstStyle/>
                    <a:p>
                      <a:pPr algn="r"/>
                      <a:r>
                        <a:rPr sz="1000" b="0" i="0">
                          <a:solidFill>
                            <a:srgbClr val="39424F"/>
                          </a:solidFill>
                          <a:latin typeface="Consolas"/>
                        </a:rPr>
                        <a:t>0,129</a:t>
                      </a:r>
                    </a:p>
                  </a:txBody>
                  <a:tcPr marL="64008" marR="64008" marT="27432" marB="27432" anchor="ctr">
                    <a:solidFill>
                      <a:srgbClr val="FFFFFF"/>
                    </a:solidFill>
                  </a:tcPr>
                </a:tc>
                <a:tc>
                  <a:txBody>
                    <a:bodyPr/>
                    <a:lstStyle/>
                    <a:p>
                      <a:pPr algn="r"/>
                      <a:r>
                        <a:rPr sz="1000" b="0" i="0">
                          <a:solidFill>
                            <a:srgbClr val="39424F"/>
                          </a:solidFill>
                          <a:latin typeface="Consolas"/>
                        </a:rPr>
                        <a:t>2.829.015</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Merkle 100k lá</a:t>
                      </a:r>
                    </a:p>
                  </a:txBody>
                  <a:tcPr marL="64008" marR="64008" marT="27432" marB="27432" anchor="ctr">
                    <a:solidFill>
                      <a:srgbClr val="FFFFFF"/>
                    </a:solidFill>
                  </a:tcPr>
                </a:tc>
                <a:tc>
                  <a:txBody>
                    <a:bodyPr/>
                    <a:lstStyle/>
                    <a:p>
                      <a:pPr algn="r"/>
                      <a:r>
                        <a:rPr sz="1000" b="0" i="0">
                          <a:solidFill>
                            <a:srgbClr val="39424F"/>
                          </a:solidFill>
                          <a:latin typeface="Consolas"/>
                        </a:rPr>
                        <a:t>554.100</a:t>
                      </a:r>
                    </a:p>
                  </a:txBody>
                  <a:tcPr marL="64008" marR="64008" marT="27432" marB="27432" anchor="ctr">
                    <a:solidFill>
                      <a:srgbClr val="FFFFFF"/>
                    </a:solidFill>
                  </a:tcPr>
                </a:tc>
                <a:tc>
                  <a:txBody>
                    <a:bodyPr/>
                    <a:lstStyle/>
                    <a:p>
                      <a:pPr algn="r"/>
                      <a:r>
                        <a:rPr sz="1000" b="0" i="0">
                          <a:solidFill>
                            <a:srgbClr val="39424F"/>
                          </a:solidFill>
                          <a:latin typeface="Consolas"/>
                        </a:rPr>
                        <a:t>1,0</a:t>
                      </a:r>
                    </a:p>
                  </a:txBody>
                  <a:tcPr marL="64008" marR="64008" marT="27432" marB="27432" anchor="ctr">
                    <a:solidFill>
                      <a:srgbClr val="FFFFFF"/>
                    </a:solidFill>
                  </a:tcPr>
                </a:tc>
                <a:tc>
                  <a:txBody>
                    <a:bodyPr/>
                    <a:lstStyle/>
                    <a:p>
                      <a:pPr algn="r"/>
                      <a:r>
                        <a:rPr sz="1000" b="0" i="0">
                          <a:solidFill>
                            <a:srgbClr val="39424F"/>
                          </a:solidFill>
                          <a:latin typeface="Consolas"/>
                        </a:rPr>
                        <a:t>0,126</a:t>
                      </a:r>
                    </a:p>
                  </a:txBody>
                  <a:tcPr marL="64008" marR="64008" marT="27432" marB="27432" anchor="ctr">
                    <a:solidFill>
                      <a:srgbClr val="FFFFFF"/>
                    </a:solidFill>
                  </a:tcPr>
                </a:tc>
                <a:tc>
                  <a:txBody>
                    <a:bodyPr/>
                    <a:lstStyle/>
                    <a:p>
                      <a:pPr algn="r"/>
                      <a:r>
                        <a:rPr sz="1000" b="0" i="0">
                          <a:solidFill>
                            <a:srgbClr val="39424F"/>
                          </a:solidFill>
                          <a:latin typeface="Consolas"/>
                        </a:rPr>
                        <a:t>2.784.983</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0" i="0">
                          <a:solidFill>
                            <a:srgbClr val="39424F"/>
                          </a:solidFill>
                          <a:latin typeface="Segoe UI"/>
                        </a:rPr>
                        <a:t>Agg. chain T=128</a:t>
                      </a:r>
                    </a:p>
                  </a:txBody>
                  <a:tcPr marL="64008" marR="64008" marT="27432" marB="27432" anchor="ctr">
                    <a:solidFill>
                      <a:srgbClr val="FFFFFF"/>
                    </a:solidFill>
                  </a:tcPr>
                </a:tc>
                <a:tc>
                  <a:txBody>
                    <a:bodyPr/>
                    <a:lstStyle/>
                    <a:p>
                      <a:pPr algn="r"/>
                      <a:r>
                        <a:rPr sz="1000" b="0" i="0">
                          <a:solidFill>
                            <a:srgbClr val="39424F"/>
                          </a:solidFill>
                          <a:latin typeface="Consolas"/>
                        </a:rPr>
                        <a:t>2.758.625</a:t>
                      </a:r>
                    </a:p>
                  </a:txBody>
                  <a:tcPr marL="64008" marR="64008" marT="27432" marB="27432" anchor="ctr">
                    <a:solidFill>
                      <a:srgbClr val="FFFFFF"/>
                    </a:solidFill>
                  </a:tcPr>
                </a:tc>
                <a:tc>
                  <a:txBody>
                    <a:bodyPr/>
                    <a:lstStyle/>
                    <a:p>
                      <a:pPr algn="r"/>
                      <a:r>
                        <a:rPr sz="1000" b="0" i="0">
                          <a:solidFill>
                            <a:srgbClr val="39424F"/>
                          </a:solidFill>
                          <a:latin typeface="Consolas"/>
                        </a:rPr>
                        <a:t>2,6</a:t>
                      </a:r>
                    </a:p>
                  </a:txBody>
                  <a:tcPr marL="64008" marR="64008" marT="27432" marB="27432" anchor="ctr">
                    <a:solidFill>
                      <a:srgbClr val="FFFFFF"/>
                    </a:solidFill>
                  </a:tcPr>
                </a:tc>
                <a:tc>
                  <a:txBody>
                    <a:bodyPr/>
                    <a:lstStyle/>
                    <a:p>
                      <a:pPr algn="r"/>
                      <a:r>
                        <a:rPr sz="1000" b="0" i="0">
                          <a:solidFill>
                            <a:srgbClr val="39424F"/>
                          </a:solidFill>
                          <a:latin typeface="Consolas"/>
                        </a:rPr>
                        <a:t>0,126</a:t>
                      </a:r>
                    </a:p>
                  </a:txBody>
                  <a:tcPr marL="64008" marR="64008" marT="27432" marB="27432" anchor="ctr">
                    <a:solidFill>
                      <a:srgbClr val="FFFFFF"/>
                    </a:solidFill>
                  </a:tcPr>
                </a:tc>
                <a:tc>
                  <a:txBody>
                    <a:bodyPr/>
                    <a:lstStyle/>
                    <a:p>
                      <a:pPr algn="r"/>
                      <a:r>
                        <a:rPr sz="1000" b="0" i="0">
                          <a:solidFill>
                            <a:srgbClr val="39424F"/>
                          </a:solidFill>
                          <a:latin typeface="Consolas"/>
                        </a:rPr>
                        <a:t>2.819.656</a:t>
                      </a:r>
                    </a:p>
                  </a:txBody>
                  <a:tcPr marL="64008" marR="64008" marT="27432" marB="27432" anchor="ctr">
                    <a:solidFill>
                      <a:srgbClr val="FFFFFF"/>
                    </a:solidFill>
                  </a:tcPr>
                </a:tc>
                <a:tc>
                  <a:txBody>
                    <a:bodyPr/>
                    <a:lstStyle/>
                    <a:p>
                      <a:r>
                        <a:rPr sz="1000" b="0" i="0">
                          <a:solidFill>
                            <a:srgbClr val="39424F"/>
                          </a:solidFill>
                          <a:latin typeface="Segoe UI"/>
                        </a:rPr>
                        <a:t>cuda</a:t>
                      </a:r>
                    </a:p>
                  </a:txBody>
                  <a:tcPr marL="64008" marR="64008" marT="27432" marB="27432" anchor="ctr">
                    <a:solidFill>
                      <a:srgbClr val="FFFFFF"/>
                    </a:solidFill>
                  </a:tcPr>
                </a:tc>
              </a:tr>
              <a:tr h="292608">
                <a:tc>
                  <a:txBody>
                    <a:bodyPr/>
                    <a:lstStyle/>
                    <a:p>
                      <a:r>
                        <a:rPr sz="1000" b="1" i="0">
                          <a:solidFill>
                            <a:srgbClr val="141821"/>
                          </a:solidFill>
                          <a:latin typeface="Segoe UI"/>
                        </a:rPr>
                        <a:t>Recursive T=64</a:t>
                      </a:r>
                    </a:p>
                  </a:txBody>
                  <a:tcPr marL="64008" marR="64008" marT="27432" marB="27432" anchor="ctr">
                    <a:solidFill>
                      <a:srgbClr val="DCEAE8"/>
                    </a:solidFill>
                  </a:tcPr>
                </a:tc>
                <a:tc>
                  <a:txBody>
                    <a:bodyPr/>
                    <a:lstStyle/>
                    <a:p>
                      <a:pPr algn="r"/>
                      <a:r>
                        <a:rPr sz="1000" b="0" i="0">
                          <a:solidFill>
                            <a:srgbClr val="39424F"/>
                          </a:solidFill>
                          <a:latin typeface="Consolas"/>
                        </a:rPr>
                        <a:t>1.683.536.040</a:t>
                      </a:r>
                    </a:p>
                  </a:txBody>
                  <a:tcPr marL="64008" marR="64008" marT="27432" marB="27432" anchor="ctr">
                    <a:solidFill>
                      <a:srgbClr val="DCEAE8"/>
                    </a:solidFill>
                  </a:tcPr>
                </a:tc>
                <a:tc>
                  <a:txBody>
                    <a:bodyPr/>
                    <a:lstStyle/>
                    <a:p>
                      <a:pPr algn="r"/>
                      <a:r>
                        <a:rPr sz="1000" b="0" i="0">
                          <a:solidFill>
                            <a:srgbClr val="39424F"/>
                          </a:solidFill>
                          <a:latin typeface="Consolas"/>
                        </a:rPr>
                        <a:t>770,6</a:t>
                      </a:r>
                    </a:p>
                  </a:txBody>
                  <a:tcPr marL="64008" marR="64008" marT="27432" marB="27432" anchor="ctr">
                    <a:solidFill>
                      <a:srgbClr val="DCEAE8"/>
                    </a:solidFill>
                  </a:tcPr>
                </a:tc>
                <a:tc>
                  <a:txBody>
                    <a:bodyPr/>
                    <a:lstStyle/>
                    <a:p>
                      <a:pPr algn="r"/>
                      <a:r>
                        <a:rPr sz="1000" b="0" i="0">
                          <a:solidFill>
                            <a:srgbClr val="39424F"/>
                          </a:solidFill>
                          <a:latin typeface="Consolas"/>
                        </a:rPr>
                        <a:t>0,054</a:t>
                      </a:r>
                    </a:p>
                  </a:txBody>
                  <a:tcPr marL="64008" marR="64008" marT="27432" marB="27432" anchor="ctr">
                    <a:solidFill>
                      <a:srgbClr val="DCEAE8"/>
                    </a:solidFill>
                  </a:tcPr>
                </a:tc>
                <a:tc>
                  <a:txBody>
                    <a:bodyPr/>
                    <a:lstStyle/>
                    <a:p>
                      <a:pPr algn="r"/>
                      <a:r>
                        <a:rPr sz="1000" b="0" i="0">
                          <a:solidFill>
                            <a:srgbClr val="39424F"/>
                          </a:solidFill>
                          <a:latin typeface="Consolas"/>
                        </a:rPr>
                        <a:t>1.274.074</a:t>
                      </a:r>
                    </a:p>
                  </a:txBody>
                  <a:tcPr marL="64008" marR="64008" marT="27432" marB="27432" anchor="ctr">
                    <a:solidFill>
                      <a:srgbClr val="DCEAE8"/>
                    </a:solidFill>
                  </a:tcPr>
                </a:tc>
                <a:tc>
                  <a:txBody>
                    <a:bodyPr/>
                    <a:lstStyle/>
                    <a:p>
                      <a:r>
                        <a:rPr sz="1000" b="0" i="0">
                          <a:solidFill>
                            <a:srgbClr val="39424F"/>
                          </a:solidFill>
                          <a:latin typeface="Segoe UI"/>
                        </a:rPr>
                        <a:t>cuda</a:t>
                      </a:r>
                    </a:p>
                  </a:txBody>
                  <a:tcPr marL="64008" marR="64008" marT="27432" marB="27432" anchor="ctr">
                    <a:solidFill>
                      <a:srgbClr val="DCEAE8"/>
                    </a:solidFill>
                  </a:tcPr>
                </a:tc>
              </a:tr>
              <a:tr h="292608">
                <a:tc>
                  <a:txBody>
                    <a:bodyPr/>
                    <a:lstStyle/>
                    <a:p>
                      <a:r>
                        <a:rPr sz="1000" b="1" i="0">
                          <a:solidFill>
                            <a:srgbClr val="141821"/>
                          </a:solidFill>
                          <a:latin typeface="Segoe UI"/>
                        </a:rPr>
                        <a:t>Whole run, CartPole</a:t>
                      </a:r>
                    </a:p>
                  </a:txBody>
                  <a:tcPr marL="64008" marR="64008" marT="27432" marB="27432" anchor="ctr">
                    <a:solidFill>
                      <a:srgbClr val="DCEAE8"/>
                    </a:solidFill>
                  </a:tcPr>
                </a:tc>
                <a:tc>
                  <a:txBody>
                    <a:bodyPr/>
                    <a:lstStyle/>
                    <a:p>
                      <a:pPr algn="r"/>
                      <a:r>
                        <a:rPr sz="1000" b="0" i="0">
                          <a:solidFill>
                            <a:srgbClr val="39424F"/>
                          </a:solidFill>
                          <a:latin typeface="Consolas"/>
                        </a:rPr>
                        <a:t>422.411.631</a:t>
                      </a:r>
                    </a:p>
                  </a:txBody>
                  <a:tcPr marL="64008" marR="64008" marT="27432" marB="27432" anchor="ctr">
                    <a:solidFill>
                      <a:srgbClr val="DCEAE8"/>
                    </a:solidFill>
                  </a:tcPr>
                </a:tc>
                <a:tc>
                  <a:txBody>
                    <a:bodyPr/>
                    <a:lstStyle/>
                    <a:p>
                      <a:pPr algn="r"/>
                      <a:r>
                        <a:rPr sz="1000" b="0" i="0">
                          <a:solidFill>
                            <a:srgbClr val="39424F"/>
                          </a:solidFill>
                          <a:latin typeface="Consolas"/>
                        </a:rPr>
                        <a:t>191,8</a:t>
                      </a:r>
                    </a:p>
                  </a:txBody>
                  <a:tcPr marL="64008" marR="64008" marT="27432" marB="27432" anchor="ctr">
                    <a:solidFill>
                      <a:srgbClr val="DCEAE8"/>
                    </a:solidFill>
                  </a:tcPr>
                </a:tc>
                <a:tc>
                  <a:txBody>
                    <a:bodyPr/>
                    <a:lstStyle/>
                    <a:p>
                      <a:pPr algn="r"/>
                      <a:r>
                        <a:rPr sz="1000" b="0" i="0">
                          <a:solidFill>
                            <a:srgbClr val="39424F"/>
                          </a:solidFill>
                          <a:latin typeface="Consolas"/>
                        </a:rPr>
                        <a:t>0,054</a:t>
                      </a:r>
                    </a:p>
                  </a:txBody>
                  <a:tcPr marL="64008" marR="64008" marT="27432" marB="27432" anchor="ctr">
                    <a:solidFill>
                      <a:srgbClr val="DCEAE8"/>
                    </a:solidFill>
                  </a:tcPr>
                </a:tc>
                <a:tc>
                  <a:txBody>
                    <a:bodyPr/>
                    <a:lstStyle/>
                    <a:p>
                      <a:pPr algn="r"/>
                      <a:r>
                        <a:rPr sz="1000" b="0" i="0">
                          <a:solidFill>
                            <a:srgbClr val="39424F"/>
                          </a:solidFill>
                          <a:latin typeface="Consolas"/>
                        </a:rPr>
                        <a:t>1.274.654</a:t>
                      </a:r>
                    </a:p>
                  </a:txBody>
                  <a:tcPr marL="64008" marR="64008" marT="27432" marB="27432" anchor="ctr">
                    <a:solidFill>
                      <a:srgbClr val="DCEAE8"/>
                    </a:solidFill>
                  </a:tcPr>
                </a:tc>
                <a:tc>
                  <a:txBody>
                    <a:bodyPr/>
                    <a:lstStyle/>
                    <a:p>
                      <a:r>
                        <a:rPr sz="1000" b="0" i="0">
                          <a:solidFill>
                            <a:srgbClr val="39424F"/>
                          </a:solidFill>
                          <a:latin typeface="Segoe UI"/>
                        </a:rPr>
                        <a:t>cuda</a:t>
                      </a:r>
                    </a:p>
                  </a:txBody>
                  <a:tcPr marL="64008" marR="64008" marT="27432" marB="27432" anchor="ctr">
                    <a:solidFill>
                      <a:srgbClr val="DCEAE8"/>
                    </a:solidFill>
                  </a:tcPr>
                </a:tc>
              </a:tr>
              <a:tr h="292608">
                <a:tc>
                  <a:txBody>
                    <a:bodyPr/>
                    <a:lstStyle/>
                    <a:p>
                      <a:r>
                        <a:rPr sz="1000" b="0" i="0">
                          <a:solidFill>
                            <a:srgbClr val="8C3A2E"/>
                          </a:solidFill>
                          <a:latin typeface="Segoe UI"/>
                        </a:rPr>
                        <a:t>Groth16 child T=16</a:t>
                      </a:r>
                    </a:p>
                  </a:txBody>
                  <a:tcPr marL="64008" marR="64008" marT="27432" marB="27432" anchor="ctr">
                    <a:solidFill>
                      <a:srgbClr val="FFFFFF"/>
                    </a:solidFill>
                  </a:tcPr>
                </a:tc>
                <a:tc>
                  <a:txBody>
                    <a:bodyPr/>
                    <a:lstStyle/>
                    <a:p>
                      <a:pPr algn="r"/>
                      <a:r>
                        <a:rPr sz="1000" b="0" i="0">
                          <a:solidFill>
                            <a:srgbClr val="8C3A2E"/>
                          </a:solidFill>
                          <a:latin typeface="Consolas"/>
                        </a:rPr>
                        <a:t>6.189.380.355</a:t>
                      </a:r>
                    </a:p>
                  </a:txBody>
                  <a:tcPr marL="64008" marR="64008" marT="27432" marB="27432" anchor="ctr">
                    <a:solidFill>
                      <a:srgbClr val="FFFFFF"/>
                    </a:solidFill>
                  </a:tcPr>
                </a:tc>
                <a:tc>
                  <a:txBody>
                    <a:bodyPr/>
                    <a:lstStyle/>
                    <a:p>
                      <a:pPr algn="r"/>
                      <a:r>
                        <a:rPr sz="1000" b="0" i="0">
                          <a:solidFill>
                            <a:srgbClr val="8C3A2E"/>
                          </a:solidFill>
                          <a:latin typeface="Consolas"/>
                        </a:rPr>
                        <a:t>1.590,2</a:t>
                      </a:r>
                    </a:p>
                  </a:txBody>
                  <a:tcPr marL="64008" marR="64008" marT="27432" marB="27432" anchor="ctr">
                    <a:solidFill>
                      <a:srgbClr val="FFFFFF"/>
                    </a:solidFill>
                  </a:tcPr>
                </a:tc>
                <a:tc>
                  <a:txBody>
                    <a:bodyPr/>
                    <a:lstStyle/>
                    <a:p>
                      <a:pPr algn="r"/>
                      <a:r>
                        <a:rPr sz="1000" b="0" i="0">
                          <a:solidFill>
                            <a:srgbClr val="8C3A2E"/>
                          </a:solidFill>
                          <a:latin typeface="Consolas"/>
                        </a:rPr>
                        <a:t>67,979</a:t>
                      </a:r>
                    </a:p>
                  </a:txBody>
                  <a:tcPr marL="64008" marR="64008" marT="27432" marB="27432" anchor="ctr">
                    <a:solidFill>
                      <a:srgbClr val="FFFFFF"/>
                    </a:solidFill>
                  </a:tcPr>
                </a:tc>
                <a:tc>
                  <a:txBody>
                    <a:bodyPr/>
                    <a:lstStyle/>
                    <a:p>
                      <a:pPr algn="r"/>
                      <a:r>
                        <a:rPr sz="1000" b="0" i="0">
                          <a:solidFill>
                            <a:srgbClr val="8C3A2E"/>
                          </a:solidFill>
                          <a:latin typeface="Consolas"/>
                        </a:rPr>
                        <a:t>1.469.721.875</a:t>
                      </a:r>
                    </a:p>
                  </a:txBody>
                  <a:tcPr marL="64008" marR="64008" marT="27432" marB="27432" anchor="ctr">
                    <a:solidFill>
                      <a:srgbClr val="FFFFFF"/>
                    </a:solidFill>
                  </a:tcPr>
                </a:tc>
                <a:tc>
                  <a:txBody>
                    <a:bodyPr/>
                    <a:lstStyle/>
                    <a:p>
                      <a:r>
                        <a:rPr sz="1000" b="0" i="0">
                          <a:solidFill>
                            <a:srgbClr val="8C3A2E"/>
                          </a:solidFill>
                          <a:latin typeface="Segoe UI"/>
                        </a:rPr>
                        <a:t>cuda</a:t>
                      </a:r>
                    </a:p>
                  </a:txBody>
                  <a:tcPr marL="64008" marR="64008" marT="27432" marB="27432" anchor="ctr">
                    <a:solidFill>
                      <a:srgbClr val="FFFFFF"/>
                    </a:solidFill>
                  </a:tcPr>
                </a:tc>
              </a:tr>
            </a:tbl>
          </a:graphicData>
        </a:graphic>
      </p:graphicFrame>
      <p:sp>
        <p:nvSpPr>
          <p:cNvPr id="8" name="Rectangle 7"/>
          <p:cNvSpPr/>
          <p:nvPr/>
        </p:nvSpPr>
        <p:spPr>
          <a:xfrm>
            <a:off x="7818120" y="2057400"/>
            <a:ext cx="171450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2185416"/>
            <a:ext cx="1714500" cy="457200"/>
          </a:xfrm>
          <a:prstGeom prst="rect">
            <a:avLst/>
          </a:prstGeom>
          <a:noFill/>
        </p:spPr>
        <p:txBody>
          <a:bodyPr wrap="square" lIns="0" rIns="0" tIns="0" bIns="0">
            <a:spAutoFit/>
          </a:bodyPr>
          <a:lstStyle/>
          <a:p>
            <a:r>
              <a:rPr sz="2200" b="1" i="0">
                <a:solidFill>
                  <a:srgbClr val="141821"/>
                </a:solidFill>
                <a:latin typeface="Segoe UI"/>
              </a:rPr>
              <a:t>53.014×</a:t>
            </a:r>
          </a:p>
        </p:txBody>
      </p:sp>
      <p:sp>
        <p:nvSpPr>
          <p:cNvPr id="10" name="TextBox 9"/>
          <p:cNvSpPr txBox="1"/>
          <p:nvPr/>
        </p:nvSpPr>
        <p:spPr>
          <a:xfrm>
            <a:off x="7818120" y="2506725"/>
            <a:ext cx="171450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dải cycles, 116.750 → 6,19 tỉ — mà verify gần như không đổi</a:t>
            </a:r>
          </a:p>
        </p:txBody>
      </p:sp>
      <p:sp>
        <p:nvSpPr>
          <p:cNvPr id="11" name="Rectangle 10"/>
          <p:cNvSpPr/>
          <p:nvPr/>
        </p:nvSpPr>
        <p:spPr>
          <a:xfrm>
            <a:off x="9806940" y="2057400"/>
            <a:ext cx="171450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06940" y="2185416"/>
            <a:ext cx="1714500" cy="457200"/>
          </a:xfrm>
          <a:prstGeom prst="rect">
            <a:avLst/>
          </a:prstGeom>
          <a:noFill/>
        </p:spPr>
        <p:txBody>
          <a:bodyPr wrap="square" lIns="0" rIns="0" tIns="0" bIns="0">
            <a:spAutoFit/>
          </a:bodyPr>
          <a:lstStyle/>
          <a:p>
            <a:r>
              <a:rPr sz="2200" b="1" i="0">
                <a:solidFill>
                  <a:srgbClr val="141821"/>
                </a:solidFill>
                <a:latin typeface="Segoe UI"/>
              </a:rPr>
              <a:t>26 / 26</a:t>
            </a:r>
          </a:p>
        </p:txBody>
      </p:sp>
      <p:sp>
        <p:nvSpPr>
          <p:cNvPr id="13" name="TextBox 12"/>
          <p:cNvSpPr txBox="1"/>
          <p:nvPr/>
        </p:nvSpPr>
        <p:spPr>
          <a:xfrm>
            <a:off x="9806940" y="2506725"/>
            <a:ext cx="171450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dòng chạy CUDA — trước đây 10 dòng buộc phải chạy CPU</a:t>
            </a:r>
          </a:p>
        </p:txBody>
      </p:sp>
      <p:sp>
        <p:nvSpPr>
          <p:cNvPr id="14" name="TextBox 13"/>
          <p:cNvSpPr txBox="1"/>
          <p:nvPr/>
        </p:nvSpPr>
        <p:spPr>
          <a:xfrm>
            <a:off x="8037576" y="3465576"/>
            <a:ext cx="33009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MỘT PROVER CHO CẢ BẢNG</a:t>
            </a:r>
          </a:p>
          <a:p>
            <a:pPr>
              <a:lnSpc>
                <a:spcPct val="122000"/>
              </a:lnSpc>
            </a:pPr>
            <a:r>
              <a:rPr sz="1250" b="0" i="0">
                <a:solidFill>
                  <a:srgbClr val="39424F"/>
                </a:solidFill>
                <a:latin typeface="Segoe UI"/>
              </a:rPr>
              <a:t>Trước đây chỉ </a:t>
            </a:r>
            <a:r>
              <a:rPr sz="1250" b="1" i="0">
                <a:solidFill>
                  <a:srgbClr val="141821"/>
                </a:solidFill>
                <a:latin typeface="Segoe UI"/>
              </a:rPr>
              <a:t>2 trong 8 host</a:t>
            </a:r>
            <a:r>
              <a:rPr sz="1250" b="0" i="0">
                <a:solidFill>
                  <a:srgbClr val="39424F"/>
                </a:solidFill>
                <a:latin typeface="Segoe UI"/>
              </a:rPr>
              <a:t> có nhánh CUDA, nên mười dòng buộc phải chạy CPU và cột Prove trộn hai loại phần cứng. Nay cả tám host đọc `SP1_CUDA`, nên cột đó so được với nhau.</a:t>
            </a:r>
          </a:p>
        </p:txBody>
      </p:sp>
      <p:sp>
        <p:nvSpPr>
          <p:cNvPr id="17" name="TextBox 16"/>
          <p:cNvSpPr txBox="1"/>
          <p:nvPr/>
        </p:nvSpPr>
        <p:spPr>
          <a:xfrm>
            <a:off x="8037576" y="5170612"/>
            <a:ext cx="330098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CHUYỂN SANG GPU KHÔNG LÀM QUAN HỆ RẺ ĐI</a:t>
            </a:r>
          </a:p>
          <a:p>
            <a:pPr>
              <a:lnSpc>
                <a:spcPct val="122000"/>
              </a:lnSpc>
            </a:pPr>
            <a:r>
              <a:rPr sz="1250" b="0" i="0">
                <a:solidFill>
                  <a:srgbClr val="39424F"/>
                </a:solidFill>
                <a:latin typeface="Segoe UI"/>
              </a:rPr>
              <a:t>Mười dòng đó nhanh lên </a:t>
            </a:r>
            <a:r>
              <a:rPr sz="1250" b="1" i="0">
                <a:solidFill>
                  <a:srgbClr val="141821"/>
                </a:solidFill>
                <a:latin typeface="Segoe UI"/>
              </a:rPr>
              <a:t>51–62×</a:t>
            </a:r>
            <a:r>
              <a:rPr sz="1250" b="0" i="0">
                <a:solidFill>
                  <a:srgbClr val="39424F"/>
                </a:solidFill>
                <a:latin typeface="Segoe UI"/>
              </a:rPr>
              <a:t> mà </a:t>
            </a:r>
            <a:r>
              <a:rPr sz="1250" b="1" i="0">
                <a:solidFill>
                  <a:srgbClr val="141821"/>
                </a:solidFill>
                <a:latin typeface="Segoe UI"/>
              </a:rPr>
              <a:t>cycles không đổi một chữ số</a:t>
            </a:r>
            <a:r>
              <a:rPr sz="1250" b="0" i="0">
                <a:solidFill>
                  <a:srgbClr val="39424F"/>
                </a:solidFill>
                <a:latin typeface="Segoe UI"/>
              </a:rPr>
              <a:t>. Đó là lý do bảng phải đọc bằng cycles, không bằng giây.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Rectangle 16"/>
          <p:cNvSpPr/>
          <p:nvPr/>
        </p:nvSpPr>
        <p:spPr>
          <a:xfrm>
            <a:off x="6355080" y="5753224"/>
            <a:ext cx="5166360" cy="842644"/>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5753224"/>
            <a:ext cx="38100" cy="842644"/>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4476812"/>
            <a:ext cx="516636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4476812"/>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3200400"/>
            <a:ext cx="516636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320040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4 · GỘP</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4 — Vì sao phải nối nhiều proof thành một</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16</a:t>
            </a:r>
          </a:p>
        </p:txBody>
      </p:sp>
      <p:sp>
        <p:nvSpPr>
          <p:cNvPr id="6" name="TextBox 5"/>
          <p:cNvSpPr txBox="1"/>
          <p:nvPr/>
        </p:nvSpPr>
        <p:spPr>
          <a:xfrm>
            <a:off x="658368" y="1965960"/>
            <a:ext cx="5394960" cy="365760"/>
          </a:xfrm>
          <a:prstGeom prst="rect">
            <a:avLst/>
          </a:prstGeom>
          <a:noFill/>
        </p:spPr>
        <p:txBody>
          <a:bodyPr wrap="square" lIns="0" rIns="0" tIns="0" bIns="0">
            <a:spAutoFit/>
          </a:bodyPr>
          <a:lstStyle/>
          <a:p>
            <a:pPr>
              <a:lnSpc>
                <a:spcPct val="124000"/>
              </a:lnSpc>
              <a:spcAft>
                <a:spcPts val="600"/>
              </a:spcAft>
            </a:pPr>
            <a:r>
              <a:rPr sz="1250" b="0" i="0">
                <a:solidFill>
                  <a:srgbClr val="39424F"/>
                </a:solidFill>
                <a:latin typeface="Segoe UI"/>
              </a:rPr>
              <a:t>Một proof training_fragment phủ được *k* bước. Ta muốn phủ </a:t>
            </a:r>
            <a:r>
              <a:rPr sz="1250" b="1" i="0">
                <a:solidFill>
                  <a:srgbClr val="141821"/>
                </a:solidFill>
                <a:latin typeface="Segoe UI"/>
              </a:rPr>
              <a:t>cả lượt chạy</a:t>
            </a:r>
            <a:r>
              <a:rPr sz="1250" b="0" i="0">
                <a:solidFill>
                  <a:srgbClr val="39424F"/>
                </a:solidFill>
                <a:latin typeface="Segoe UI"/>
              </a:rPr>
              <a:t> — 1.248 bước, 4.992 bước.</a:t>
            </a:r>
          </a:p>
          <a:p>
            <a:pPr>
              <a:lnSpc>
                <a:spcPct val="124000"/>
              </a:lnSpc>
              <a:spcAft>
                <a:spcPts val="600"/>
              </a:spcAft>
            </a:pPr>
            <a:r>
              <a:rPr sz="1250" b="1" i="0">
                <a:solidFill>
                  <a:srgbClr val="141821"/>
                </a:solidFill>
                <a:latin typeface="Segoe UI"/>
              </a:rPr>
              <a:t>Cách ngây thơ — nhét cả 5.000 bước vào một guest — không khả thi:</a:t>
            </a:r>
            <a:r>
              <a:rPr sz="1250" b="0" i="0">
                <a:solidFill>
                  <a:srgbClr val="39424F"/>
                </a:solidFill>
                <a:latin typeface="Segoe UI"/>
              </a:rPr>
              <a:t> cycles tăng tuyến tính (~2×10¹⁰), RAM ≈ 27 byte mỗi cycle → khoảng 540 GB. Proof lớn nhất từng chạy thành công là 1,68 tỉ cycles.</a:t>
            </a:r>
          </a:p>
        </p:txBody>
      </p:sp>
      <p:sp>
        <p:nvSpPr>
          <p:cNvPr id="7" name="Rectangle 6"/>
          <p:cNvSpPr/>
          <p:nvPr/>
        </p:nvSpPr>
        <p:spPr>
          <a:xfrm>
            <a:off x="658368" y="3429000"/>
            <a:ext cx="5394960" cy="1807464"/>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3538728"/>
            <a:ext cx="5102352" cy="1588008"/>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         proof GỐC        ← guest này có việc là KIỂM CÁC PROOF KHÁC</a:t>
            </a:r>
          </a:p>
          <a:p>
            <a:pPr>
              <a:lnSpc>
                <a:spcPct val="134000"/>
              </a:lnSpc>
              <a:spcAft>
                <a:spcPts val="0"/>
              </a:spcAft>
            </a:pPr>
            <a:r>
              <a:rPr sz="1050" b="0" i="0">
                <a:solidFill>
                  <a:srgbClr val="39424F"/>
                </a:solidFill>
                <a:latin typeface="Consolas"/>
              </a:rPr>
              <a:t>          /       \</a:t>
            </a:r>
          </a:p>
          <a:p>
            <a:pPr>
              <a:lnSpc>
                <a:spcPct val="134000"/>
              </a:lnSpc>
              <a:spcAft>
                <a:spcPts val="0"/>
              </a:spcAft>
            </a:pPr>
            <a:r>
              <a:rPr sz="1050" b="0" i="0">
                <a:solidFill>
                  <a:srgbClr val="39424F"/>
                </a:solidFill>
                <a:latin typeface="Consolas"/>
              </a:rPr>
              <a:t>      proof      proof    ← mỗi cái lại kiểm 2 proof con</a:t>
            </a:r>
          </a:p>
          <a:p>
            <a:pPr>
              <a:lnSpc>
                <a:spcPct val="134000"/>
              </a:lnSpc>
              <a:spcAft>
                <a:spcPts val="0"/>
              </a:spcAft>
            </a:pPr>
            <a:r>
              <a:rPr sz="1050" b="0" i="0">
                <a:solidFill>
                  <a:srgbClr val="39424F"/>
                </a:solidFill>
                <a:latin typeface="Consolas"/>
              </a:rPr>
              <a:t>      /   \      /   \</a:t>
            </a:r>
          </a:p>
          <a:p>
            <a:pPr>
              <a:lnSpc>
                <a:spcPct val="134000"/>
              </a:lnSpc>
              <a:spcAft>
                <a:spcPts val="0"/>
              </a:spcAft>
            </a:pPr>
            <a:r>
              <a:rPr sz="1050" b="0" i="0">
                <a:solidFill>
                  <a:srgbClr val="39424F"/>
                </a:solidFill>
                <a:latin typeface="Consolas"/>
              </a:rPr>
              <a:t>    lá   lá    lá   lá    ← mỗi lá = 156 bước huấn luyện</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Kiểm một proof cũng là một phép tính → nó lại sinh ra một proof mới.</a:t>
            </a:r>
          </a:p>
          <a:p>
            <a:pPr>
              <a:lnSpc>
                <a:spcPct val="134000"/>
              </a:lnSpc>
              <a:spcAft>
                <a:spcPts val="0"/>
              </a:spcAft>
            </a:pPr>
            <a:r>
              <a:rPr sz="1050" b="0" i="0">
                <a:solidFill>
                  <a:srgbClr val="39424F"/>
                </a:solidFill>
                <a:latin typeface="Consolas"/>
              </a:rPr>
              <a:t>Kết quả: MỘT proof duy nhất phủ toàn bộ, verify 0,054 s.</a:t>
            </a:r>
          </a:p>
        </p:txBody>
      </p:sp>
      <p:graphicFrame>
        <p:nvGraphicFramePr>
          <p:cNvPr id="9" name="Table 8"/>
          <p:cNvGraphicFramePr>
            <a:graphicFrameLocks noGrp="1"/>
          </p:cNvGraphicFramePr>
          <p:nvPr/>
        </p:nvGraphicFramePr>
        <p:xfrm>
          <a:off x="6355080" y="1965960"/>
          <a:ext cx="5166358" cy="1170432"/>
        </p:xfrm>
        <a:graphic>
          <a:graphicData uri="http://schemas.openxmlformats.org/drawingml/2006/table">
            <a:tbl>
              <a:tblPr bandRow="1">
                <a:tableStyleId>{5C22544A-7EE6-4342-B048-85BDC9FD1C3A}</a:tableStyleId>
              </a:tblPr>
              <a:tblGrid>
                <a:gridCol w="1903395"/>
                <a:gridCol w="815741"/>
                <a:gridCol w="1359568"/>
                <a:gridCol w="1087654"/>
              </a:tblGrid>
              <a:tr h="292608">
                <a:tc>
                  <a:txBody>
                    <a:bodyPr/>
                    <a:lstStyle/>
                    <a:p>
                      <a:r>
                        <a:rPr sz="950" b="1" i="0">
                          <a:solidFill>
                            <a:srgbClr val="6B7581"/>
                          </a:solidFill>
                          <a:latin typeface="Segoe UI"/>
                        </a:rPr>
                        <a:t>CẤU HÌNH</a:t>
                      </a:r>
                    </a:p>
                  </a:txBody>
                  <a:tcPr marL="64008" marR="64008" marT="27432" marB="27432" anchor="ctr">
                    <a:solidFill>
                      <a:srgbClr val="FFFFFF"/>
                    </a:solidFill>
                  </a:tcPr>
                </a:tc>
                <a:tc>
                  <a:txBody>
                    <a:bodyPr/>
                    <a:lstStyle/>
                    <a:p>
                      <a:pPr algn="r"/>
                      <a:r>
                        <a:rPr sz="950" b="1" i="0">
                          <a:solidFill>
                            <a:srgbClr val="6B7581"/>
                          </a:solidFill>
                          <a:latin typeface="Segoe UI"/>
                        </a:rPr>
                        <a:t>PROOF CON</a:t>
                      </a:r>
                    </a:p>
                  </a:txBody>
                  <a:tcPr marL="64008" marR="64008" marT="27432" marB="27432" anchor="ctr">
                    <a:solidFill>
                      <a:srgbClr val="FFFFFF"/>
                    </a:solidFill>
                  </a:tcPr>
                </a:tc>
                <a:tc>
                  <a:txBody>
                    <a:bodyPr/>
                    <a:lstStyle/>
                    <a:p>
                      <a:pPr algn="r"/>
                      <a:r>
                        <a:rPr sz="950" b="1" i="0">
                          <a:solidFill>
                            <a:srgbClr val="6B7581"/>
                          </a:solidFill>
                          <a:latin typeface="Segoe UI"/>
                        </a:rPr>
                        <a:t>CYCLES</a:t>
                      </a:r>
                    </a:p>
                  </a:txBody>
                  <a:tcPr marL="64008" marR="64008" marT="27432" marB="27432" anchor="ctr">
                    <a:solidFill>
                      <a:srgbClr val="FFFFFF"/>
                    </a:solidFill>
                  </a:tcPr>
                </a:tc>
                <a:tc>
                  <a:txBody>
                    <a:bodyPr/>
                    <a:lstStyle/>
                    <a:p>
                      <a:pPr algn="r"/>
                      <a:r>
                        <a:rPr sz="950" b="1" i="0">
                          <a:solidFill>
                            <a:srgbClr val="6B7581"/>
                          </a:solidFill>
                          <a:latin typeface="Segoe UI"/>
                        </a:rPr>
                        <a:t>MỖI PROOF CON</a:t>
                      </a:r>
                    </a:p>
                  </a:txBody>
                  <a:tcPr marL="64008" marR="64008" marT="27432" marB="27432" anchor="ctr">
                    <a:solidFill>
                      <a:srgbClr val="FFFFFF"/>
                    </a:solidFill>
                  </a:tcPr>
                </a:tc>
              </a:tr>
              <a:tr h="292608">
                <a:tc>
                  <a:txBody>
                    <a:bodyPr/>
                    <a:lstStyle/>
                    <a:p>
                      <a:r>
                        <a:rPr sz="1100" b="0" i="0">
                          <a:solidFill>
                            <a:srgbClr val="39424F"/>
                          </a:solidFill>
                          <a:latin typeface="Segoe UI"/>
                        </a:rPr>
                        <a:t>native_flat_recursive T=16</a:t>
                      </a:r>
                    </a:p>
                  </a:txBody>
                  <a:tcPr marL="64008" marR="64008" marT="27432" marB="27432" anchor="ctr">
                    <a:solidFill>
                      <a:srgbClr val="FFFFFF"/>
                    </a:solidFill>
                  </a:tcPr>
                </a:tc>
                <a:tc>
                  <a:txBody>
                    <a:bodyPr/>
                    <a:lstStyle/>
                    <a:p>
                      <a:pPr algn="r"/>
                      <a:r>
                        <a:rPr sz="1100" b="0" i="0">
                          <a:solidFill>
                            <a:srgbClr val="39424F"/>
                          </a:solidFill>
                          <a:latin typeface="Consolas"/>
                        </a:rPr>
                        <a:t>2</a:t>
                      </a:r>
                    </a:p>
                  </a:txBody>
                  <a:tcPr marL="64008" marR="64008" marT="27432" marB="27432" anchor="ctr">
                    <a:solidFill>
                      <a:srgbClr val="FFFFFF"/>
                    </a:solidFill>
                  </a:tcPr>
                </a:tc>
                <a:tc>
                  <a:txBody>
                    <a:bodyPr/>
                    <a:lstStyle/>
                    <a:p>
                      <a:pPr algn="r"/>
                      <a:r>
                        <a:rPr sz="1100" b="0" i="0">
                          <a:solidFill>
                            <a:srgbClr val="39424F"/>
                          </a:solidFill>
                          <a:latin typeface="Consolas"/>
                        </a:rPr>
                        <a:t>422.706.047</a:t>
                      </a:r>
                    </a:p>
                  </a:txBody>
                  <a:tcPr marL="64008" marR="64008" marT="27432" marB="27432" anchor="ctr">
                    <a:solidFill>
                      <a:srgbClr val="FFFFFF"/>
                    </a:solidFill>
                  </a:tcPr>
                </a:tc>
                <a:tc>
                  <a:txBody>
                    <a:bodyPr/>
                    <a:lstStyle/>
                    <a:p>
                      <a:pPr algn="r"/>
                      <a:r>
                        <a:rPr sz="1100" b="0" i="0">
                          <a:solidFill>
                            <a:srgbClr val="39424F"/>
                          </a:solidFill>
                          <a:latin typeface="Consolas"/>
                        </a:rPr>
                        <a:t>211,4 M</a:t>
                      </a:r>
                    </a:p>
                  </a:txBody>
                  <a:tcPr marL="64008" marR="64008" marT="27432" marB="27432" anchor="ctr">
                    <a:solidFill>
                      <a:srgbClr val="FFFFFF"/>
                    </a:solidFill>
                  </a:tcPr>
                </a:tc>
              </a:tr>
              <a:tr h="292608">
                <a:tc>
                  <a:txBody>
                    <a:bodyPr/>
                    <a:lstStyle/>
                    <a:p>
                      <a:r>
                        <a:rPr sz="1100" b="0" i="0">
                          <a:solidFill>
                            <a:srgbClr val="39424F"/>
                          </a:solidFill>
                          <a:latin typeface="Segoe UI"/>
                        </a:rPr>
                        <a:t>native_flat_recursive T=32</a:t>
                      </a:r>
                    </a:p>
                  </a:txBody>
                  <a:tcPr marL="64008" marR="64008" marT="27432" marB="27432" anchor="ctr">
                    <a:solidFill>
                      <a:srgbClr val="FFFFFF"/>
                    </a:solidFill>
                  </a:tcPr>
                </a:tc>
                <a:tc>
                  <a:txBody>
                    <a:bodyPr/>
                    <a:lstStyle/>
                    <a:p>
                      <a:pPr algn="r"/>
                      <a:r>
                        <a:rPr sz="1100" b="0" i="0">
                          <a:solidFill>
                            <a:srgbClr val="39424F"/>
                          </a:solidFill>
                          <a:latin typeface="Consolas"/>
                        </a:rPr>
                        <a:t>4</a:t>
                      </a:r>
                    </a:p>
                  </a:txBody>
                  <a:tcPr marL="64008" marR="64008" marT="27432" marB="27432" anchor="ctr">
                    <a:solidFill>
                      <a:srgbClr val="FFFFFF"/>
                    </a:solidFill>
                  </a:tcPr>
                </a:tc>
                <a:tc>
                  <a:txBody>
                    <a:bodyPr/>
                    <a:lstStyle/>
                    <a:p>
                      <a:pPr algn="r"/>
                      <a:r>
                        <a:rPr sz="1100" b="0" i="0">
                          <a:solidFill>
                            <a:srgbClr val="39424F"/>
                          </a:solidFill>
                          <a:latin typeface="Consolas"/>
                        </a:rPr>
                        <a:t>842.030.244</a:t>
                      </a:r>
                    </a:p>
                  </a:txBody>
                  <a:tcPr marL="64008" marR="64008" marT="27432" marB="27432" anchor="ctr">
                    <a:solidFill>
                      <a:srgbClr val="FFFFFF"/>
                    </a:solidFill>
                  </a:tcPr>
                </a:tc>
                <a:tc>
                  <a:txBody>
                    <a:bodyPr/>
                    <a:lstStyle/>
                    <a:p>
                      <a:pPr algn="r"/>
                      <a:r>
                        <a:rPr sz="1100" b="0" i="0">
                          <a:solidFill>
                            <a:srgbClr val="39424F"/>
                          </a:solidFill>
                          <a:latin typeface="Consolas"/>
                        </a:rPr>
                        <a:t>210,5 M</a:t>
                      </a:r>
                    </a:p>
                  </a:txBody>
                  <a:tcPr marL="64008" marR="64008" marT="27432" marB="27432" anchor="ctr">
                    <a:solidFill>
                      <a:srgbClr val="FFFFFF"/>
                    </a:solidFill>
                  </a:tcPr>
                </a:tc>
              </a:tr>
              <a:tr h="292608">
                <a:tc>
                  <a:txBody>
                    <a:bodyPr/>
                    <a:lstStyle/>
                    <a:p>
                      <a:r>
                        <a:rPr sz="1100" b="0" i="0">
                          <a:solidFill>
                            <a:srgbClr val="39424F"/>
                          </a:solidFill>
                          <a:latin typeface="Segoe UI"/>
                        </a:rPr>
                        <a:t>native_flat_recursive T=64</a:t>
                      </a:r>
                    </a:p>
                  </a:txBody>
                  <a:tcPr marL="64008" marR="64008" marT="27432" marB="27432" anchor="ctr">
                    <a:solidFill>
                      <a:srgbClr val="FFFFFF"/>
                    </a:solidFill>
                  </a:tcPr>
                </a:tc>
                <a:tc>
                  <a:txBody>
                    <a:bodyPr/>
                    <a:lstStyle/>
                    <a:p>
                      <a:pPr algn="r"/>
                      <a:r>
                        <a:rPr sz="1100" b="0" i="0">
                          <a:solidFill>
                            <a:srgbClr val="39424F"/>
                          </a:solidFill>
                          <a:latin typeface="Consolas"/>
                        </a:rPr>
                        <a:t>8</a:t>
                      </a:r>
                    </a:p>
                  </a:txBody>
                  <a:tcPr marL="64008" marR="64008" marT="27432" marB="27432" anchor="ctr">
                    <a:solidFill>
                      <a:srgbClr val="FFFFFF"/>
                    </a:solidFill>
                  </a:tcPr>
                </a:tc>
                <a:tc>
                  <a:txBody>
                    <a:bodyPr/>
                    <a:lstStyle/>
                    <a:p>
                      <a:pPr algn="r"/>
                      <a:r>
                        <a:rPr sz="1100" b="0" i="0">
                          <a:solidFill>
                            <a:srgbClr val="39424F"/>
                          </a:solidFill>
                          <a:latin typeface="Consolas"/>
                        </a:rPr>
                        <a:t>1.683.536.040</a:t>
                      </a:r>
                    </a:p>
                  </a:txBody>
                  <a:tcPr marL="64008" marR="64008" marT="27432" marB="27432" anchor="ctr">
                    <a:solidFill>
                      <a:srgbClr val="FFFFFF"/>
                    </a:solidFill>
                  </a:tcPr>
                </a:tc>
                <a:tc>
                  <a:txBody>
                    <a:bodyPr/>
                    <a:lstStyle/>
                    <a:p>
                      <a:pPr algn="r"/>
                      <a:r>
                        <a:rPr sz="1100" b="0" i="0">
                          <a:solidFill>
                            <a:srgbClr val="39424F"/>
                          </a:solidFill>
                          <a:latin typeface="Consolas"/>
                        </a:rPr>
                        <a:t>210,4 M</a:t>
                      </a:r>
                    </a:p>
                  </a:txBody>
                  <a:tcPr marL="64008" marR="64008" marT="27432" marB="27432" anchor="ctr">
                    <a:solidFill>
                      <a:srgbClr val="FFFFFF"/>
                    </a:solidFill>
                  </a:tcPr>
                </a:tc>
              </a:tr>
            </a:tbl>
          </a:graphicData>
        </a:graphic>
      </p:graphicFrame>
      <p:sp>
        <p:nvSpPr>
          <p:cNvPr id="10" name="TextBox 9"/>
          <p:cNvSpPr txBox="1"/>
          <p:nvPr/>
        </p:nvSpPr>
        <p:spPr>
          <a:xfrm>
            <a:off x="6574536" y="3328416"/>
            <a:ext cx="476402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 211 TRIỆU CYCLES MỖI PROOF CON</a:t>
            </a:r>
          </a:p>
          <a:p>
            <a:pPr>
              <a:lnSpc>
                <a:spcPct val="122000"/>
              </a:lnSpc>
            </a:pPr>
            <a:r>
              <a:rPr sz="1250" b="0" i="0">
                <a:solidFill>
                  <a:srgbClr val="39424F"/>
                </a:solidFill>
                <a:latin typeface="Segoe UI"/>
              </a:rPr>
              <a:t>Và con số này </a:t>
            </a:r>
            <a:r>
              <a:rPr sz="1250" b="1" i="0">
                <a:solidFill>
                  <a:srgbClr val="141821"/>
                </a:solidFill>
                <a:latin typeface="Segoe UI"/>
              </a:rPr>
              <a:t>không phụ thuộc</a:t>
            </a:r>
            <a:r>
              <a:rPr sz="1250" b="0" i="0">
                <a:solidFill>
                  <a:srgbClr val="39424F"/>
                </a:solidFill>
                <a:latin typeface="Segoe UI"/>
              </a:rPr>
              <a:t> proof con phủ bao nhiêu bước huấn luyện. Nên chi phí ước được </a:t>
            </a:r>
            <a:r>
              <a:rPr sz="1250" b="1" i="0">
                <a:solidFill>
                  <a:srgbClr val="141821"/>
                </a:solidFill>
                <a:latin typeface="Segoe UI"/>
              </a:rPr>
              <a:t>trên giấy</a:t>
            </a:r>
            <a:r>
              <a:rPr sz="1250" b="0" i="0">
                <a:solidFill>
                  <a:srgbClr val="39424F"/>
                </a:solidFill>
                <a:latin typeface="Segoe UI"/>
              </a:rPr>
              <a:t> trước khi thuê máy.</a:t>
            </a:r>
          </a:p>
        </p:txBody>
      </p:sp>
      <p:sp>
        <p:nvSpPr>
          <p:cNvPr id="13" name="TextBox 12"/>
          <p:cNvSpPr txBox="1"/>
          <p:nvPr/>
        </p:nvSpPr>
        <p:spPr>
          <a:xfrm>
            <a:off x="6574536" y="4604828"/>
            <a:ext cx="476402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HỆ QUẢ: LÁ DÀI RẺ HƠN LÁ NGẮN</a:t>
            </a:r>
          </a:p>
          <a:p>
            <a:pPr>
              <a:lnSpc>
                <a:spcPct val="122000"/>
              </a:lnSpc>
            </a:pPr>
            <a:r>
              <a:rPr sz="1250" b="0" i="0">
                <a:solidFill>
                  <a:srgbClr val="39424F"/>
                </a:solidFill>
                <a:latin typeface="Segoe UI"/>
              </a:rPr>
              <a:t>Lá 8 bước cho 1.248 bước → 155 lượt gộp ≈ 33 tỉ cycles. Lá </a:t>
            </a:r>
            <a:r>
              <a:rPr sz="1250" b="1" i="0">
                <a:solidFill>
                  <a:srgbClr val="141821"/>
                </a:solidFill>
                <a:latin typeface="Segoe UI"/>
              </a:rPr>
              <a:t>156 bước</a:t>
            </a:r>
            <a:r>
              <a:rPr sz="1250" b="0" i="0">
                <a:solidFill>
                  <a:srgbClr val="39424F"/>
                </a:solidFill>
                <a:latin typeface="Segoe UI"/>
              </a:rPr>
              <a:t> → 7 lượt gộp ≈ 1,5 tỉ. Rẻ hơn khoảng </a:t>
            </a:r>
            <a:r>
              <a:rPr sz="1250" b="1" i="0">
                <a:solidFill>
                  <a:srgbClr val="141821"/>
                </a:solidFill>
                <a:latin typeface="Segoe UI"/>
              </a:rPr>
              <a:t>20 lần</a:t>
            </a:r>
            <a:r>
              <a:rPr sz="1250" b="0" i="0">
                <a:solidFill>
                  <a:srgbClr val="39424F"/>
                </a:solidFill>
                <a:latin typeface="Segoe UI"/>
              </a:rPr>
              <a:t> — vì thế lá của cây whole-run là k = 156.</a:t>
            </a:r>
          </a:p>
        </p:txBody>
      </p:sp>
      <p:sp>
        <p:nvSpPr>
          <p:cNvPr id="16" name="TextBox 15"/>
          <p:cNvSpPr txBox="1"/>
          <p:nvPr/>
        </p:nvSpPr>
        <p:spPr>
          <a:xfrm>
            <a:off x="6574536" y="5881240"/>
            <a:ext cx="476402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NHƯNG LÁ KHÔNG DÀI VÔ HẠN ĐƯỢC</a:t>
            </a:r>
          </a:p>
          <a:p>
            <a:pPr>
              <a:lnSpc>
                <a:spcPct val="122000"/>
              </a:lnSpc>
            </a:pPr>
            <a:r>
              <a:rPr sz="1250" b="0" i="0">
                <a:solidFill>
                  <a:srgbClr val="39424F"/>
                </a:solidFill>
                <a:latin typeface="Segoe UI"/>
              </a:rPr>
              <a:t>Lá 1.000 bước ≈ 3,9 tỉ cycles — vượt mức lớn nhất từng prove thành công và đụng trần RAM (~105 GB).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Rectangle 16"/>
          <p:cNvSpPr/>
          <p:nvPr/>
        </p:nvSpPr>
        <p:spPr>
          <a:xfrm>
            <a:off x="6355080" y="4892040"/>
            <a:ext cx="516636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489204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3520440"/>
            <a:ext cx="5394960" cy="1056956"/>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520440"/>
            <a:ext cx="38100" cy="1056956"/>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4 · GỘP</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4 — Hai chế độ gộp, và vì sao phải phân biệt</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17</a:t>
            </a:r>
          </a:p>
        </p:txBody>
      </p:sp>
      <p:sp>
        <p:nvSpPr>
          <p:cNvPr id="6" name="TextBox 5"/>
          <p:cNvSpPr txBox="1"/>
          <p:nvPr/>
        </p:nvSpPr>
        <p:spPr>
          <a:xfrm>
            <a:off x="658368" y="1965960"/>
            <a:ext cx="5394960" cy="274320"/>
          </a:xfrm>
          <a:prstGeom prst="rect">
            <a:avLst/>
          </a:prstGeom>
          <a:noFill/>
        </p:spPr>
        <p:txBody>
          <a:bodyPr wrap="square" lIns="0" rIns="0" tIns="0" bIns="0">
            <a:spAutoFit/>
          </a:bodyPr>
          <a:lstStyle/>
          <a:p>
            <a:r>
              <a:rPr sz="1200" b="1" i="0">
                <a:solidFill>
                  <a:srgbClr val="6B7581"/>
                </a:solidFill>
                <a:latin typeface="Segoe UI"/>
              </a:rPr>
              <a:t>CHẾ ĐỘ A — proof_manifest_chain</a:t>
            </a:r>
          </a:p>
        </p:txBody>
      </p:sp>
      <p:sp>
        <p:nvSpPr>
          <p:cNvPr id="7" name="TextBox 6"/>
          <p:cNvSpPr txBox="1"/>
          <p:nvPr/>
        </p:nvSpPr>
        <p:spPr>
          <a:xfrm>
            <a:off x="658368" y="2286000"/>
            <a:ext cx="5394960" cy="365760"/>
          </a:xfrm>
          <a:prstGeom prst="rect">
            <a:avLst/>
          </a:prstGeom>
          <a:noFill/>
        </p:spPr>
        <p:txBody>
          <a:bodyPr wrap="square" lIns="0" rIns="0" tIns="0" bIns="0">
            <a:spAutoFit/>
          </a:bodyPr>
          <a:lstStyle/>
          <a:p>
            <a:pPr>
              <a:lnSpc>
                <a:spcPct val="122000"/>
              </a:lnSpc>
              <a:spcAft>
                <a:spcPts val="400"/>
              </a:spcAft>
            </a:pPr>
            <a:r>
              <a:rPr sz="1150" b="1" i="0">
                <a:solidFill>
                  <a:srgbClr val="17605B"/>
                </a:solidFill>
                <a:latin typeface="Segoe UI"/>
              </a:rPr>
              <a:t>—  </a:t>
            </a:r>
            <a:r>
              <a:rPr sz="1150" b="0" i="0">
                <a:solidFill>
                  <a:srgbClr val="39424F"/>
                </a:solidFill>
                <a:latin typeface="Segoe UI"/>
              </a:rPr>
              <a:t>Guest </a:t>
            </a:r>
            <a:r>
              <a:rPr sz="1150" b="1" i="0">
                <a:solidFill>
                  <a:srgbClr val="141821"/>
                </a:solidFill>
                <a:latin typeface="Segoe UI"/>
              </a:rPr>
              <a:t>không</a:t>
            </a:r>
            <a:r>
              <a:rPr sz="1150" b="0" i="0">
                <a:solidFill>
                  <a:srgbClr val="39424F"/>
                </a:solidFill>
                <a:latin typeface="Segoe UI"/>
              </a:rPr>
              <a:t> kiểm proof con. Nó băm *hồ sơ* của từng proof con</a:t>
            </a:r>
          </a:p>
          <a:p>
            <a:pPr>
              <a:lnSpc>
                <a:spcPct val="122000"/>
              </a:lnSpc>
              <a:spcAft>
                <a:spcPts val="400"/>
              </a:spcAft>
            </a:pPr>
            <a:r>
              <a:rPr sz="1150" b="1" i="0">
                <a:solidFill>
                  <a:srgbClr val="17605B"/>
                </a:solidFill>
                <a:latin typeface="Segoe UI"/>
              </a:rPr>
              <a:t>—  </a:t>
            </a:r>
            <a:r>
              <a:rPr sz="1150" b="0" i="0">
                <a:solidFill>
                  <a:srgbClr val="39424F"/>
                </a:solidFill>
                <a:latin typeface="Segoe UI"/>
              </a:rPr>
              <a:t>Kiểm public input các con </a:t>
            </a:r>
            <a:r>
              <a:rPr sz="1150" b="1" i="0">
                <a:solidFill>
                  <a:srgbClr val="141821"/>
                </a:solidFill>
                <a:latin typeface="Segoe UI"/>
              </a:rPr>
              <a:t>nhất quán</a:t>
            </a:r>
            <a:r>
              <a:rPr sz="1150" b="0" i="0">
                <a:solidFill>
                  <a:srgbClr val="39424F"/>
                </a:solidFill>
                <a:latin typeface="Segoe UI"/>
              </a:rPr>
              <a:t>, dataset_root và config_hash </a:t>
            </a:r>
            <a:r>
              <a:rPr sz="1150" b="1" i="0">
                <a:solidFill>
                  <a:srgbClr val="141821"/>
                </a:solidFill>
                <a:latin typeface="Segoe UI"/>
              </a:rPr>
              <a:t>giống nhau</a:t>
            </a:r>
          </a:p>
          <a:p>
            <a:pPr>
              <a:lnSpc>
                <a:spcPct val="122000"/>
              </a:lnSpc>
              <a:spcAft>
                <a:spcPts val="400"/>
              </a:spcAft>
            </a:pPr>
            <a:r>
              <a:rPr sz="1150" b="1" i="0">
                <a:solidFill>
                  <a:srgbClr val="17605B"/>
                </a:solidFill>
                <a:latin typeface="Segoe UI"/>
              </a:rPr>
              <a:t>—  </a:t>
            </a:r>
            <a:r>
              <a:rPr sz="1150" b="0" i="0">
                <a:solidFill>
                  <a:srgbClr val="39424F"/>
                </a:solidFill>
                <a:latin typeface="Segoe UI"/>
              </a:rPr>
              <a:t>Kiểm </a:t>
            </a:r>
            <a:r>
              <a:rPr sz="1150" b="1" i="0">
                <a:solidFill>
                  <a:srgbClr val="141821"/>
                </a:solidFill>
                <a:latin typeface="Segoe UI"/>
              </a:rPr>
              <a:t>ranh giới chunk</a:t>
            </a:r>
            <a:r>
              <a:rPr sz="1150" b="0" i="0">
                <a:solidFill>
                  <a:srgbClr val="39424F"/>
                </a:solidFill>
                <a:latin typeface="Segoe UI"/>
              </a:rPr>
              <a:t> khớp và chuỗi checkpoint nối liền</a:t>
            </a:r>
          </a:p>
          <a:p>
            <a:pPr>
              <a:lnSpc>
                <a:spcPct val="122000"/>
              </a:lnSpc>
              <a:spcAft>
                <a:spcPts val="400"/>
              </a:spcAft>
            </a:pPr>
            <a:r>
              <a:rPr sz="1150" b="1" i="0">
                <a:solidFill>
                  <a:srgbClr val="17605B"/>
                </a:solidFill>
                <a:latin typeface="Segoe UI"/>
              </a:rPr>
              <a:t>—  </a:t>
            </a:r>
            <a:r>
              <a:rPr sz="1150" b="0" i="0">
                <a:solidFill>
                  <a:srgbClr val="39424F"/>
                </a:solidFill>
                <a:latin typeface="Segoe UI"/>
              </a:rPr>
              <a:t>Rẻ: T=128 chỉ 2.758.625 cycles, prove 2,6 s</a:t>
            </a:r>
          </a:p>
        </p:txBody>
      </p:sp>
      <p:sp>
        <p:nvSpPr>
          <p:cNvPr id="8" name="TextBox 7"/>
          <p:cNvSpPr txBox="1"/>
          <p:nvPr/>
        </p:nvSpPr>
        <p:spPr>
          <a:xfrm>
            <a:off x="877824" y="3648456"/>
            <a:ext cx="499262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YẾU HƠN — VÀ PAPER NÓI RÕ</a:t>
            </a:r>
          </a:p>
          <a:p>
            <a:pPr>
              <a:lnSpc>
                <a:spcPct val="122000"/>
              </a:lnSpc>
            </a:pPr>
            <a:r>
              <a:rPr sz="1250" b="0" i="0">
                <a:solidFill>
                  <a:srgbClr val="39424F"/>
                </a:solidFill>
                <a:latin typeface="Segoe UI"/>
              </a:rPr>
              <a:t>Phát biểu là “CÓ MỘT dãy T proof con có siêu dữ liệu nhất quán và nối liền”. Nó </a:t>
            </a:r>
            <a:r>
              <a:rPr sz="1250" b="1" i="0">
                <a:solidFill>
                  <a:srgbClr val="141821"/>
                </a:solidFill>
                <a:latin typeface="Segoe UI"/>
              </a:rPr>
              <a:t>không</a:t>
            </a:r>
            <a:r>
              <a:rPr sz="1250" b="0" i="0">
                <a:solidFill>
                  <a:srgbClr val="39424F"/>
                </a:solidFill>
                <a:latin typeface="Segoe UI"/>
              </a:rPr>
              <a:t> nói các proof con hợp lệ về mặt mật mã — ai đó phải kiểm ở ngoài.</a:t>
            </a:r>
          </a:p>
        </p:txBody>
      </p:sp>
      <p:sp>
        <p:nvSpPr>
          <p:cNvPr id="11" name="TextBox 10"/>
          <p:cNvSpPr txBox="1"/>
          <p:nvPr/>
        </p:nvSpPr>
        <p:spPr>
          <a:xfrm>
            <a:off x="658368" y="4800600"/>
            <a:ext cx="5394960" cy="274320"/>
          </a:xfrm>
          <a:prstGeom prst="rect">
            <a:avLst/>
          </a:prstGeom>
          <a:noFill/>
        </p:spPr>
        <p:txBody>
          <a:bodyPr wrap="square" lIns="0" rIns="0" tIns="0" bIns="0">
            <a:spAutoFit/>
          </a:bodyPr>
          <a:lstStyle/>
          <a:p>
            <a:r>
              <a:rPr sz="1200" b="1" i="0">
                <a:solidFill>
                  <a:srgbClr val="17605B"/>
                </a:solidFill>
                <a:latin typeface="Segoe UI"/>
              </a:rPr>
              <a:t>CHẾ ĐỘ B — recursive_sp1</a:t>
            </a:r>
          </a:p>
        </p:txBody>
      </p:sp>
      <p:sp>
        <p:nvSpPr>
          <p:cNvPr id="12" name="TextBox 11"/>
          <p:cNvSpPr txBox="1"/>
          <p:nvPr/>
        </p:nvSpPr>
        <p:spPr>
          <a:xfrm>
            <a:off x="658368" y="5120640"/>
            <a:ext cx="5394960" cy="365760"/>
          </a:xfrm>
          <a:prstGeom prst="rect">
            <a:avLst/>
          </a:prstGeom>
          <a:noFill/>
        </p:spPr>
        <p:txBody>
          <a:bodyPr wrap="square" lIns="0" rIns="0" tIns="0" bIns="0">
            <a:spAutoFit/>
          </a:bodyPr>
          <a:lstStyle/>
          <a:p>
            <a:pPr>
              <a:lnSpc>
                <a:spcPct val="122000"/>
              </a:lnSpc>
              <a:spcAft>
                <a:spcPts val="400"/>
              </a:spcAft>
            </a:pPr>
            <a:r>
              <a:rPr sz="1150" b="1" i="0">
                <a:solidFill>
                  <a:srgbClr val="17605B"/>
                </a:solidFill>
                <a:latin typeface="Segoe UI"/>
              </a:rPr>
              <a:t>—  </a:t>
            </a:r>
            <a:r>
              <a:rPr sz="1150" b="0" i="0">
                <a:solidFill>
                  <a:srgbClr val="39424F"/>
                </a:solidFill>
                <a:latin typeface="Segoe UI"/>
              </a:rPr>
              <a:t>Guest </a:t>
            </a:r>
            <a:r>
              <a:rPr sz="1150" b="1" i="0">
                <a:solidFill>
                  <a:srgbClr val="141821"/>
                </a:solidFill>
                <a:latin typeface="Segoe UI"/>
              </a:rPr>
              <a:t>thật sự chạy trình kiểm SP1 lên từng proof con, bên trong mạch</a:t>
            </a:r>
          </a:p>
          <a:p>
            <a:pPr>
              <a:lnSpc>
                <a:spcPct val="122000"/>
              </a:lnSpc>
              <a:spcAft>
                <a:spcPts val="400"/>
              </a:spcAft>
            </a:pPr>
            <a:r>
              <a:rPr sz="1150" b="1" i="0">
                <a:solidFill>
                  <a:srgbClr val="17605B"/>
                </a:solidFill>
                <a:latin typeface="Segoe UI"/>
              </a:rPr>
              <a:t>—  </a:t>
            </a:r>
            <a:r>
              <a:rPr sz="1150" b="0" i="0">
                <a:solidFill>
                  <a:srgbClr val="39424F"/>
                </a:solidFill>
                <a:latin typeface="Segoe UI"/>
              </a:rPr>
              <a:t>Không còn giả định ngoài nào — đây mới là recursion đúng nghĩa</a:t>
            </a:r>
          </a:p>
          <a:p>
            <a:pPr>
              <a:lnSpc>
                <a:spcPct val="122000"/>
              </a:lnSpc>
              <a:spcAft>
                <a:spcPts val="400"/>
              </a:spcAft>
            </a:pPr>
            <a:r>
              <a:rPr sz="1150" b="1" i="0">
                <a:solidFill>
                  <a:srgbClr val="17605B"/>
                </a:solidFill>
                <a:latin typeface="Segoe UI"/>
              </a:rPr>
              <a:t>—  </a:t>
            </a:r>
            <a:r>
              <a:rPr sz="1150" b="0" i="0">
                <a:solidFill>
                  <a:srgbClr val="39424F"/>
                </a:solidFill>
                <a:latin typeface="Segoe UI"/>
              </a:rPr>
              <a:t>Đắt: T=64 tốn 1,68 tỉ cycles, prove 755 s. </a:t>
            </a:r>
            <a:r>
              <a:rPr sz="1150" b="1" i="0">
                <a:solidFill>
                  <a:srgbClr val="141821"/>
                </a:solidFill>
                <a:latin typeface="Segoe UI"/>
              </a:rPr>
              <a:t>Chỉ chạy được trên GPU</a:t>
            </a:r>
          </a:p>
        </p:txBody>
      </p:sp>
      <p:sp>
        <p:nvSpPr>
          <p:cNvPr id="13" name="TextBox 12"/>
          <p:cNvSpPr txBox="1"/>
          <p:nvPr/>
        </p:nvSpPr>
        <p:spPr>
          <a:xfrm>
            <a:off x="6355080" y="1965960"/>
            <a:ext cx="5166360" cy="274320"/>
          </a:xfrm>
          <a:prstGeom prst="rect">
            <a:avLst/>
          </a:prstGeom>
          <a:noFill/>
        </p:spPr>
        <p:txBody>
          <a:bodyPr wrap="square" lIns="0" rIns="0" tIns="0" bIns="0">
            <a:spAutoFit/>
          </a:bodyPr>
          <a:lstStyle/>
          <a:p>
            <a:r>
              <a:rPr sz="1100" b="1" i="0">
                <a:solidFill>
                  <a:srgbClr val="6B7581"/>
                </a:solidFill>
                <a:latin typeface="Segoe UI"/>
              </a:rPr>
              <a:t>public_inputs của training_aggregation_t32</a:t>
            </a:r>
          </a:p>
        </p:txBody>
      </p:sp>
      <p:sp>
        <p:nvSpPr>
          <p:cNvPr id="14" name="Rectangle 13"/>
          <p:cNvSpPr/>
          <p:nvPr/>
        </p:nvSpPr>
        <p:spPr>
          <a:xfrm>
            <a:off x="6355080" y="2240280"/>
            <a:ext cx="5166360" cy="2997708"/>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2350008"/>
            <a:ext cx="4873752" cy="2778252"/>
          </a:xfrm>
          <a:prstGeom prst="rect">
            <a:avLst/>
          </a:prstGeom>
          <a:noFill/>
        </p:spPr>
        <p:txBody>
          <a:bodyPr wrap="square" lIns="0" rIns="0" tIns="0" bIns="0">
            <a:spAutoFit/>
          </a:bodyPr>
          <a:lstStyle/>
          <a:p>
            <a:pPr>
              <a:lnSpc>
                <a:spcPct val="134000"/>
              </a:lnSpc>
              <a:spcAft>
                <a:spcPts val="0"/>
              </a:spcAft>
            </a:pPr>
            <a:r>
              <a:rPr sz="1000" b="0" i="0">
                <a:solidFill>
                  <a:srgbClr val="39424F"/>
                </a:solidFill>
                <a:latin typeface="Consolas"/>
              </a:rPr>
              <a:t>aggregation_mode      proof_manifest_chain</a:t>
            </a:r>
          </a:p>
          <a:p>
            <a:pPr>
              <a:lnSpc>
                <a:spcPct val="134000"/>
              </a:lnSpc>
              <a:spcAft>
                <a:spcPts val="0"/>
              </a:spcAft>
            </a:pPr>
            <a:r>
              <a:rPr sz="1000" b="0" i="0">
                <a:solidFill>
                  <a:srgbClr val="39424F"/>
                </a:solidFill>
                <a:latin typeface="Consolas"/>
              </a:rPr>
              <a:t>chunk_relation_id     training_fragment_k8</a:t>
            </a:r>
          </a:p>
          <a:p>
            <a:pPr>
              <a:lnSpc>
                <a:spcPct val="134000"/>
              </a:lnSpc>
              <a:spcAft>
                <a:spcPts val="0"/>
              </a:spcAft>
            </a:pPr>
            <a:r>
              <a:rPr sz="1000" b="0" i="0">
                <a:solidFill>
                  <a:srgbClr val="39424F"/>
                </a:solidFill>
                <a:latin typeface="Consolas"/>
              </a:rPr>
              <a:t>chunk_count           4</a:t>
            </a:r>
          </a:p>
          <a:p>
            <a:pPr>
              <a:lnSpc>
                <a:spcPct val="134000"/>
              </a:lnSpc>
              <a:spcAft>
                <a:spcPts val="0"/>
              </a:spcAft>
            </a:pPr>
            <a:r>
              <a:rPr sz="1000" b="0" i="0">
                <a:solidFill>
                  <a:srgbClr val="39424F"/>
                </a:solidFill>
                <a:latin typeface="Consolas"/>
              </a:rPr>
              <a:t>chunk_size            8</a:t>
            </a:r>
          </a:p>
          <a:p>
            <a:pPr>
              <a:lnSpc>
                <a:spcPct val="134000"/>
              </a:lnSpc>
              <a:spcAft>
                <a:spcPts val="0"/>
              </a:spcAft>
            </a:pPr>
            <a:r>
              <a:rPr sz="1000" b="0" i="0">
                <a:solidFill>
                  <a:srgbClr val="39424F"/>
                </a:solidFill>
                <a:latin typeface="Consolas"/>
              </a:rPr>
              <a:t>step_start / step_end 0 / 32</a:t>
            </a:r>
          </a:p>
          <a:p>
            <a:pPr>
              <a:lnSpc>
                <a:spcPct val="134000"/>
              </a:lnSpc>
              <a:spcAft>
                <a:spcPts val="0"/>
              </a:spcAft>
            </a:pPr>
            <a:r>
              <a:rPr sz="1000" b="0" i="0">
                <a:solidFill>
                  <a:srgbClr val="39424F"/>
                </a:solidFill>
                <a:latin typeface="Consolas"/>
              </a:rPr>
              <a:t>dataset_root          55e0b47b…</a:t>
            </a:r>
          </a:p>
          <a:p>
            <a:pPr>
              <a:lnSpc>
                <a:spcPct val="134000"/>
              </a:lnSpc>
              <a:spcAft>
                <a:spcPts val="0"/>
              </a:spcAft>
            </a:pPr>
            <a:r>
              <a:rPr sz="1000" b="0" i="0">
                <a:solidFill>
                  <a:srgbClr val="39424F"/>
                </a:solidFill>
                <a:latin typeface="Consolas"/>
              </a:rPr>
              <a:t>config_hash           b15ab414…</a:t>
            </a:r>
          </a:p>
          <a:p>
            <a:pPr>
              <a:lnSpc>
                <a:spcPct val="134000"/>
              </a:lnSpc>
              <a:spcAft>
                <a:spcPts val="0"/>
              </a:spcAft>
            </a:pPr>
            <a:r>
              <a:rPr sz="1000" b="0" i="0">
                <a:solidFill>
                  <a:srgbClr val="39424F"/>
                </a:solidFill>
                <a:latin typeface="Consolas"/>
              </a:rPr>
              <a:t>chunk_public_inputs_root  4e426802…</a:t>
            </a:r>
          </a:p>
          <a:p>
            <a:pPr>
              <a:lnSpc>
                <a:spcPct val="134000"/>
              </a:lnSpc>
              <a:spcAft>
                <a:spcPts val="0"/>
              </a:spcAft>
            </a:pPr>
            <a:r>
              <a:rPr sz="1000" b="0" i="0">
                <a:solidFill>
                  <a:srgbClr val="39424F"/>
                </a:solidFill>
                <a:latin typeface="Consolas"/>
              </a:rPr>
              <a:t>chunk_proof_root          1e24909a…</a:t>
            </a:r>
          </a:p>
          <a:p>
            <a:pPr>
              <a:lnSpc>
                <a:spcPct val="134000"/>
              </a:lnSpc>
              <a:spcAft>
                <a:spcPts val="0"/>
              </a:spcAft>
            </a:pPr>
            <a:r>
              <a:rPr sz="1000" b="0" i="0">
                <a:solidFill>
                  <a:srgbClr val="39424F"/>
                </a:solidFill>
                <a:latin typeface="Consolas"/>
              </a:rPr>
              <a:t>chunk_verify_report_root  0a8f313e…</a:t>
            </a:r>
          </a:p>
          <a:p>
            <a:pPr>
              <a:lnSpc>
                <a:spcPct val="134000"/>
              </a:lnSpc>
              <a:spcAft>
                <a:spcPts val="0"/>
              </a:spcAft>
            </a:pPr>
            <a:r>
              <a:rPr sz="1000" b="0" i="0">
                <a:solidFill>
                  <a:srgbClr val="39424F"/>
                </a:solidFill>
                <a:latin typeface="Consolas"/>
              </a:rPr>
              <a:t>input_checkpoint_hash     622e834e…</a:t>
            </a:r>
          </a:p>
          <a:p>
            <a:pPr>
              <a:lnSpc>
                <a:spcPct val="134000"/>
              </a:lnSpc>
              <a:spcAft>
                <a:spcPts val="0"/>
              </a:spcAft>
            </a:pPr>
            <a:r>
              <a:rPr sz="1000" b="0" i="0">
                <a:solidFill>
                  <a:srgbClr val="39424F"/>
                </a:solidFill>
                <a:latin typeface="Consolas"/>
              </a:rPr>
              <a:t>output_checkpoint_hash    e0076d29…</a:t>
            </a:r>
          </a:p>
          <a:p>
            <a:pPr>
              <a:lnSpc>
                <a:spcPct val="134000"/>
              </a:lnSpc>
              <a:spcAft>
                <a:spcPts val="0"/>
              </a:spcAft>
            </a:pPr>
            <a:r>
              <a:rPr sz="1000" b="0" i="0">
                <a:solidFill>
                  <a:srgbClr val="39424F"/>
                </a:solidFill>
                <a:latin typeface="Consolas"/>
              </a:rPr>
              <a:t>aggregate_root            9e8b7fde…</a:t>
            </a:r>
          </a:p>
          <a:p>
            <a:pPr>
              <a:lnSpc>
                <a:spcPct val="134000"/>
              </a:lnSpc>
              <a:spcAft>
                <a:spcPts val="0"/>
              </a:spcAft>
            </a:pPr>
            <a:r>
              <a:rPr sz="1000" b="0" i="0">
                <a:solidFill>
                  <a:srgbClr val="39424F"/>
                </a:solidFill>
                <a:latin typeface="Consolas"/>
              </a:rPr>
              <a:t>claim_scope   "chunk-chain aggregation over</a:t>
            </a:r>
          </a:p>
          <a:p>
            <a:pPr>
              <a:lnSpc>
                <a:spcPct val="134000"/>
              </a:lnSpc>
              <a:spcAft>
                <a:spcPts val="0"/>
              </a:spcAft>
            </a:pPr>
            <a:r>
              <a:rPr sz="1000" b="0" i="0">
                <a:solidFill>
                  <a:srgbClr val="39424F"/>
                </a:solidFill>
                <a:latin typeface="Consolas"/>
              </a:rPr>
              <a:t>               externally verified proof manifests"</a:t>
            </a:r>
          </a:p>
        </p:txBody>
      </p:sp>
      <p:sp>
        <p:nvSpPr>
          <p:cNvPr id="16" name="TextBox 15"/>
          <p:cNvSpPr txBox="1"/>
          <p:nvPr/>
        </p:nvSpPr>
        <p:spPr>
          <a:xfrm>
            <a:off x="6574536" y="5020056"/>
            <a:ext cx="476402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CLAIM_SCOPE NẰM TRONG PUBLIC INPUT</a:t>
            </a:r>
          </a:p>
          <a:p>
            <a:pPr>
              <a:lnSpc>
                <a:spcPct val="122000"/>
              </a:lnSpc>
            </a:pPr>
            <a:r>
              <a:rPr sz="1250" b="0" i="0">
                <a:solidFill>
                  <a:srgbClr val="39424F"/>
                </a:solidFill>
                <a:latin typeface="Segoe UI"/>
              </a:rPr>
              <a:t>Chế độ gộp và phạm vi phát biểu là dữ liệu công khai, không phải chú thích trong paper. Verifier đọc được thẳng rằng đây là chế độ A.</a:t>
            </a:r>
          </a:p>
        </p:txBody>
      </p:sp>
      <p:graphicFrame>
        <p:nvGraphicFramePr>
          <p:cNvPr id="19" name="Table 18"/>
          <p:cNvGraphicFramePr>
            <a:graphicFrameLocks noGrp="1"/>
          </p:cNvGraphicFramePr>
          <p:nvPr/>
        </p:nvGraphicFramePr>
        <p:xfrm>
          <a:off x="6355080" y="5852160"/>
          <a:ext cx="5166358" cy="877824"/>
        </p:xfrm>
        <a:graphic>
          <a:graphicData uri="http://schemas.openxmlformats.org/drawingml/2006/table">
            <a:tbl>
              <a:tblPr bandRow="1">
                <a:tableStyleId>{5C22544A-7EE6-4342-B048-85BDC9FD1C3A}</a:tableStyleId>
              </a:tblPr>
              <a:tblGrid>
                <a:gridCol w="1987061"/>
                <a:gridCol w="1987061"/>
                <a:gridCol w="1192236"/>
              </a:tblGrid>
              <a:tr h="292608">
                <a:tc>
                  <a:txBody>
                    <a:bodyPr/>
                    <a:lstStyle/>
                    <a:p>
                      <a:r>
                        <a:rPr sz="900" b="1" i="0">
                          <a:solidFill>
                            <a:srgbClr val="6B7581"/>
                          </a:solidFill>
                          <a:latin typeface="Segoe UI"/>
                        </a:rPr>
                        <a:t>CÙNG T = 32</a:t>
                      </a:r>
                    </a:p>
                  </a:txBody>
                  <a:tcPr marL="64008" marR="64008" marT="27432" marB="27432" anchor="ctr">
                    <a:solidFill>
                      <a:srgbClr val="FFFFFF"/>
                    </a:solidFill>
                  </a:tcPr>
                </a:tc>
                <a:tc>
                  <a:txBody>
                    <a:bodyPr/>
                    <a:lstStyle/>
                    <a:p>
                      <a:pPr algn="r"/>
                      <a:r>
                        <a:rPr sz="900" b="1" i="0">
                          <a:solidFill>
                            <a:srgbClr val="6B7581"/>
                          </a:solidFill>
                          <a:latin typeface="Segoe UI"/>
                        </a:rPr>
                        <a:t>CYCLES</a:t>
                      </a:r>
                    </a:p>
                  </a:txBody>
                  <a:tcPr marL="64008" marR="64008" marT="27432" marB="27432" anchor="ctr">
                    <a:solidFill>
                      <a:srgbClr val="FFFFFF"/>
                    </a:solidFill>
                  </a:tcPr>
                </a:tc>
                <a:tc>
                  <a:txBody>
                    <a:bodyPr/>
                    <a:lstStyle/>
                    <a:p>
                      <a:pPr algn="r"/>
                      <a:r>
                        <a:rPr sz="900" b="1" i="0">
                          <a:solidFill>
                            <a:srgbClr val="6B7581"/>
                          </a:solidFill>
                          <a:latin typeface="Segoe UI"/>
                        </a:rPr>
                        <a:t>PROVE</a:t>
                      </a:r>
                    </a:p>
                  </a:txBody>
                  <a:tcPr marL="64008" marR="64008" marT="27432" marB="27432" anchor="ctr">
                    <a:solidFill>
                      <a:srgbClr val="FFFFFF"/>
                    </a:solidFill>
                  </a:tcPr>
                </a:tc>
              </a:tr>
              <a:tr h="292608">
                <a:tc>
                  <a:txBody>
                    <a:bodyPr/>
                    <a:lstStyle/>
                    <a:p>
                      <a:r>
                        <a:rPr sz="1050" b="0" i="0">
                          <a:solidFill>
                            <a:srgbClr val="39424F"/>
                          </a:solidFill>
                          <a:latin typeface="Segoe UI"/>
                        </a:rPr>
                        <a:t>manifest chain</a:t>
                      </a:r>
                    </a:p>
                  </a:txBody>
                  <a:tcPr marL="64008" marR="64008" marT="27432" marB="27432" anchor="ctr">
                    <a:solidFill>
                      <a:srgbClr val="FFFFFF"/>
                    </a:solidFill>
                  </a:tcPr>
                </a:tc>
                <a:tc>
                  <a:txBody>
                    <a:bodyPr/>
                    <a:lstStyle/>
                    <a:p>
                      <a:pPr algn="r"/>
                      <a:r>
                        <a:rPr sz="1050" b="0" i="0">
                          <a:solidFill>
                            <a:srgbClr val="39424F"/>
                          </a:solidFill>
                          <a:latin typeface="Consolas"/>
                        </a:rPr>
                        <a:t>879.949</a:t>
                      </a:r>
                    </a:p>
                  </a:txBody>
                  <a:tcPr marL="64008" marR="64008" marT="27432" marB="27432" anchor="ctr">
                    <a:solidFill>
                      <a:srgbClr val="FFFFFF"/>
                    </a:solidFill>
                  </a:tcPr>
                </a:tc>
                <a:tc>
                  <a:txBody>
                    <a:bodyPr/>
                    <a:lstStyle/>
                    <a:p>
                      <a:pPr algn="r"/>
                      <a:r>
                        <a:rPr sz="1050" b="0" i="0">
                          <a:solidFill>
                            <a:srgbClr val="39424F"/>
                          </a:solidFill>
                          <a:latin typeface="Consolas"/>
                        </a:rPr>
                        <a:t>1,4 s</a:t>
                      </a:r>
                    </a:p>
                  </a:txBody>
                  <a:tcPr marL="64008" marR="64008" marT="27432" marB="27432" anchor="ctr">
                    <a:solidFill>
                      <a:srgbClr val="FFFFFF"/>
                    </a:solidFill>
                  </a:tcPr>
                </a:tc>
              </a:tr>
              <a:tr h="292608">
                <a:tc>
                  <a:txBody>
                    <a:bodyPr/>
                    <a:lstStyle/>
                    <a:p>
                      <a:r>
                        <a:rPr sz="1050" b="1" i="0">
                          <a:solidFill>
                            <a:srgbClr val="141821"/>
                          </a:solidFill>
                          <a:latin typeface="Segoe UI"/>
                        </a:rPr>
                        <a:t>recursive_sp1</a:t>
                      </a:r>
                    </a:p>
                  </a:txBody>
                  <a:tcPr marL="64008" marR="64008" marT="27432" marB="27432" anchor="ctr">
                    <a:solidFill>
                      <a:srgbClr val="DCEAE8"/>
                    </a:solidFill>
                  </a:tcPr>
                </a:tc>
                <a:tc>
                  <a:txBody>
                    <a:bodyPr/>
                    <a:lstStyle/>
                    <a:p>
                      <a:pPr algn="r"/>
                      <a:r>
                        <a:rPr sz="1050" b="0" i="0">
                          <a:solidFill>
                            <a:srgbClr val="39424F"/>
                          </a:solidFill>
                          <a:latin typeface="Consolas"/>
                        </a:rPr>
                        <a:t>842.030.244</a:t>
                      </a:r>
                    </a:p>
                  </a:txBody>
                  <a:tcPr marL="64008" marR="64008" marT="27432" marB="27432" anchor="ctr">
                    <a:solidFill>
                      <a:srgbClr val="DCEAE8"/>
                    </a:solidFill>
                  </a:tcPr>
                </a:tc>
                <a:tc>
                  <a:txBody>
                    <a:bodyPr/>
                    <a:lstStyle/>
                    <a:p>
                      <a:pPr algn="r"/>
                      <a:r>
                        <a:rPr sz="1050" b="0" i="0">
                          <a:solidFill>
                            <a:srgbClr val="39424F"/>
                          </a:solidFill>
                          <a:latin typeface="Consolas"/>
                        </a:rPr>
                        <a:t>392,1 s</a:t>
                      </a:r>
                    </a:p>
                  </a:txBody>
                  <a:tcPr marL="64008" marR="64008" marT="27432" marB="27432" anchor="ctr">
                    <a:solidFill>
                      <a:srgbClr val="DCEAE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58368" y="4956300"/>
            <a:ext cx="5349240" cy="842644"/>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4956300"/>
            <a:ext cx="38100" cy="842644"/>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3429000"/>
            <a:ext cx="5349240" cy="1271268"/>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3429000"/>
            <a:ext cx="38100" cy="1271268"/>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LỚP 4 · GỘP</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Lớp 4 — Kết quả: một lượt huấn luyện trọn vẹn dưới một proof</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18</a:t>
            </a:r>
          </a:p>
        </p:txBody>
      </p:sp>
      <p:graphicFrame>
        <p:nvGraphicFramePr>
          <p:cNvPr id="6" name="Table 5"/>
          <p:cNvGraphicFramePr>
            <a:graphicFrameLocks noGrp="1"/>
          </p:cNvGraphicFramePr>
          <p:nvPr/>
        </p:nvGraphicFramePr>
        <p:xfrm>
          <a:off x="658368" y="2057400"/>
          <a:ext cx="10881356" cy="1170432"/>
        </p:xfrm>
        <a:graphic>
          <a:graphicData uri="http://schemas.openxmlformats.org/drawingml/2006/table">
            <a:tbl>
              <a:tblPr bandRow="1">
                <a:tableStyleId>{5C22544A-7EE6-4342-B048-85BDC9FD1C3A}</a:tableStyleId>
              </a:tblPr>
              <a:tblGrid>
                <a:gridCol w="2473036"/>
                <a:gridCol w="1483821"/>
                <a:gridCol w="1483821"/>
                <a:gridCol w="2473036"/>
                <a:gridCol w="1483821"/>
                <a:gridCol w="1483821"/>
              </a:tblGrid>
              <a:tr h="292608">
                <a:tc>
                  <a:txBody>
                    <a:bodyPr/>
                    <a:lstStyle/>
                    <a:p>
                      <a:r>
                        <a:rPr sz="950" b="1" i="0">
                          <a:solidFill>
                            <a:srgbClr val="6B7581"/>
                          </a:solidFill>
                          <a:latin typeface="Segoe UI"/>
                        </a:rPr>
                        <a:t>MÔI TRƯỜNG</a:t>
                      </a:r>
                    </a:p>
                  </a:txBody>
                  <a:tcPr marL="64008" marR="64008" marT="27432" marB="27432" anchor="ctr">
                    <a:solidFill>
                      <a:srgbClr val="FFFFFF"/>
                    </a:solidFill>
                  </a:tcPr>
                </a:tc>
                <a:tc>
                  <a:txBody>
                    <a:bodyPr/>
                    <a:lstStyle/>
                    <a:p>
                      <a:pPr algn="r"/>
                      <a:r>
                        <a:rPr sz="950" b="1" i="0">
                          <a:solidFill>
                            <a:srgbClr val="6B7581"/>
                          </a:solidFill>
                          <a:latin typeface="Segoe UI"/>
                        </a:rPr>
                        <a:t>BƯỚC</a:t>
                      </a:r>
                    </a:p>
                  </a:txBody>
                  <a:tcPr marL="64008" marR="64008" marT="27432" marB="27432" anchor="ctr">
                    <a:solidFill>
                      <a:srgbClr val="FFFFFF"/>
                    </a:solidFill>
                  </a:tcPr>
                </a:tc>
                <a:tc>
                  <a:txBody>
                    <a:bodyPr/>
                    <a:lstStyle/>
                    <a:p>
                      <a:pPr algn="r"/>
                      <a:r>
                        <a:rPr sz="950" b="1" i="0">
                          <a:solidFill>
                            <a:srgbClr val="6B7581"/>
                          </a:solidFill>
                          <a:latin typeface="Segoe UI"/>
                        </a:rPr>
                        <a:t>LÁ</a:t>
                      </a:r>
                    </a:p>
                  </a:txBody>
                  <a:tcPr marL="64008" marR="64008" marT="27432" marB="27432" anchor="ctr">
                    <a:solidFill>
                      <a:srgbClr val="FFFFFF"/>
                    </a:solidFill>
                  </a:tcPr>
                </a:tc>
                <a:tc>
                  <a:txBody>
                    <a:bodyPr/>
                    <a:lstStyle/>
                    <a:p>
                      <a:pPr algn="r"/>
                      <a:r>
                        <a:rPr sz="950" b="1" i="0">
                          <a:solidFill>
                            <a:srgbClr val="6B7581"/>
                          </a:solidFill>
                          <a:latin typeface="Segoe UI"/>
                        </a:rPr>
                        <a:t>CYCLES (PROOF GỐC)</a:t>
                      </a:r>
                    </a:p>
                  </a:txBody>
                  <a:tcPr marL="64008" marR="64008" marT="27432" marB="27432" anchor="ctr">
                    <a:solidFill>
                      <a:srgbClr val="FFFFFF"/>
                    </a:solidFill>
                  </a:tcPr>
                </a:tc>
                <a:tc>
                  <a:txBody>
                    <a:bodyPr/>
                    <a:lstStyle/>
                    <a:p>
                      <a:pPr algn="r"/>
                      <a:r>
                        <a:rPr sz="950" b="1" i="0">
                          <a:solidFill>
                            <a:srgbClr val="6B7581"/>
                          </a:solidFill>
                          <a:latin typeface="Segoe UI"/>
                        </a:rPr>
                        <a:t>PROVE</a:t>
                      </a:r>
                    </a:p>
                  </a:txBody>
                  <a:tcPr marL="64008" marR="64008" marT="27432" marB="27432" anchor="ctr">
                    <a:solidFill>
                      <a:srgbClr val="FFFFFF"/>
                    </a:solidFill>
                  </a:tcPr>
                </a:tc>
                <a:tc>
                  <a:txBody>
                    <a:bodyPr/>
                    <a:lstStyle/>
                    <a:p>
                      <a:pPr algn="r"/>
                      <a:r>
                        <a:rPr sz="950" b="1" i="0">
                          <a:solidFill>
                            <a:srgbClr val="6B7581"/>
                          </a:solidFill>
                          <a:latin typeface="Segoe UI"/>
                        </a:rPr>
                        <a:t>VERIFY</a:t>
                      </a:r>
                    </a:p>
                  </a:txBody>
                  <a:tcPr marL="64008" marR="64008" marT="27432" marB="27432" anchor="ctr">
                    <a:solidFill>
                      <a:srgbClr val="FFFFFF"/>
                    </a:solidFill>
                  </a:tcPr>
                </a:tc>
              </a:tr>
              <a:tr h="292608">
                <a:tc>
                  <a:txBody>
                    <a:bodyPr/>
                    <a:lstStyle/>
                    <a:p>
                      <a:r>
                        <a:rPr sz="1100" b="0" i="0">
                          <a:solidFill>
                            <a:srgbClr val="39424F"/>
                          </a:solidFill>
                          <a:latin typeface="Segoe UI"/>
                        </a:rPr>
                        <a:t>CartPole expert</a:t>
                      </a:r>
                    </a:p>
                  </a:txBody>
                  <a:tcPr marL="64008" marR="64008" marT="27432" marB="27432" anchor="ctr">
                    <a:solidFill>
                      <a:srgbClr val="FFFFFF"/>
                    </a:solidFill>
                  </a:tcPr>
                </a:tc>
                <a:tc>
                  <a:txBody>
                    <a:bodyPr/>
                    <a:lstStyle/>
                    <a:p>
                      <a:pPr algn="r"/>
                      <a:r>
                        <a:rPr sz="1100" b="0" i="0">
                          <a:solidFill>
                            <a:srgbClr val="39424F"/>
                          </a:solidFill>
                          <a:latin typeface="Consolas"/>
                        </a:rPr>
                        <a:t>1.248</a:t>
                      </a:r>
                    </a:p>
                  </a:txBody>
                  <a:tcPr marL="64008" marR="64008" marT="27432" marB="27432" anchor="ctr">
                    <a:solidFill>
                      <a:srgbClr val="FFFFFF"/>
                    </a:solidFill>
                  </a:tcPr>
                </a:tc>
                <a:tc>
                  <a:txBody>
                    <a:bodyPr/>
                    <a:lstStyle/>
                    <a:p>
                      <a:pPr algn="r"/>
                      <a:r>
                        <a:rPr sz="1100" b="0" i="0">
                          <a:solidFill>
                            <a:srgbClr val="39424F"/>
                          </a:solidFill>
                          <a:latin typeface="Consolas"/>
                        </a:rPr>
                        <a:t>8 × 156</a:t>
                      </a:r>
                    </a:p>
                  </a:txBody>
                  <a:tcPr marL="64008" marR="64008" marT="27432" marB="27432" anchor="ctr">
                    <a:solidFill>
                      <a:srgbClr val="FFFFFF"/>
                    </a:solidFill>
                  </a:tcPr>
                </a:tc>
                <a:tc>
                  <a:txBody>
                    <a:bodyPr/>
                    <a:lstStyle/>
                    <a:p>
                      <a:pPr algn="r"/>
                      <a:r>
                        <a:rPr sz="1100" b="0" i="0">
                          <a:solidFill>
                            <a:srgbClr val="39424F"/>
                          </a:solidFill>
                          <a:latin typeface="Consolas"/>
                        </a:rPr>
                        <a:t>422.411.631</a:t>
                      </a:r>
                    </a:p>
                  </a:txBody>
                  <a:tcPr marL="64008" marR="64008" marT="27432" marB="27432" anchor="ctr">
                    <a:solidFill>
                      <a:srgbClr val="FFFFFF"/>
                    </a:solidFill>
                  </a:tcPr>
                </a:tc>
                <a:tc>
                  <a:txBody>
                    <a:bodyPr/>
                    <a:lstStyle/>
                    <a:p>
                      <a:pPr algn="r"/>
                      <a:r>
                        <a:rPr sz="1100" b="0" i="0">
                          <a:solidFill>
                            <a:srgbClr val="39424F"/>
                          </a:solidFill>
                          <a:latin typeface="Consolas"/>
                        </a:rPr>
                        <a:t>191,8 s</a:t>
                      </a:r>
                    </a:p>
                  </a:txBody>
                  <a:tcPr marL="64008" marR="64008" marT="27432" marB="27432" anchor="ctr">
                    <a:solidFill>
                      <a:srgbClr val="FFFFFF"/>
                    </a:solidFill>
                  </a:tcPr>
                </a:tc>
                <a:tc>
                  <a:txBody>
                    <a:bodyPr/>
                    <a:lstStyle/>
                    <a:p>
                      <a:pPr algn="r"/>
                      <a:r>
                        <a:rPr sz="1100" b="0" i="0">
                          <a:solidFill>
                            <a:srgbClr val="39424F"/>
                          </a:solidFill>
                          <a:latin typeface="Consolas"/>
                        </a:rPr>
                        <a:t>0,054 s</a:t>
                      </a:r>
                    </a:p>
                  </a:txBody>
                  <a:tcPr marL="64008" marR="64008" marT="27432" marB="27432" anchor="ctr">
                    <a:solidFill>
                      <a:srgbClr val="FFFFFF"/>
                    </a:solidFill>
                  </a:tcPr>
                </a:tc>
              </a:tr>
              <a:tr h="292608">
                <a:tc>
                  <a:txBody>
                    <a:bodyPr/>
                    <a:lstStyle/>
                    <a:p>
                      <a:r>
                        <a:rPr sz="1100" b="0" i="0">
                          <a:solidFill>
                            <a:srgbClr val="39424F"/>
                          </a:solidFill>
                          <a:latin typeface="Segoe UI"/>
                        </a:rPr>
                        <a:t>LunarLander expert</a:t>
                      </a:r>
                    </a:p>
                  </a:txBody>
                  <a:tcPr marL="64008" marR="64008" marT="27432" marB="27432" anchor="ctr">
                    <a:solidFill>
                      <a:srgbClr val="FFFFFF"/>
                    </a:solidFill>
                  </a:tcPr>
                </a:tc>
                <a:tc>
                  <a:txBody>
                    <a:bodyPr/>
                    <a:lstStyle/>
                    <a:p>
                      <a:pPr algn="r"/>
                      <a:r>
                        <a:rPr sz="1100" b="0" i="0">
                          <a:solidFill>
                            <a:srgbClr val="39424F"/>
                          </a:solidFill>
                          <a:latin typeface="Consolas"/>
                        </a:rPr>
                        <a:t>1.248</a:t>
                      </a:r>
                    </a:p>
                  </a:txBody>
                  <a:tcPr marL="64008" marR="64008" marT="27432" marB="27432" anchor="ctr">
                    <a:solidFill>
                      <a:srgbClr val="FFFFFF"/>
                    </a:solidFill>
                  </a:tcPr>
                </a:tc>
                <a:tc>
                  <a:txBody>
                    <a:bodyPr/>
                    <a:lstStyle/>
                    <a:p>
                      <a:pPr algn="r"/>
                      <a:r>
                        <a:rPr sz="1100" b="0" i="0">
                          <a:solidFill>
                            <a:srgbClr val="39424F"/>
                          </a:solidFill>
                          <a:latin typeface="Consolas"/>
                        </a:rPr>
                        <a:t>8 × 156</a:t>
                      </a:r>
                    </a:p>
                  </a:txBody>
                  <a:tcPr marL="64008" marR="64008" marT="27432" marB="27432" anchor="ctr">
                    <a:solidFill>
                      <a:srgbClr val="FFFFFF"/>
                    </a:solidFill>
                  </a:tcPr>
                </a:tc>
                <a:tc>
                  <a:txBody>
                    <a:bodyPr/>
                    <a:lstStyle/>
                    <a:p>
                      <a:pPr algn="r"/>
                      <a:r>
                        <a:rPr sz="1100" b="0" i="0">
                          <a:solidFill>
                            <a:srgbClr val="39424F"/>
                          </a:solidFill>
                          <a:latin typeface="Consolas"/>
                        </a:rPr>
                        <a:t>422.387.142</a:t>
                      </a:r>
                    </a:p>
                  </a:txBody>
                  <a:tcPr marL="64008" marR="64008" marT="27432" marB="27432" anchor="ctr">
                    <a:solidFill>
                      <a:srgbClr val="FFFFFF"/>
                    </a:solidFill>
                  </a:tcPr>
                </a:tc>
                <a:tc>
                  <a:txBody>
                    <a:bodyPr/>
                    <a:lstStyle/>
                    <a:p>
                      <a:pPr algn="r"/>
                      <a:r>
                        <a:rPr sz="1100" b="0" i="0">
                          <a:solidFill>
                            <a:srgbClr val="39424F"/>
                          </a:solidFill>
                          <a:latin typeface="Consolas"/>
                        </a:rPr>
                        <a:t>192,7 s</a:t>
                      </a:r>
                    </a:p>
                  </a:txBody>
                  <a:tcPr marL="64008" marR="64008" marT="27432" marB="27432" anchor="ctr">
                    <a:solidFill>
                      <a:srgbClr val="FFFFFF"/>
                    </a:solidFill>
                  </a:tcPr>
                </a:tc>
                <a:tc>
                  <a:txBody>
                    <a:bodyPr/>
                    <a:lstStyle/>
                    <a:p>
                      <a:pPr algn="r"/>
                      <a:r>
                        <a:rPr sz="1100" b="0" i="0">
                          <a:solidFill>
                            <a:srgbClr val="39424F"/>
                          </a:solidFill>
                          <a:latin typeface="Consolas"/>
                        </a:rPr>
                        <a:t>0,054 s</a:t>
                      </a:r>
                    </a:p>
                  </a:txBody>
                  <a:tcPr marL="64008" marR="64008" marT="27432" marB="27432" anchor="ctr">
                    <a:solidFill>
                      <a:srgbClr val="FFFFFF"/>
                    </a:solidFill>
                  </a:tcPr>
                </a:tc>
              </a:tr>
              <a:tr h="292608">
                <a:tc>
                  <a:txBody>
                    <a:bodyPr/>
                    <a:lstStyle/>
                    <a:p>
                      <a:r>
                        <a:rPr sz="1100" b="1" i="0">
                          <a:solidFill>
                            <a:srgbClr val="141821"/>
                          </a:solidFill>
                          <a:latin typeface="Segoe UI"/>
                        </a:rPr>
                        <a:t>LunarLander random</a:t>
                      </a:r>
                    </a:p>
                  </a:txBody>
                  <a:tcPr marL="64008" marR="64008" marT="27432" marB="27432" anchor="ctr">
                    <a:solidFill>
                      <a:srgbClr val="DCEAE8"/>
                    </a:solidFill>
                  </a:tcPr>
                </a:tc>
                <a:tc>
                  <a:txBody>
                    <a:bodyPr/>
                    <a:lstStyle/>
                    <a:p>
                      <a:pPr algn="r"/>
                      <a:r>
                        <a:rPr sz="1100" b="0" i="0">
                          <a:solidFill>
                            <a:srgbClr val="39424F"/>
                          </a:solidFill>
                          <a:latin typeface="Consolas"/>
                        </a:rPr>
                        <a:t>4.992</a:t>
                      </a:r>
                    </a:p>
                  </a:txBody>
                  <a:tcPr marL="64008" marR="64008" marT="27432" marB="27432" anchor="ctr">
                    <a:solidFill>
                      <a:srgbClr val="DCEAE8"/>
                    </a:solidFill>
                  </a:tcPr>
                </a:tc>
                <a:tc>
                  <a:txBody>
                    <a:bodyPr/>
                    <a:lstStyle/>
                    <a:p>
                      <a:pPr algn="r"/>
                      <a:r>
                        <a:rPr sz="1100" b="0" i="0">
                          <a:solidFill>
                            <a:srgbClr val="39424F"/>
                          </a:solidFill>
                          <a:latin typeface="Consolas"/>
                        </a:rPr>
                        <a:t>32 × 156</a:t>
                      </a:r>
                    </a:p>
                  </a:txBody>
                  <a:tcPr marL="64008" marR="64008" marT="27432" marB="27432" anchor="ctr">
                    <a:solidFill>
                      <a:srgbClr val="DCEAE8"/>
                    </a:solidFill>
                  </a:tcPr>
                </a:tc>
                <a:tc>
                  <a:txBody>
                    <a:bodyPr/>
                    <a:lstStyle/>
                    <a:p>
                      <a:pPr algn="r"/>
                      <a:r>
                        <a:rPr sz="1100" b="0" i="0">
                          <a:solidFill>
                            <a:srgbClr val="39424F"/>
                          </a:solidFill>
                          <a:latin typeface="Consolas"/>
                        </a:rPr>
                        <a:t>422.401.017</a:t>
                      </a:r>
                    </a:p>
                  </a:txBody>
                  <a:tcPr marL="64008" marR="64008" marT="27432" marB="27432" anchor="ctr">
                    <a:solidFill>
                      <a:srgbClr val="DCEAE8"/>
                    </a:solidFill>
                  </a:tcPr>
                </a:tc>
                <a:tc>
                  <a:txBody>
                    <a:bodyPr/>
                    <a:lstStyle/>
                    <a:p>
                      <a:pPr algn="r"/>
                      <a:r>
                        <a:rPr sz="1100" b="0" i="0">
                          <a:solidFill>
                            <a:srgbClr val="39424F"/>
                          </a:solidFill>
                          <a:latin typeface="Consolas"/>
                        </a:rPr>
                        <a:t>193,1 s</a:t>
                      </a:r>
                    </a:p>
                  </a:txBody>
                  <a:tcPr marL="64008" marR="64008" marT="27432" marB="27432" anchor="ctr">
                    <a:solidFill>
                      <a:srgbClr val="DCEAE8"/>
                    </a:solidFill>
                  </a:tcPr>
                </a:tc>
                <a:tc>
                  <a:txBody>
                    <a:bodyPr/>
                    <a:lstStyle/>
                    <a:p>
                      <a:pPr algn="r"/>
                      <a:r>
                        <a:rPr sz="1100" b="0" i="0">
                          <a:solidFill>
                            <a:srgbClr val="39424F"/>
                          </a:solidFill>
                          <a:latin typeface="Consolas"/>
                        </a:rPr>
                        <a:t>0,054 s</a:t>
                      </a:r>
                    </a:p>
                  </a:txBody>
                  <a:tcPr marL="64008" marR="64008" marT="27432" marB="27432" anchor="ctr">
                    <a:solidFill>
                      <a:srgbClr val="DCEAE8"/>
                    </a:solidFill>
                  </a:tcPr>
                </a:tc>
              </a:tr>
            </a:tbl>
          </a:graphicData>
        </a:graphic>
      </p:graphicFrame>
      <p:sp>
        <p:nvSpPr>
          <p:cNvPr id="7" name="TextBox 6"/>
          <p:cNvSpPr txBox="1"/>
          <p:nvPr/>
        </p:nvSpPr>
        <p:spPr>
          <a:xfrm>
            <a:off x="877824" y="3557016"/>
            <a:ext cx="494690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VÌ SAO DÒNG CUỐI ĐÁNG GIÁ NHẤT</a:t>
            </a:r>
          </a:p>
          <a:p>
            <a:pPr>
              <a:lnSpc>
                <a:spcPct val="122000"/>
              </a:lnSpc>
            </a:pPr>
            <a:r>
              <a:rPr sz="1250" b="0" i="0">
                <a:solidFill>
                  <a:srgbClr val="39424F"/>
                </a:solidFill>
                <a:latin typeface="Segoe UI"/>
              </a:rPr>
              <a:t>Nó phủ </a:t>
            </a:r>
            <a:r>
              <a:rPr sz="1250" b="1" i="0">
                <a:solidFill>
                  <a:srgbClr val="141821"/>
                </a:solidFill>
                <a:latin typeface="Segoe UI"/>
              </a:rPr>
              <a:t>đúng lượt chạy sinh ra con số −152,7 ở Bảng 1</a:t>
            </a:r>
            <a:r>
              <a:rPr sz="1250" b="0" i="0">
                <a:solidFill>
                  <a:srgbClr val="39424F"/>
                </a:solidFill>
                <a:latin typeface="Segoe UI"/>
              </a:rPr>
              <a:t>, không phải một lượt minh hoạ. Đây là chỗ Bảng 1 và Bảng 2 chạm vào nhau: cùng một lượt huấn luyện, vừa được đo hiệu năng vừa được chứng minh.</a:t>
            </a:r>
          </a:p>
        </p:txBody>
      </p:sp>
      <p:sp>
        <p:nvSpPr>
          <p:cNvPr id="10" name="TextBox 9"/>
          <p:cNvSpPr txBox="1"/>
          <p:nvPr/>
        </p:nvSpPr>
        <p:spPr>
          <a:xfrm>
            <a:off x="877824" y="5084316"/>
            <a:ext cx="494690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CHƯA NẰM TRONG BẢNG 2</a:t>
            </a:r>
          </a:p>
          <a:p>
            <a:pPr>
              <a:lnSpc>
                <a:spcPct val="122000"/>
              </a:lnSpc>
            </a:pPr>
            <a:r>
              <a:rPr sz="1250" b="0" i="0">
                <a:solidFill>
                  <a:srgbClr val="39424F"/>
                </a:solidFill>
                <a:latin typeface="Segoe UI"/>
              </a:rPr>
              <a:t>Vì hash guest ELF của nó khác 10 dòng anh em — cùng mã nguồn, khác đường dẫn build. Cổng kiểm đã chặn đúng.</a:t>
            </a:r>
          </a:p>
        </p:txBody>
      </p:sp>
      <p:sp>
        <p:nvSpPr>
          <p:cNvPr id="13" name="TextBox 12"/>
          <p:cNvSpPr txBox="1"/>
          <p:nvPr/>
        </p:nvSpPr>
        <p:spPr>
          <a:xfrm>
            <a:off x="6309360" y="3429000"/>
            <a:ext cx="5212080" cy="365760"/>
          </a:xfrm>
          <a:prstGeom prst="rect">
            <a:avLst/>
          </a:prstGeom>
          <a:noFill/>
        </p:spPr>
        <p:txBody>
          <a:bodyPr wrap="square" lIns="0" rIns="0" tIns="0" bIns="0">
            <a:spAutoFit/>
          </a:bodyPr>
          <a:lstStyle/>
          <a:p>
            <a:pPr>
              <a:lnSpc>
                <a:spcPct val="124000"/>
              </a:lnSpc>
              <a:spcAft>
                <a:spcPts val="600"/>
              </a:spcAft>
            </a:pPr>
            <a:r>
              <a:rPr sz="1250" b="1" i="0">
                <a:solidFill>
                  <a:srgbClr val="141821"/>
                </a:solidFill>
                <a:latin typeface="Segoe UI"/>
              </a:rPr>
              <a:t>Vì sao cycles của cả ba gần bằng nhau</a:t>
            </a:r>
            <a:r>
              <a:rPr sz="1250" b="0" i="0">
                <a:solidFill>
                  <a:srgbClr val="39424F"/>
                </a:solidFill>
                <a:latin typeface="Segoe UI"/>
              </a:rPr>
              <a:t> dù số bước chênh 4 lần: cột này là chi phí của </a:t>
            </a:r>
            <a:r>
              <a:rPr sz="1250" b="1" i="0">
                <a:solidFill>
                  <a:srgbClr val="141821"/>
                </a:solidFill>
                <a:latin typeface="Segoe UI"/>
              </a:rPr>
              <a:t>proof gốc</a:t>
            </a:r>
            <a:r>
              <a:rPr sz="1250" b="0" i="0">
                <a:solidFill>
                  <a:srgbClr val="39424F"/>
                </a:solidFill>
                <a:latin typeface="Segoe UI"/>
              </a:rPr>
              <a:t>, và proof gốc luôn chỉ kiểm 2 proof con, bất kể cây sâu bao nhiêu. Tổng chi phí cả cây phải cộng thêm các nút trong và các lá.</a:t>
            </a:r>
          </a:p>
          <a:p>
            <a:pPr>
              <a:lnSpc>
                <a:spcPct val="124000"/>
              </a:lnSpc>
              <a:spcAft>
                <a:spcPts val="600"/>
              </a:spcAft>
            </a:pPr>
            <a:r>
              <a:rPr sz="1250" b="1" i="0">
                <a:solidFill>
                  <a:srgbClr val="141821"/>
                </a:solidFill>
                <a:latin typeface="Segoe UI"/>
              </a:rPr>
              <a:t>Thứ khiến cấu hình chứng minh được học nổi không phải batch size</a:t>
            </a:r>
            <a:r>
              <a:rPr sz="1250" b="0" i="0">
                <a:solidFill>
                  <a:srgbClr val="39424F"/>
                </a:solidFill>
                <a:latin typeface="Segoe UI"/>
              </a:rPr>
              <a:t> — mà là target_sync_interval từ 4 lên 2.000, một public input </a:t>
            </a:r>
            <a:r>
              <a:rPr sz="1250" b="1" i="0">
                <a:solidFill>
                  <a:srgbClr val="141821"/>
                </a:solidFill>
                <a:latin typeface="Segoe UI"/>
              </a:rPr>
              <a:t>tự do, đổi không tốn một cycle nào</a:t>
            </a:r>
            <a:r>
              <a:rPr sz="1250" b="0" i="0">
                <a:solidFill>
                  <a:srgbClr val="39424F"/>
                </a:solidFill>
                <a:latin typeface="Segoe UI"/>
              </a:rPr>
              <a:t>.</a:t>
            </a:r>
          </a:p>
        </p:txBody>
      </p:sp>
      <p:graphicFrame>
        <p:nvGraphicFramePr>
          <p:cNvPr id="14" name="Table 13"/>
          <p:cNvGraphicFramePr>
            <a:graphicFrameLocks noGrp="1"/>
          </p:cNvGraphicFramePr>
          <p:nvPr/>
        </p:nvGraphicFramePr>
        <p:xfrm>
          <a:off x="6309360" y="5349240"/>
          <a:ext cx="5212078" cy="877824"/>
        </p:xfrm>
        <a:graphic>
          <a:graphicData uri="http://schemas.openxmlformats.org/drawingml/2006/table">
            <a:tbl>
              <a:tblPr bandRow="1">
                <a:tableStyleId>{5C22544A-7EE6-4342-B048-85BDC9FD1C3A}</a:tableStyleId>
              </a:tblPr>
              <a:tblGrid>
                <a:gridCol w="2233748"/>
                <a:gridCol w="1489165"/>
                <a:gridCol w="1489165"/>
              </a:tblGrid>
              <a:tr h="292608">
                <a:tc>
                  <a:txBody>
                    <a:bodyPr/>
                    <a:lstStyle/>
                    <a:p>
                      <a:r>
                        <a:rPr sz="950" b="1" i="0">
                          <a:solidFill>
                            <a:srgbClr val="6B7581"/>
                          </a:solidFill>
                          <a:latin typeface="Segoe UI"/>
                        </a:rPr>
                        <a:t>LUNARLANDER RANDOM</a:t>
                      </a:r>
                    </a:p>
                  </a:txBody>
                  <a:tcPr marL="64008" marR="64008" marT="27432" marB="27432" anchor="ctr">
                    <a:solidFill>
                      <a:srgbClr val="FFFFFF"/>
                    </a:solidFill>
                  </a:tcPr>
                </a:tc>
                <a:tc>
                  <a:txBody>
                    <a:bodyPr/>
                    <a:lstStyle/>
                    <a:p>
                      <a:pPr algn="r"/>
                      <a:r>
                        <a:rPr sz="950" b="1" i="0">
                          <a:solidFill>
                            <a:srgbClr val="6B7581"/>
                          </a:solidFill>
                          <a:latin typeface="Segoe UI"/>
                        </a:rPr>
                        <a:t>SYNC = 4</a:t>
                      </a:r>
                    </a:p>
                  </a:txBody>
                  <a:tcPr marL="64008" marR="64008" marT="27432" marB="27432" anchor="ctr">
                    <a:solidFill>
                      <a:srgbClr val="FFFFFF"/>
                    </a:solidFill>
                  </a:tcPr>
                </a:tc>
                <a:tc>
                  <a:txBody>
                    <a:bodyPr/>
                    <a:lstStyle/>
                    <a:p>
                      <a:pPr algn="r"/>
                      <a:r>
                        <a:rPr sz="950" b="1" i="0">
                          <a:solidFill>
                            <a:srgbClr val="6B7581"/>
                          </a:solidFill>
                          <a:latin typeface="Segoe UI"/>
                        </a:rPr>
                        <a:t>SYNC = 2000</a:t>
                      </a:r>
                    </a:p>
                  </a:txBody>
                  <a:tcPr marL="64008" marR="64008" marT="27432" marB="27432" anchor="ctr">
                    <a:solidFill>
                      <a:srgbClr val="FFFFFF"/>
                    </a:solidFill>
                  </a:tcPr>
                </a:tc>
              </a:tr>
              <a:tr h="292608">
                <a:tc>
                  <a:txBody>
                    <a:bodyPr/>
                    <a:lstStyle/>
                    <a:p>
                      <a:r>
                        <a:rPr sz="1100" b="0" i="0">
                          <a:solidFill>
                            <a:srgbClr val="39424F"/>
                          </a:solidFill>
                          <a:latin typeface="Segoe UI"/>
                        </a:rPr>
                        <a:t>lưới quét, 2 seed</a:t>
                      </a:r>
                    </a:p>
                  </a:txBody>
                  <a:tcPr marL="64008" marR="64008" marT="27432" marB="27432" anchor="ctr">
                    <a:solidFill>
                      <a:srgbClr val="FFFFFF"/>
                    </a:solidFill>
                  </a:tcPr>
                </a:tc>
                <a:tc>
                  <a:txBody>
                    <a:bodyPr/>
                    <a:lstStyle/>
                    <a:p>
                      <a:pPr algn="r"/>
                      <a:r>
                        <a:rPr sz="1100" b="0" i="0">
                          <a:solidFill>
                            <a:srgbClr val="39424F"/>
                          </a:solidFill>
                          <a:latin typeface="Consolas"/>
                        </a:rPr>
                        <a:t>−649,1</a:t>
                      </a:r>
                    </a:p>
                  </a:txBody>
                  <a:tcPr marL="64008" marR="64008" marT="27432" marB="27432" anchor="ctr">
                    <a:solidFill>
                      <a:srgbClr val="FFFFFF"/>
                    </a:solidFill>
                  </a:tcPr>
                </a:tc>
                <a:tc>
                  <a:txBody>
                    <a:bodyPr/>
                    <a:lstStyle/>
                    <a:p>
                      <a:pPr algn="r"/>
                      <a:r>
                        <a:rPr sz="1100" b="0" i="0">
                          <a:solidFill>
                            <a:srgbClr val="39424F"/>
                          </a:solidFill>
                          <a:latin typeface="Consolas"/>
                        </a:rPr>
                        <a:t>−197,4</a:t>
                      </a:r>
                    </a:p>
                  </a:txBody>
                  <a:tcPr marL="64008" marR="64008" marT="27432" marB="27432" anchor="ctr">
                    <a:solidFill>
                      <a:srgbClr val="FFFFFF"/>
                    </a:solidFill>
                  </a:tcPr>
                </a:tc>
              </a:tr>
              <a:tr h="292608">
                <a:tc>
                  <a:txBody>
                    <a:bodyPr/>
                    <a:lstStyle/>
                    <a:p>
                      <a:r>
                        <a:rPr sz="1100" b="1" i="0">
                          <a:solidFill>
                            <a:srgbClr val="141821"/>
                          </a:solidFill>
                          <a:latin typeface="Segoe UI"/>
                        </a:rPr>
                        <a:t>cấu hình cuối, 3 seed</a:t>
                      </a:r>
                    </a:p>
                  </a:txBody>
                  <a:tcPr marL="64008" marR="64008" marT="27432" marB="27432" anchor="ctr">
                    <a:solidFill>
                      <a:srgbClr val="DCEAE8"/>
                    </a:solidFill>
                  </a:tcPr>
                </a:tc>
                <a:tc>
                  <a:txBody>
                    <a:bodyPr/>
                    <a:lstStyle/>
                    <a:p>
                      <a:pPr algn="r"/>
                      <a:r>
                        <a:rPr sz="1100" b="0" i="0">
                          <a:solidFill>
                            <a:srgbClr val="39424F"/>
                          </a:solidFill>
                          <a:latin typeface="Consolas"/>
                        </a:rPr>
                        <a:t>—</a:t>
                      </a:r>
                    </a:p>
                  </a:txBody>
                  <a:tcPr marL="64008" marR="64008" marT="27432" marB="27432" anchor="ctr">
                    <a:solidFill>
                      <a:srgbClr val="DCEAE8"/>
                    </a:solidFill>
                  </a:tcPr>
                </a:tc>
                <a:tc>
                  <a:txBody>
                    <a:bodyPr/>
                    <a:lstStyle/>
                    <a:p>
                      <a:pPr algn="r"/>
                      <a:r>
                        <a:rPr sz="1100" b="0" i="0">
                          <a:solidFill>
                            <a:srgbClr val="39424F"/>
                          </a:solidFill>
                          <a:latin typeface="Consolas"/>
                        </a:rPr>
                        <a:t>−152,7</a:t>
                      </a:r>
                    </a:p>
                  </a:txBody>
                  <a:tcPr marL="64008" marR="64008" marT="27432" marB="27432" anchor="ctr">
                    <a:solidFill>
                      <a:srgbClr val="DCEAE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angle 12"/>
          <p:cNvSpPr/>
          <p:nvPr/>
        </p:nvSpPr>
        <p:spPr>
          <a:xfrm>
            <a:off x="658368" y="5756972"/>
            <a:ext cx="5349240" cy="842644"/>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5756972"/>
            <a:ext cx="38100" cy="842644"/>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498848"/>
            <a:ext cx="534924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498848"/>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KẾT QUẢ · BẢNG 1</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Bảng 1 — Cấu hình chứng minh được học tốt tới đâu</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54 dòng = 6 dataset × 9 cấu hình, 3 seed mỗi dòng, 5.000 bước. Bảng này KHÔNG nói gì về ZK.</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19</a:t>
            </a:r>
          </a:p>
        </p:txBody>
      </p:sp>
      <p:graphicFrame>
        <p:nvGraphicFramePr>
          <p:cNvPr id="7" name="Table 6"/>
          <p:cNvGraphicFramePr>
            <a:graphicFrameLocks noGrp="1"/>
          </p:cNvGraphicFramePr>
          <p:nvPr/>
        </p:nvGraphicFramePr>
        <p:xfrm>
          <a:off x="658368" y="2148840"/>
          <a:ext cx="10881360" cy="2048256"/>
        </p:xfrm>
        <a:graphic>
          <a:graphicData uri="http://schemas.openxmlformats.org/drawingml/2006/table">
            <a:tbl>
              <a:tblPr bandRow="1">
                <a:tableStyleId>{5C22544A-7EE6-4342-B048-85BDC9FD1C3A}</a:tableStyleId>
              </a:tblPr>
              <a:tblGrid>
                <a:gridCol w="2590800"/>
                <a:gridCol w="1554480"/>
                <a:gridCol w="1554480"/>
                <a:gridCol w="1554480"/>
                <a:gridCol w="1554480"/>
                <a:gridCol w="2072640"/>
              </a:tblGrid>
              <a:tr h="292608">
                <a:tc>
                  <a:txBody>
                    <a:bodyPr/>
                    <a:lstStyle/>
                    <a:p>
                      <a:r>
                        <a:rPr sz="950" b="1" i="0">
                          <a:solidFill>
                            <a:srgbClr val="6B7581"/>
                          </a:solidFill>
                          <a:latin typeface="Segoe UI"/>
                        </a:rPr>
                        <a:t>DATASET</a:t>
                      </a:r>
                    </a:p>
                  </a:txBody>
                  <a:tcPr marL="64008" marR="64008" marT="27432" marB="27432" anchor="ctr">
                    <a:solidFill>
                      <a:srgbClr val="FFFFFF"/>
                    </a:solidFill>
                  </a:tcPr>
                </a:tc>
                <a:tc>
                  <a:txBody>
                    <a:bodyPr/>
                    <a:lstStyle/>
                    <a:p>
                      <a:pPr algn="r"/>
                      <a:r>
                        <a:rPr sz="950" b="1" i="0">
                          <a:solidFill>
                            <a:srgbClr val="6B7581"/>
                          </a:solidFill>
                          <a:latin typeface="Segoe UI"/>
                        </a:rPr>
                        <a:t>BC</a:t>
                      </a:r>
                    </a:p>
                  </a:txBody>
                  <a:tcPr marL="64008" marR="64008" marT="27432" marB="27432" anchor="ctr">
                    <a:solidFill>
                      <a:srgbClr val="FFFFFF"/>
                    </a:solidFill>
                  </a:tcPr>
                </a:tc>
                <a:tc>
                  <a:txBody>
                    <a:bodyPr/>
                    <a:lstStyle/>
                    <a:p>
                      <a:pPr algn="r"/>
                      <a:r>
                        <a:rPr sz="950" b="1" i="0">
                          <a:solidFill>
                            <a:srgbClr val="6B7581"/>
                          </a:solidFill>
                          <a:latin typeface="Segoe UI"/>
                        </a:rPr>
                        <a:t>OFFLINE DQN</a:t>
                      </a:r>
                    </a:p>
                  </a:txBody>
                  <a:tcPr marL="64008" marR="64008" marT="27432" marB="27432" anchor="ctr">
                    <a:solidFill>
                      <a:srgbClr val="FFFFFF"/>
                    </a:solidFill>
                  </a:tcPr>
                </a:tc>
                <a:tc>
                  <a:txBody>
                    <a:bodyPr/>
                    <a:lstStyle/>
                    <a:p>
                      <a:pPr algn="r"/>
                      <a:r>
                        <a:rPr sz="950" b="1" i="0">
                          <a:solidFill>
                            <a:srgbClr val="6B7581"/>
                          </a:solidFill>
                          <a:latin typeface="Segoe UI"/>
                        </a:rPr>
                        <a:t>DOUBLE DQN</a:t>
                      </a:r>
                    </a:p>
                  </a:txBody>
                  <a:tcPr marL="64008" marR="64008" marT="27432" marB="27432" anchor="ctr">
                    <a:solidFill>
                      <a:srgbClr val="FFFFFF"/>
                    </a:solidFill>
                  </a:tcPr>
                </a:tc>
                <a:tc>
                  <a:txBody>
                    <a:bodyPr/>
                    <a:lstStyle/>
                    <a:p>
                      <a:pPr algn="r"/>
                      <a:r>
                        <a:rPr sz="950" b="1" i="0">
                          <a:solidFill>
                            <a:srgbClr val="6B7581"/>
                          </a:solidFill>
                          <a:latin typeface="Segoe UI"/>
                        </a:rPr>
                        <a:t>CQL-LITE</a:t>
                      </a:r>
                    </a:p>
                  </a:txBody>
                  <a:tcPr marL="64008" marR="64008" marT="27432" marB="27432" anchor="ctr">
                    <a:solidFill>
                      <a:srgbClr val="FFFFFF"/>
                    </a:solidFill>
                  </a:tcPr>
                </a:tc>
                <a:tc>
                  <a:txBody>
                    <a:bodyPr/>
                    <a:lstStyle/>
                    <a:p>
                      <a:pPr algn="r"/>
                      <a:r>
                        <a:rPr sz="950" b="1" i="0">
                          <a:solidFill>
                            <a:srgbClr val="6B7581"/>
                          </a:solidFill>
                          <a:latin typeface="Segoe UI"/>
                        </a:rPr>
                        <a:t>CHỨNG MINH ĐƯỢC</a:t>
                      </a:r>
                    </a:p>
                  </a:txBody>
                  <a:tcPr marL="64008" marR="64008" marT="27432" marB="27432" anchor="ctr">
                    <a:solidFill>
                      <a:srgbClr val="FFFFFF"/>
                    </a:solidFill>
                  </a:tcPr>
                </a:tc>
              </a:tr>
              <a:tr h="292608">
                <a:tc>
                  <a:txBody>
                    <a:bodyPr/>
                    <a:lstStyle/>
                    <a:p>
                      <a:r>
                        <a:rPr sz="1100" b="0" i="0">
                          <a:solidFill>
                            <a:srgbClr val="39424F"/>
                          </a:solidFill>
                          <a:latin typeface="Segoe UI"/>
                        </a:rPr>
                        <a:t>cartpole-random</a:t>
                      </a:r>
                    </a:p>
                  </a:txBody>
                  <a:tcPr marL="64008" marR="64008" marT="27432" marB="27432" anchor="ctr">
                    <a:solidFill>
                      <a:srgbClr val="FFFFFF"/>
                    </a:solidFill>
                  </a:tcPr>
                </a:tc>
                <a:tc>
                  <a:txBody>
                    <a:bodyPr/>
                    <a:lstStyle/>
                    <a:p>
                      <a:pPr algn="r"/>
                      <a:r>
                        <a:rPr sz="1100" b="0" i="0">
                          <a:solidFill>
                            <a:srgbClr val="39424F"/>
                          </a:solidFill>
                          <a:latin typeface="Consolas"/>
                        </a:rPr>
                        <a:t>35,6</a:t>
                      </a:r>
                    </a:p>
                  </a:txBody>
                  <a:tcPr marL="64008" marR="64008" marT="27432" marB="27432" anchor="ctr">
                    <a:solidFill>
                      <a:srgbClr val="FFFFFF"/>
                    </a:solidFill>
                  </a:tcPr>
                </a:tc>
                <a:tc>
                  <a:txBody>
                    <a:bodyPr/>
                    <a:lstStyle/>
                    <a:p>
                      <a:pPr algn="r"/>
                      <a:r>
                        <a:rPr sz="1100" b="0" i="0">
                          <a:solidFill>
                            <a:srgbClr val="39424F"/>
                          </a:solidFill>
                          <a:latin typeface="Consolas"/>
                        </a:rPr>
                        <a:t>297,2</a:t>
                      </a:r>
                    </a:p>
                  </a:txBody>
                  <a:tcPr marL="64008" marR="64008" marT="27432" marB="27432" anchor="ctr">
                    <a:solidFill>
                      <a:srgbClr val="FFFFFF"/>
                    </a:solidFill>
                  </a:tcPr>
                </a:tc>
                <a:tc>
                  <a:txBody>
                    <a:bodyPr/>
                    <a:lstStyle/>
                    <a:p>
                      <a:pPr algn="r"/>
                      <a:r>
                        <a:rPr sz="1100" b="0" i="0">
                          <a:solidFill>
                            <a:srgbClr val="39424F"/>
                          </a:solidFill>
                          <a:latin typeface="Consolas"/>
                        </a:rPr>
                        <a:t>311,0</a:t>
                      </a:r>
                    </a:p>
                  </a:txBody>
                  <a:tcPr marL="64008" marR="64008" marT="27432" marB="27432" anchor="ctr">
                    <a:solidFill>
                      <a:srgbClr val="FFFFFF"/>
                    </a:solidFill>
                  </a:tcPr>
                </a:tc>
                <a:tc>
                  <a:txBody>
                    <a:bodyPr/>
                    <a:lstStyle/>
                    <a:p>
                      <a:pPr algn="r"/>
                      <a:r>
                        <a:rPr sz="1100" b="0" i="0">
                          <a:solidFill>
                            <a:srgbClr val="39424F"/>
                          </a:solidFill>
                          <a:latin typeface="Consolas"/>
                        </a:rPr>
                        <a:t>302,7</a:t>
                      </a:r>
                    </a:p>
                  </a:txBody>
                  <a:tcPr marL="64008" marR="64008" marT="27432" marB="27432" anchor="ctr">
                    <a:solidFill>
                      <a:srgbClr val="FFFFFF"/>
                    </a:solidFill>
                  </a:tcPr>
                </a:tc>
                <a:tc>
                  <a:txBody>
                    <a:bodyPr/>
                    <a:lstStyle/>
                    <a:p>
                      <a:pPr algn="r"/>
                      <a:r>
                        <a:rPr sz="1100" b="0" i="0">
                          <a:solidFill>
                            <a:srgbClr val="39424F"/>
                          </a:solidFill>
                          <a:latin typeface="Consolas"/>
                        </a:rPr>
                        <a:t>17,0</a:t>
                      </a:r>
                    </a:p>
                  </a:txBody>
                  <a:tcPr marL="64008" marR="64008" marT="27432" marB="27432" anchor="ctr">
                    <a:solidFill>
                      <a:srgbClr val="FFFFFF"/>
                    </a:solidFill>
                  </a:tcPr>
                </a:tc>
              </a:tr>
              <a:tr h="292608">
                <a:tc>
                  <a:txBody>
                    <a:bodyPr/>
                    <a:lstStyle/>
                    <a:p>
                      <a:r>
                        <a:rPr sz="1100" b="0" i="0">
                          <a:solidFill>
                            <a:srgbClr val="39424F"/>
                          </a:solidFill>
                          <a:latin typeface="Segoe UI"/>
                        </a:rPr>
                        <a:t>cartpole-medium</a:t>
                      </a:r>
                    </a:p>
                  </a:txBody>
                  <a:tcPr marL="64008" marR="64008" marT="27432" marB="27432" anchor="ctr">
                    <a:solidFill>
                      <a:srgbClr val="FFFFFF"/>
                    </a:solidFill>
                  </a:tcPr>
                </a:tc>
                <a:tc>
                  <a:txBody>
                    <a:bodyPr/>
                    <a:lstStyle/>
                    <a:p>
                      <a:pPr algn="r"/>
                      <a:r>
                        <a:rPr sz="1100" b="0" i="0">
                          <a:solidFill>
                            <a:srgbClr val="39424F"/>
                          </a:solidFill>
                          <a:latin typeface="Consolas"/>
                        </a:rPr>
                        <a:t>341,8</a:t>
                      </a:r>
                    </a:p>
                  </a:txBody>
                  <a:tcPr marL="64008" marR="64008" marT="27432" marB="27432" anchor="ctr">
                    <a:solidFill>
                      <a:srgbClr val="FFFFFF"/>
                    </a:solidFill>
                  </a:tcPr>
                </a:tc>
                <a:tc>
                  <a:txBody>
                    <a:bodyPr/>
                    <a:lstStyle/>
                    <a:p>
                      <a:pPr algn="r"/>
                      <a:r>
                        <a:rPr sz="1100" b="0" i="0">
                          <a:solidFill>
                            <a:srgbClr val="39424F"/>
                          </a:solidFill>
                          <a:latin typeface="Consolas"/>
                        </a:rPr>
                        <a:t>9,6</a:t>
                      </a:r>
                    </a:p>
                  </a:txBody>
                  <a:tcPr marL="64008" marR="64008" marT="27432" marB="27432" anchor="ctr">
                    <a:solidFill>
                      <a:srgbClr val="FFFFFF"/>
                    </a:solidFill>
                  </a:tcPr>
                </a:tc>
                <a:tc>
                  <a:txBody>
                    <a:bodyPr/>
                    <a:lstStyle/>
                    <a:p>
                      <a:pPr algn="r"/>
                      <a:r>
                        <a:rPr sz="1100" b="0" i="0">
                          <a:solidFill>
                            <a:srgbClr val="39424F"/>
                          </a:solidFill>
                          <a:latin typeface="Consolas"/>
                        </a:rPr>
                        <a:t>9,8</a:t>
                      </a:r>
                    </a:p>
                  </a:txBody>
                  <a:tcPr marL="64008" marR="64008" marT="27432" marB="27432" anchor="ctr">
                    <a:solidFill>
                      <a:srgbClr val="FFFFFF"/>
                    </a:solidFill>
                  </a:tcPr>
                </a:tc>
                <a:tc>
                  <a:txBody>
                    <a:bodyPr/>
                    <a:lstStyle/>
                    <a:p>
                      <a:pPr algn="r"/>
                      <a:r>
                        <a:rPr sz="1100" b="0" i="0">
                          <a:solidFill>
                            <a:srgbClr val="39424F"/>
                          </a:solidFill>
                          <a:latin typeface="Consolas"/>
                        </a:rPr>
                        <a:t>240,1</a:t>
                      </a:r>
                    </a:p>
                  </a:txBody>
                  <a:tcPr marL="64008" marR="64008" marT="27432" marB="27432" anchor="ctr">
                    <a:solidFill>
                      <a:srgbClr val="FFFFFF"/>
                    </a:solidFill>
                  </a:tcPr>
                </a:tc>
                <a:tc>
                  <a:txBody>
                    <a:bodyPr/>
                    <a:lstStyle/>
                    <a:p>
                      <a:pPr algn="r"/>
                      <a:r>
                        <a:rPr sz="1100" b="0" i="0">
                          <a:solidFill>
                            <a:srgbClr val="39424F"/>
                          </a:solidFill>
                          <a:latin typeface="Consolas"/>
                        </a:rPr>
                        <a:t>11,0</a:t>
                      </a:r>
                    </a:p>
                  </a:txBody>
                  <a:tcPr marL="64008" marR="64008" marT="27432" marB="27432" anchor="ctr">
                    <a:solidFill>
                      <a:srgbClr val="FFFFFF"/>
                    </a:solidFill>
                  </a:tcPr>
                </a:tc>
              </a:tr>
              <a:tr h="292608">
                <a:tc>
                  <a:txBody>
                    <a:bodyPr/>
                    <a:lstStyle/>
                    <a:p>
                      <a:r>
                        <a:rPr sz="1100" b="0" i="0">
                          <a:solidFill>
                            <a:srgbClr val="39424F"/>
                          </a:solidFill>
                          <a:latin typeface="Segoe UI"/>
                        </a:rPr>
                        <a:t>cartpole-expert</a:t>
                      </a:r>
                    </a:p>
                  </a:txBody>
                  <a:tcPr marL="64008" marR="64008" marT="27432" marB="27432" anchor="ctr">
                    <a:solidFill>
                      <a:srgbClr val="FFFFFF"/>
                    </a:solidFill>
                  </a:tcPr>
                </a:tc>
                <a:tc>
                  <a:txBody>
                    <a:bodyPr/>
                    <a:lstStyle/>
                    <a:p>
                      <a:pPr algn="r"/>
                      <a:r>
                        <a:rPr sz="1100" b="0" i="0">
                          <a:solidFill>
                            <a:srgbClr val="39424F"/>
                          </a:solidFill>
                          <a:latin typeface="Consolas"/>
                        </a:rPr>
                        <a:t>492,2</a:t>
                      </a:r>
                    </a:p>
                  </a:txBody>
                  <a:tcPr marL="64008" marR="64008" marT="27432" marB="27432" anchor="ctr">
                    <a:solidFill>
                      <a:srgbClr val="FFFFFF"/>
                    </a:solidFill>
                  </a:tcPr>
                </a:tc>
                <a:tc>
                  <a:txBody>
                    <a:bodyPr/>
                    <a:lstStyle/>
                    <a:p>
                      <a:pPr algn="r"/>
                      <a:r>
                        <a:rPr sz="1100" b="0" i="0">
                          <a:solidFill>
                            <a:srgbClr val="39424F"/>
                          </a:solidFill>
                          <a:latin typeface="Consolas"/>
                        </a:rPr>
                        <a:t>16,3</a:t>
                      </a:r>
                    </a:p>
                  </a:txBody>
                  <a:tcPr marL="64008" marR="64008" marT="27432" marB="27432" anchor="ctr">
                    <a:solidFill>
                      <a:srgbClr val="FFFFFF"/>
                    </a:solidFill>
                  </a:tcPr>
                </a:tc>
                <a:tc>
                  <a:txBody>
                    <a:bodyPr/>
                    <a:lstStyle/>
                    <a:p>
                      <a:pPr algn="r"/>
                      <a:r>
                        <a:rPr sz="1100" b="0" i="0">
                          <a:solidFill>
                            <a:srgbClr val="39424F"/>
                          </a:solidFill>
                          <a:latin typeface="Consolas"/>
                        </a:rPr>
                        <a:t>9,6</a:t>
                      </a:r>
                    </a:p>
                  </a:txBody>
                  <a:tcPr marL="64008" marR="64008" marT="27432" marB="27432" anchor="ctr">
                    <a:solidFill>
                      <a:srgbClr val="FFFFFF"/>
                    </a:solidFill>
                  </a:tcPr>
                </a:tc>
                <a:tc>
                  <a:txBody>
                    <a:bodyPr/>
                    <a:lstStyle/>
                    <a:p>
                      <a:pPr algn="r"/>
                      <a:r>
                        <a:rPr sz="1100" b="0" i="0">
                          <a:solidFill>
                            <a:srgbClr val="39424F"/>
                          </a:solidFill>
                          <a:latin typeface="Consolas"/>
                        </a:rPr>
                        <a:t>193,5</a:t>
                      </a:r>
                    </a:p>
                  </a:txBody>
                  <a:tcPr marL="64008" marR="64008" marT="27432" marB="27432" anchor="ctr">
                    <a:solidFill>
                      <a:srgbClr val="FFFFFF"/>
                    </a:solidFill>
                  </a:tcPr>
                </a:tc>
                <a:tc>
                  <a:txBody>
                    <a:bodyPr/>
                    <a:lstStyle/>
                    <a:p>
                      <a:pPr algn="r"/>
                      <a:r>
                        <a:rPr sz="1100" b="0" i="0">
                          <a:solidFill>
                            <a:srgbClr val="39424F"/>
                          </a:solidFill>
                          <a:latin typeface="Consolas"/>
                        </a:rPr>
                        <a:t>9,7</a:t>
                      </a:r>
                    </a:p>
                  </a:txBody>
                  <a:tcPr marL="64008" marR="64008" marT="27432" marB="27432" anchor="ctr">
                    <a:solidFill>
                      <a:srgbClr val="FFFFFF"/>
                    </a:solidFill>
                  </a:tcPr>
                </a:tc>
              </a:tr>
              <a:tr h="292608">
                <a:tc>
                  <a:txBody>
                    <a:bodyPr/>
                    <a:lstStyle/>
                    <a:p>
                      <a:r>
                        <a:rPr sz="1100" b="1" i="0">
                          <a:solidFill>
                            <a:srgbClr val="141821"/>
                          </a:solidFill>
                          <a:latin typeface="Segoe UI"/>
                        </a:rPr>
                        <a:t>lunarlander-random</a:t>
                      </a:r>
                    </a:p>
                  </a:txBody>
                  <a:tcPr marL="64008" marR="64008" marT="27432" marB="27432" anchor="ctr">
                    <a:solidFill>
                      <a:srgbClr val="DCEAE8"/>
                    </a:solidFill>
                  </a:tcPr>
                </a:tc>
                <a:tc>
                  <a:txBody>
                    <a:bodyPr/>
                    <a:lstStyle/>
                    <a:p>
                      <a:pPr algn="r"/>
                      <a:r>
                        <a:rPr sz="1100" b="0" i="0">
                          <a:solidFill>
                            <a:srgbClr val="39424F"/>
                          </a:solidFill>
                          <a:latin typeface="Consolas"/>
                        </a:rPr>
                        <a:t>−381,3</a:t>
                      </a:r>
                    </a:p>
                  </a:txBody>
                  <a:tcPr marL="64008" marR="64008" marT="27432" marB="27432" anchor="ctr">
                    <a:solidFill>
                      <a:srgbClr val="DCEAE8"/>
                    </a:solidFill>
                  </a:tcPr>
                </a:tc>
                <a:tc>
                  <a:txBody>
                    <a:bodyPr/>
                    <a:lstStyle/>
                    <a:p>
                      <a:pPr algn="r"/>
                      <a:r>
                        <a:rPr sz="1100" b="0" i="0">
                          <a:solidFill>
                            <a:srgbClr val="39424F"/>
                          </a:solidFill>
                          <a:latin typeface="Consolas"/>
                        </a:rPr>
                        <a:t>−189,4</a:t>
                      </a:r>
                    </a:p>
                  </a:txBody>
                  <a:tcPr marL="64008" marR="64008" marT="27432" marB="27432" anchor="ctr">
                    <a:solidFill>
                      <a:srgbClr val="DCEAE8"/>
                    </a:solidFill>
                  </a:tcPr>
                </a:tc>
                <a:tc>
                  <a:txBody>
                    <a:bodyPr/>
                    <a:lstStyle/>
                    <a:p>
                      <a:pPr algn="r"/>
                      <a:r>
                        <a:rPr sz="1100" b="0" i="0">
                          <a:solidFill>
                            <a:srgbClr val="39424F"/>
                          </a:solidFill>
                          <a:latin typeface="Consolas"/>
                        </a:rPr>
                        <a:t>−215,3</a:t>
                      </a:r>
                    </a:p>
                  </a:txBody>
                  <a:tcPr marL="64008" marR="64008" marT="27432" marB="27432" anchor="ctr">
                    <a:solidFill>
                      <a:srgbClr val="DCEAE8"/>
                    </a:solidFill>
                  </a:tcPr>
                </a:tc>
                <a:tc>
                  <a:txBody>
                    <a:bodyPr/>
                    <a:lstStyle/>
                    <a:p>
                      <a:pPr algn="r"/>
                      <a:r>
                        <a:rPr sz="1100" b="0" i="0">
                          <a:solidFill>
                            <a:srgbClr val="39424F"/>
                          </a:solidFill>
                          <a:latin typeface="Consolas"/>
                        </a:rPr>
                        <a:t>−165,7</a:t>
                      </a:r>
                    </a:p>
                  </a:txBody>
                  <a:tcPr marL="64008" marR="64008" marT="27432" marB="27432" anchor="ctr">
                    <a:solidFill>
                      <a:srgbClr val="DCEAE8"/>
                    </a:solidFill>
                  </a:tcPr>
                </a:tc>
                <a:tc>
                  <a:txBody>
                    <a:bodyPr/>
                    <a:lstStyle/>
                    <a:p>
                      <a:pPr algn="r"/>
                      <a:r>
                        <a:rPr sz="1100" b="0" i="0">
                          <a:solidFill>
                            <a:srgbClr val="39424F"/>
                          </a:solidFill>
                          <a:latin typeface="Consolas"/>
                        </a:rPr>
                        <a:t>−152,7</a:t>
                      </a:r>
                    </a:p>
                  </a:txBody>
                  <a:tcPr marL="64008" marR="64008" marT="27432" marB="27432" anchor="ctr">
                    <a:solidFill>
                      <a:srgbClr val="DCEAE8"/>
                    </a:solidFill>
                  </a:tcPr>
                </a:tc>
              </a:tr>
              <a:tr h="292608">
                <a:tc>
                  <a:txBody>
                    <a:bodyPr/>
                    <a:lstStyle/>
                    <a:p>
                      <a:r>
                        <a:rPr sz="1100" b="0" i="0">
                          <a:solidFill>
                            <a:srgbClr val="39424F"/>
                          </a:solidFill>
                          <a:latin typeface="Segoe UI"/>
                        </a:rPr>
                        <a:t>lunarlander-medium</a:t>
                      </a:r>
                    </a:p>
                  </a:txBody>
                  <a:tcPr marL="64008" marR="64008" marT="27432" marB="27432" anchor="ctr">
                    <a:solidFill>
                      <a:srgbClr val="FFFFFF"/>
                    </a:solidFill>
                  </a:tcPr>
                </a:tc>
                <a:tc>
                  <a:txBody>
                    <a:bodyPr/>
                    <a:lstStyle/>
                    <a:p>
                      <a:pPr algn="r"/>
                      <a:r>
                        <a:rPr sz="1100" b="0" i="0">
                          <a:solidFill>
                            <a:srgbClr val="39424F"/>
                          </a:solidFill>
                          <a:latin typeface="Consolas"/>
                        </a:rPr>
                        <a:t>−189,7</a:t>
                      </a:r>
                    </a:p>
                  </a:txBody>
                  <a:tcPr marL="64008" marR="64008" marT="27432" marB="27432" anchor="ctr">
                    <a:solidFill>
                      <a:srgbClr val="FFFFFF"/>
                    </a:solidFill>
                  </a:tcPr>
                </a:tc>
                <a:tc>
                  <a:txBody>
                    <a:bodyPr/>
                    <a:lstStyle/>
                    <a:p>
                      <a:pPr algn="r"/>
                      <a:r>
                        <a:rPr sz="1100" b="0" i="0">
                          <a:solidFill>
                            <a:srgbClr val="39424F"/>
                          </a:solidFill>
                          <a:latin typeface="Consolas"/>
                        </a:rPr>
                        <a:t>−367,6</a:t>
                      </a:r>
                    </a:p>
                  </a:txBody>
                  <a:tcPr marL="64008" marR="64008" marT="27432" marB="27432" anchor="ctr">
                    <a:solidFill>
                      <a:srgbClr val="FFFFFF"/>
                    </a:solidFill>
                  </a:tcPr>
                </a:tc>
                <a:tc>
                  <a:txBody>
                    <a:bodyPr/>
                    <a:lstStyle/>
                    <a:p>
                      <a:pPr algn="r"/>
                      <a:r>
                        <a:rPr sz="1100" b="0" i="0">
                          <a:solidFill>
                            <a:srgbClr val="39424F"/>
                          </a:solidFill>
                          <a:latin typeface="Consolas"/>
                        </a:rPr>
                        <a:t>−366,6</a:t>
                      </a:r>
                    </a:p>
                  </a:txBody>
                  <a:tcPr marL="64008" marR="64008" marT="27432" marB="27432" anchor="ctr">
                    <a:solidFill>
                      <a:srgbClr val="FFFFFF"/>
                    </a:solidFill>
                  </a:tcPr>
                </a:tc>
                <a:tc>
                  <a:txBody>
                    <a:bodyPr/>
                    <a:lstStyle/>
                    <a:p>
                      <a:pPr algn="r"/>
                      <a:r>
                        <a:rPr sz="1100" b="0" i="0">
                          <a:solidFill>
                            <a:srgbClr val="39424F"/>
                          </a:solidFill>
                          <a:latin typeface="Consolas"/>
                        </a:rPr>
                        <a:t>−283,7</a:t>
                      </a:r>
                    </a:p>
                  </a:txBody>
                  <a:tcPr marL="64008" marR="64008" marT="27432" marB="27432" anchor="ctr">
                    <a:solidFill>
                      <a:srgbClr val="FFFFFF"/>
                    </a:solidFill>
                  </a:tcPr>
                </a:tc>
                <a:tc>
                  <a:txBody>
                    <a:bodyPr/>
                    <a:lstStyle/>
                    <a:p>
                      <a:pPr algn="r"/>
                      <a:r>
                        <a:rPr sz="1100" b="0" i="0">
                          <a:solidFill>
                            <a:srgbClr val="39424F"/>
                          </a:solidFill>
                          <a:latin typeface="Consolas"/>
                        </a:rPr>
                        <a:t>−829,7</a:t>
                      </a:r>
                    </a:p>
                  </a:txBody>
                  <a:tcPr marL="64008" marR="64008" marT="27432" marB="27432" anchor="ctr">
                    <a:solidFill>
                      <a:srgbClr val="FFFFFF"/>
                    </a:solidFill>
                  </a:tcPr>
                </a:tc>
              </a:tr>
              <a:tr h="292608">
                <a:tc>
                  <a:txBody>
                    <a:bodyPr/>
                    <a:lstStyle/>
                    <a:p>
                      <a:r>
                        <a:rPr sz="1100" b="0" i="0">
                          <a:solidFill>
                            <a:srgbClr val="39424F"/>
                          </a:solidFill>
                          <a:latin typeface="Segoe UI"/>
                        </a:rPr>
                        <a:t>lunarlander-expert</a:t>
                      </a:r>
                    </a:p>
                  </a:txBody>
                  <a:tcPr marL="64008" marR="64008" marT="27432" marB="27432" anchor="ctr">
                    <a:solidFill>
                      <a:srgbClr val="FFFFFF"/>
                    </a:solidFill>
                  </a:tcPr>
                </a:tc>
                <a:tc>
                  <a:txBody>
                    <a:bodyPr/>
                    <a:lstStyle/>
                    <a:p>
                      <a:pPr algn="r"/>
                      <a:r>
                        <a:rPr sz="1100" b="0" i="0">
                          <a:solidFill>
                            <a:srgbClr val="39424F"/>
                          </a:solidFill>
                          <a:latin typeface="Consolas"/>
                        </a:rPr>
                        <a:t>−48,4</a:t>
                      </a:r>
                    </a:p>
                  </a:txBody>
                  <a:tcPr marL="64008" marR="64008" marT="27432" marB="27432" anchor="ctr">
                    <a:solidFill>
                      <a:srgbClr val="FFFFFF"/>
                    </a:solidFill>
                  </a:tcPr>
                </a:tc>
                <a:tc>
                  <a:txBody>
                    <a:bodyPr/>
                    <a:lstStyle/>
                    <a:p>
                      <a:pPr algn="r"/>
                      <a:r>
                        <a:rPr sz="1100" b="0" i="0">
                          <a:solidFill>
                            <a:srgbClr val="39424F"/>
                          </a:solidFill>
                          <a:latin typeface="Consolas"/>
                        </a:rPr>
                        <a:t>−517,8</a:t>
                      </a:r>
                    </a:p>
                  </a:txBody>
                  <a:tcPr marL="64008" marR="64008" marT="27432" marB="27432" anchor="ctr">
                    <a:solidFill>
                      <a:srgbClr val="FFFFFF"/>
                    </a:solidFill>
                  </a:tcPr>
                </a:tc>
                <a:tc>
                  <a:txBody>
                    <a:bodyPr/>
                    <a:lstStyle/>
                    <a:p>
                      <a:pPr algn="r"/>
                      <a:r>
                        <a:rPr sz="1100" b="0" i="0">
                          <a:solidFill>
                            <a:srgbClr val="39424F"/>
                          </a:solidFill>
                          <a:latin typeface="Consolas"/>
                        </a:rPr>
                        <a:t>−518,7</a:t>
                      </a:r>
                    </a:p>
                  </a:txBody>
                  <a:tcPr marL="64008" marR="64008" marT="27432" marB="27432" anchor="ctr">
                    <a:solidFill>
                      <a:srgbClr val="FFFFFF"/>
                    </a:solidFill>
                  </a:tcPr>
                </a:tc>
                <a:tc>
                  <a:txBody>
                    <a:bodyPr/>
                    <a:lstStyle/>
                    <a:p>
                      <a:pPr algn="r"/>
                      <a:r>
                        <a:rPr sz="1100" b="0" i="0">
                          <a:solidFill>
                            <a:srgbClr val="39424F"/>
                          </a:solidFill>
                          <a:latin typeface="Consolas"/>
                        </a:rPr>
                        <a:t>−390,7</a:t>
                      </a:r>
                    </a:p>
                  </a:txBody>
                  <a:tcPr marL="64008" marR="64008" marT="27432" marB="27432" anchor="ctr">
                    <a:solidFill>
                      <a:srgbClr val="FFFFFF"/>
                    </a:solidFill>
                  </a:tcPr>
                </a:tc>
                <a:tc>
                  <a:txBody>
                    <a:bodyPr/>
                    <a:lstStyle/>
                    <a:p>
                      <a:pPr algn="r"/>
                      <a:r>
                        <a:rPr sz="1100" b="0" i="0">
                          <a:solidFill>
                            <a:srgbClr val="39424F"/>
                          </a:solidFill>
                          <a:latin typeface="Consolas"/>
                        </a:rPr>
                        <a:t>−717,9</a:t>
                      </a:r>
                    </a:p>
                  </a:txBody>
                  <a:tcPr marL="64008" marR="64008" marT="27432" marB="27432" anchor="ctr">
                    <a:solidFill>
                      <a:srgbClr val="FFFFFF"/>
                    </a:solidFill>
                  </a:tcPr>
                </a:tc>
              </a:tr>
            </a:tbl>
          </a:graphicData>
        </a:graphic>
      </p:graphicFrame>
      <p:sp>
        <p:nvSpPr>
          <p:cNvPr id="8" name="TextBox 7"/>
          <p:cNvSpPr txBox="1"/>
          <p:nvPr/>
        </p:nvSpPr>
        <p:spPr>
          <a:xfrm>
            <a:off x="658368" y="4297680"/>
            <a:ext cx="10881360" cy="274320"/>
          </a:xfrm>
          <a:prstGeom prst="rect">
            <a:avLst/>
          </a:prstGeom>
          <a:noFill/>
        </p:spPr>
        <p:txBody>
          <a:bodyPr wrap="square" lIns="0" rIns="0" tIns="0" bIns="0">
            <a:spAutoFit/>
          </a:bodyPr>
          <a:lstStyle/>
          <a:p>
            <a:r>
              <a:rPr sz="1100" b="0" i="0">
                <a:solidFill>
                  <a:srgbClr val="6B7581"/>
                </a:solidFill>
                <a:latin typeface="Segoe UI"/>
              </a:rPr>
              <a:t>Tất cả ở optimizer SGD, để so cùng điều kiện. Trên CartPole, 9,3 là điểm của một chính sách CHƯA HỌC GÌ CẢ — gậy đổ sau 9 bước.</a:t>
            </a:r>
          </a:p>
        </p:txBody>
      </p:sp>
      <p:sp>
        <p:nvSpPr>
          <p:cNvPr id="9" name="TextBox 8"/>
          <p:cNvSpPr txBox="1"/>
          <p:nvPr/>
        </p:nvSpPr>
        <p:spPr>
          <a:xfrm>
            <a:off x="877824" y="4626864"/>
            <a:ext cx="494690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KẾT QUẢ TRUNG TÂM</a:t>
            </a:r>
          </a:p>
          <a:p>
            <a:pPr>
              <a:lnSpc>
                <a:spcPct val="122000"/>
              </a:lnSpc>
            </a:pPr>
            <a:r>
              <a:rPr sz="1250" b="0" i="0">
                <a:solidFill>
                  <a:srgbClr val="39424F"/>
                </a:solidFill>
                <a:latin typeface="Segoe UI"/>
              </a:rPr>
              <a:t>Trên lunarlander-random, cấu hình chứng minh được (−152,7) </a:t>
            </a:r>
            <a:r>
              <a:rPr sz="1250" b="1" i="0">
                <a:solidFill>
                  <a:srgbClr val="141821"/>
                </a:solidFill>
                <a:latin typeface="Segoe UI"/>
              </a:rPr>
              <a:t>vượt</a:t>
            </a:r>
            <a:r>
              <a:rPr sz="1250" b="0" i="0">
                <a:solidFill>
                  <a:srgbClr val="39424F"/>
                </a:solidFill>
                <a:latin typeface="Segoe UI"/>
              </a:rPr>
              <a:t> cấu hình tinh chỉnh batch-256 (−215,3). Khoảng cách phụ thuộc bài toán, không phải một hằng số.</a:t>
            </a:r>
          </a:p>
        </p:txBody>
      </p:sp>
      <p:sp>
        <p:nvSpPr>
          <p:cNvPr id="12" name="TextBox 11"/>
          <p:cNvSpPr txBox="1"/>
          <p:nvPr/>
        </p:nvSpPr>
        <p:spPr>
          <a:xfrm>
            <a:off x="877824" y="5884988"/>
            <a:ext cx="494690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OFFLINE DQN SẬP TRÊN DỮ LIỆU CHẤT LƯỢNG CAO</a:t>
            </a:r>
          </a:p>
          <a:p>
            <a:pPr>
              <a:lnSpc>
                <a:spcPct val="122000"/>
              </a:lnSpc>
            </a:pPr>
            <a:r>
              <a:rPr sz="1250" b="0" i="0">
                <a:solidFill>
                  <a:srgbClr val="39424F"/>
                </a:solidFill>
                <a:latin typeface="Segoe UI"/>
              </a:rPr>
              <a:t>Trên random, DQN thắng BC gấp 9 lần. Trên expert, DQN sập về 9,6 còn BC đạt 492,2 — dữ liệu expert hẹp.</a:t>
            </a:r>
          </a:p>
        </p:txBody>
      </p:sp>
      <p:sp>
        <p:nvSpPr>
          <p:cNvPr id="15" name="TextBox 14"/>
          <p:cNvSpPr txBox="1"/>
          <p:nvPr/>
        </p:nvSpPr>
        <p:spPr>
          <a:xfrm>
            <a:off x="6309360" y="4709160"/>
            <a:ext cx="5212080" cy="274320"/>
          </a:xfrm>
          <a:prstGeom prst="rect">
            <a:avLst/>
          </a:prstGeom>
          <a:noFill/>
        </p:spPr>
        <p:txBody>
          <a:bodyPr wrap="square" lIns="0" rIns="0" tIns="0" bIns="0">
            <a:spAutoFit/>
          </a:bodyPr>
          <a:lstStyle/>
          <a:p>
            <a:r>
              <a:rPr sz="1100" b="1" i="0">
                <a:solidFill>
                  <a:srgbClr val="17605B"/>
                </a:solidFill>
                <a:latin typeface="Segoe UI"/>
              </a:rPr>
              <a:t>ADAM KHÔNG PHẢI LUÔN THẮNG SGD — 24 cặp so được</a:t>
            </a:r>
          </a:p>
        </p:txBody>
      </p:sp>
      <p:sp>
        <p:nvSpPr>
          <p:cNvPr id="16" name="Rectangle 15"/>
          <p:cNvSpPr/>
          <p:nvPr/>
        </p:nvSpPr>
        <p:spPr>
          <a:xfrm>
            <a:off x="6309360" y="4983480"/>
            <a:ext cx="5212080" cy="887730"/>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5093208"/>
            <a:ext cx="4919472" cy="668274"/>
          </a:xfrm>
          <a:prstGeom prst="rect">
            <a:avLst/>
          </a:prstGeom>
          <a:noFill/>
        </p:spPr>
        <p:txBody>
          <a:bodyPr wrap="square" lIns="0" rIns="0" tIns="0" bIns="0">
            <a:spAutoFit/>
          </a:bodyPr>
          <a:lstStyle/>
          <a:p>
            <a:pPr>
              <a:lnSpc>
                <a:spcPct val="134000"/>
              </a:lnSpc>
              <a:spcAft>
                <a:spcPts val="0"/>
              </a:spcAft>
            </a:pPr>
            <a:r>
              <a:rPr sz="1100" b="0" i="0">
                <a:solidFill>
                  <a:srgbClr val="39424F"/>
                </a:solidFill>
                <a:latin typeface="Consolas"/>
              </a:rPr>
              <a:t>Toàn bộ:      Adam 13  –  SGD 11</a:t>
            </a:r>
          </a:p>
          <a:p>
            <a:pPr>
              <a:lnSpc>
                <a:spcPct val="134000"/>
              </a:lnSpc>
              <a:spcAft>
                <a:spcPts val="0"/>
              </a:spcAft>
            </a:pPr>
            <a:r>
              <a:rPr sz="1100" b="0" i="0">
                <a:solidFill>
                  <a:srgbClr val="39424F"/>
                </a:solidFill>
                <a:latin typeface="Consolas"/>
              </a:rPr>
              <a:t>CartPole:     Adam  2  –  SGD 10</a:t>
            </a:r>
          </a:p>
          <a:p>
            <a:pPr>
              <a:lnSpc>
                <a:spcPct val="134000"/>
              </a:lnSpc>
              <a:spcAft>
                <a:spcPts val="0"/>
              </a:spcAft>
            </a:pPr>
            <a:r>
              <a:rPr sz="1100" b="0" i="0">
                <a:solidFill>
                  <a:srgbClr val="39424F"/>
                </a:solidFill>
                <a:latin typeface="Consolas"/>
              </a:rPr>
              <a:t>LunarLander:  Adam 11  –  SGD  1</a:t>
            </a:r>
          </a:p>
        </p:txBody>
      </p:sp>
      <p:sp>
        <p:nvSpPr>
          <p:cNvPr id="18" name="TextBox 17"/>
          <p:cNvSpPr txBox="1"/>
          <p:nvPr/>
        </p:nvSpPr>
        <p:spPr>
          <a:xfrm>
            <a:off x="6309360" y="5943600"/>
            <a:ext cx="5212080" cy="548640"/>
          </a:xfrm>
          <a:prstGeom prst="rect">
            <a:avLst/>
          </a:prstGeom>
          <a:noFill/>
        </p:spPr>
        <p:txBody>
          <a:bodyPr wrap="square" lIns="0" rIns="0" tIns="0" bIns="0">
            <a:spAutoFit/>
          </a:bodyPr>
          <a:lstStyle/>
          <a:p>
            <a:pPr>
              <a:lnSpc>
                <a:spcPct val="120000"/>
              </a:lnSpc>
            </a:pPr>
            <a:r>
              <a:rPr sz="1150" b="0" i="0">
                <a:solidFill>
                  <a:srgbClr val="39424F"/>
                </a:solidFill>
                <a:latin typeface="Segoe UI"/>
              </a:rPr>
              <a:t>Thứ tự </a:t>
            </a:r>
            <a:r>
              <a:rPr sz="1150" b="1" i="0">
                <a:solidFill>
                  <a:srgbClr val="141821"/>
                </a:solidFill>
                <a:latin typeface="Segoe UI"/>
              </a:rPr>
              <a:t>đảo ngược hoàn toàn</a:t>
            </a:r>
            <a:r>
              <a:rPr sz="1150" b="0" i="0">
                <a:solidFill>
                  <a:srgbClr val="39424F"/>
                </a:solidFill>
                <a:latin typeface="Segoe UI"/>
              </a:rPr>
              <a:t> giữa hai môi trường. Nên việc hệ chứng minh chỉ hỗ trợ SGD không phải một khiếm khuyết mang tính hệ thống.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Rectangle 20"/>
          <p:cNvSpPr/>
          <p:nvPr/>
        </p:nvSpPr>
        <p:spPr>
          <a:xfrm>
            <a:off x="6355080" y="5632704"/>
            <a:ext cx="5166360" cy="1056956"/>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5632704"/>
            <a:ext cx="38100" cy="1056956"/>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074920"/>
            <a:ext cx="502920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507492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KẾT QUẢ · BẢNG 3</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Bảng 3 — Kháng giả mạo: hệ có từ chối thứ sai không</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7904"/>
            <a:ext cx="10874959" cy="310896"/>
          </a:xfrm>
          <a:prstGeom prst="rect">
            <a:avLst/>
          </a:prstGeom>
          <a:noFill/>
        </p:spPr>
        <p:txBody>
          <a:bodyPr wrap="square" lIns="0" rIns="0" tIns="0" bIns="0">
            <a:spAutoFit/>
          </a:bodyPr>
          <a:lstStyle/>
          <a:p>
            <a:r>
              <a:rPr sz="1300" b="0" i="0">
                <a:solidFill>
                  <a:srgbClr val="6B7581"/>
                </a:solidFill>
                <a:latin typeface="Segoe UI"/>
              </a:rPr>
              <a:t>Bảng 2 chứng minh hệ CHẤP NHẬN thứ đúng. Bảng 3 chứng minh hệ TỪ CHỐI thứ sai.</a:t>
            </a:r>
          </a:p>
        </p:txBody>
      </p:sp>
      <p:sp>
        <p:nvSpPr>
          <p:cNvPr id="6" name="TextBox 5"/>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20</a:t>
            </a:r>
          </a:p>
        </p:txBody>
      </p:sp>
      <p:sp>
        <p:nvSpPr>
          <p:cNvPr id="7" name="Rectangle 6"/>
          <p:cNvSpPr/>
          <p:nvPr/>
        </p:nvSpPr>
        <p:spPr>
          <a:xfrm>
            <a:off x="658368" y="2011680"/>
            <a:ext cx="5029200" cy="3132963"/>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21408"/>
            <a:ext cx="4736592" cy="2913507"/>
          </a:xfrm>
          <a:prstGeom prst="rect">
            <a:avLst/>
          </a:prstGeom>
          <a:noFill/>
        </p:spPr>
        <p:txBody>
          <a:bodyPr wrap="square" lIns="0" rIns="0" tIns="0" bIns="0">
            <a:spAutoFit/>
          </a:bodyPr>
          <a:lstStyle/>
          <a:p>
            <a:pPr>
              <a:lnSpc>
                <a:spcPct val="134000"/>
              </a:lnSpc>
              <a:spcAft>
                <a:spcPts val="0"/>
              </a:spcAft>
            </a:pPr>
            <a:r>
              <a:rPr sz="1050" b="0" i="0">
                <a:solidFill>
                  <a:srgbClr val="39424F"/>
                </a:solidFill>
                <a:latin typeface="Consolas"/>
              </a:rPr>
              <a:t>① lấy một artifact HỢP LỆ đã có</a:t>
            </a:r>
          </a:p>
          <a:p>
            <a:pPr>
              <a:lnSpc>
                <a:spcPct val="134000"/>
              </a:lnSpc>
              <a:spcAft>
                <a:spcPts val="0"/>
              </a:spcAft>
            </a:pPr>
            <a:r>
              <a:rPr sz="1050" b="0" i="0">
                <a:solidFill>
                  <a:srgbClr val="39424F"/>
                </a:solidFill>
                <a:latin typeface="Consolas"/>
              </a:rPr>
              <a:t>② sửa ĐÚNG MỘT trường, giữ nguyên mọi thứ khác</a:t>
            </a:r>
          </a:p>
          <a:p>
            <a:pPr>
              <a:lnSpc>
                <a:spcPct val="134000"/>
              </a:lnSpc>
              <a:spcAft>
                <a:spcPts val="0"/>
              </a:spcAft>
            </a:pPr>
            <a:r>
              <a:rPr sz="1050" b="0" i="0">
                <a:solidFill>
                  <a:srgbClr val="39424F"/>
                </a:solidFill>
                <a:latin typeface="Consolas"/>
              </a:rPr>
              <a:t>     reward: 1000 → 1001</a:t>
            </a:r>
          </a:p>
          <a:p>
            <a:pPr>
              <a:lnSpc>
                <a:spcPct val="134000"/>
              </a:lnSpc>
              <a:spcAft>
                <a:spcPts val="0"/>
              </a:spcAft>
            </a:pPr>
            <a:r>
              <a:rPr sz="1050" b="0" i="0">
                <a:solidFill>
                  <a:srgbClr val="39424F"/>
                </a:solidFill>
                <a:latin typeface="Consolas"/>
              </a:rPr>
              <a:t>③ đưa qua các tầng kiểm: oracle Python → guest Rust</a:t>
            </a:r>
          </a:p>
          <a:p>
            <a:pPr>
              <a:lnSpc>
                <a:spcPct val="134000"/>
              </a:lnSpc>
              <a:spcAft>
                <a:spcPts val="0"/>
              </a:spcAft>
            </a:pPr>
            <a:r>
              <a:rPr sz="1050" b="0" i="0">
                <a:solidFill>
                  <a:srgbClr val="39424F"/>
                </a:solidFill>
                <a:latin typeface="Consolas"/>
              </a:rPr>
              <a:t>     → ràng buộc public input</a:t>
            </a:r>
          </a:p>
          <a:p>
            <a:pPr>
              <a:lnSpc>
                <a:spcPct val="134000"/>
              </a:lnSpc>
              <a:spcAft>
                <a:spcPts val="0"/>
              </a:spcAft>
            </a:pPr>
            <a:r>
              <a:rPr sz="1050" b="0" i="0">
                <a:solidFill>
                  <a:srgbClr val="39424F"/>
                </a:solidFill>
                <a:latin typeface="Consolas"/>
              </a:rPr>
              <a:t>④ ghi lại tầng nào từ chối, lớp lỗi gì</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Một mục THẬT trong tamper_report.json:</a:t>
            </a:r>
          </a:p>
          <a:p>
            <a:pPr>
              <a:lnSpc>
                <a:spcPct val="134000"/>
              </a:lnSpc>
              <a:spcAft>
                <a:spcPts val="0"/>
              </a:spcAft>
            </a:pPr>
            <a:r>
              <a:rPr sz="1050" b="0" i="0">
                <a:solidFill>
                  <a:srgbClr val="39424F"/>
                </a:solidFill>
                <a:latin typeface="Consolas"/>
              </a:rPr>
              <a:t> </a:t>
            </a:r>
          </a:p>
          <a:p>
            <a:pPr>
              <a:lnSpc>
                <a:spcPct val="134000"/>
              </a:lnSpc>
              <a:spcAft>
                <a:spcPts val="0"/>
              </a:spcAft>
            </a:pPr>
            <a:r>
              <a:rPr sz="1050" b="0" i="0">
                <a:solidFill>
                  <a:srgbClr val="39424F"/>
                </a:solidFill>
                <a:latin typeface="Consolas"/>
              </a:rPr>
              <a:t>  case                : tamper_minibatch_index</a:t>
            </a:r>
          </a:p>
          <a:p>
            <a:pPr>
              <a:lnSpc>
                <a:spcPct val="134000"/>
              </a:lnSpc>
              <a:spcAft>
                <a:spcPts val="0"/>
              </a:spcAft>
            </a:pPr>
            <a:r>
              <a:rPr sz="1050" b="0" i="0">
                <a:solidFill>
                  <a:srgbClr val="39424F"/>
                </a:solidFill>
                <a:latin typeface="Consolas"/>
              </a:rPr>
              <a:t>  reference_accepted  : false</a:t>
            </a:r>
          </a:p>
          <a:p>
            <a:pPr>
              <a:lnSpc>
                <a:spcPct val="134000"/>
              </a:lnSpc>
              <a:spcAft>
                <a:spcPts val="0"/>
              </a:spcAft>
            </a:pPr>
            <a:r>
              <a:rPr sz="1050" b="0" i="0">
                <a:solidFill>
                  <a:srgbClr val="39424F"/>
                </a:solidFill>
                <a:latin typeface="Consolas"/>
              </a:rPr>
              <a:t>  reference_reason    : "deterministic sample index mismatch"</a:t>
            </a:r>
          </a:p>
          <a:p>
            <a:pPr>
              <a:lnSpc>
                <a:spcPct val="134000"/>
              </a:lnSpc>
              <a:spcAft>
                <a:spcPts val="0"/>
              </a:spcAft>
            </a:pPr>
            <a:r>
              <a:rPr sz="1050" b="0" i="0">
                <a:solidFill>
                  <a:srgbClr val="39424F"/>
                </a:solidFill>
                <a:latin typeface="Consolas"/>
              </a:rPr>
              <a:t>  execute_passed      : false</a:t>
            </a:r>
          </a:p>
          <a:p>
            <a:pPr>
              <a:lnSpc>
                <a:spcPct val="134000"/>
              </a:lnSpc>
              <a:spcAft>
                <a:spcPts val="0"/>
              </a:spcAft>
            </a:pPr>
            <a:r>
              <a:rPr sz="1050" b="0" i="0">
                <a:solidFill>
                  <a:srgbClr val="39424F"/>
                </a:solidFill>
                <a:latin typeface="Consolas"/>
              </a:rPr>
              <a:t>  execute_return_code : 101      ← panic Rust</a:t>
            </a:r>
          </a:p>
          <a:p>
            <a:pPr>
              <a:lnSpc>
                <a:spcPct val="134000"/>
              </a:lnSpc>
              <a:spcAft>
                <a:spcPts val="0"/>
              </a:spcAft>
            </a:pPr>
            <a:r>
              <a:rPr sz="1050" b="0" i="0">
                <a:solidFill>
                  <a:srgbClr val="39424F"/>
                </a:solidFill>
                <a:latin typeface="Consolas"/>
              </a:rPr>
              <a:t>  passed              : true     ← BÀI KIỂM ĐẠT</a:t>
            </a:r>
          </a:p>
        </p:txBody>
      </p:sp>
      <p:sp>
        <p:nvSpPr>
          <p:cNvPr id="9" name="TextBox 8"/>
          <p:cNvSpPr txBox="1"/>
          <p:nvPr/>
        </p:nvSpPr>
        <p:spPr>
          <a:xfrm>
            <a:off x="877824" y="5202936"/>
            <a:ext cx="462686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PASSED: TRUE NGHĨA LÀ GÌ</a:t>
            </a:r>
          </a:p>
          <a:p>
            <a:pPr>
              <a:lnSpc>
                <a:spcPct val="122000"/>
              </a:lnSpc>
            </a:pPr>
            <a:r>
              <a:rPr sz="1250" b="1" i="0">
                <a:solidFill>
                  <a:srgbClr val="141821"/>
                </a:solidFill>
                <a:latin typeface="Segoe UI"/>
              </a:rPr>
              <a:t>Không</a:t>
            </a:r>
            <a:r>
              <a:rPr sz="1250" b="0" i="0">
                <a:solidFill>
                  <a:srgbClr val="39424F"/>
                </a:solidFill>
                <a:latin typeface="Segoe UI"/>
              </a:rPr>
              <a:t> phải bản giả mạo qua được — mà là </a:t>
            </a:r>
            <a:r>
              <a:rPr sz="1250" b="1" i="0">
                <a:solidFill>
                  <a:srgbClr val="141821"/>
                </a:solidFill>
                <a:latin typeface="Segoe UI"/>
              </a:rPr>
              <a:t>bài kiểm</a:t>
            </a:r>
            <a:r>
              <a:rPr sz="1250" b="0" i="0">
                <a:solidFill>
                  <a:srgbClr val="39424F"/>
                </a:solidFill>
                <a:latin typeface="Segoe UI"/>
              </a:rPr>
              <a:t> qua được, tức hệ đã bắt đúng. passed: false mới là tin xấu.</a:t>
            </a:r>
          </a:p>
        </p:txBody>
      </p:sp>
      <p:sp>
        <p:nvSpPr>
          <p:cNvPr id="12" name="Rectangle 11"/>
          <p:cNvSpPr/>
          <p:nvPr/>
        </p:nvSpPr>
        <p:spPr>
          <a:xfrm>
            <a:off x="6355080" y="2011680"/>
            <a:ext cx="24460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139696"/>
            <a:ext cx="2446020" cy="457200"/>
          </a:xfrm>
          <a:prstGeom prst="rect">
            <a:avLst/>
          </a:prstGeom>
          <a:noFill/>
        </p:spPr>
        <p:txBody>
          <a:bodyPr wrap="square" lIns="0" rIns="0" tIns="0" bIns="0">
            <a:spAutoFit/>
          </a:bodyPr>
          <a:lstStyle/>
          <a:p>
            <a:r>
              <a:rPr sz="2400" b="1" i="0">
                <a:solidFill>
                  <a:srgbClr val="141821"/>
                </a:solidFill>
                <a:latin typeface="Segoe UI"/>
              </a:rPr>
              <a:t>233/236</a:t>
            </a:r>
          </a:p>
        </p:txBody>
      </p:sp>
      <p:sp>
        <p:nvSpPr>
          <p:cNvPr id="14" name="TextBox 13"/>
          <p:cNvSpPr txBox="1"/>
          <p:nvPr/>
        </p:nvSpPr>
        <p:spPr>
          <a:xfrm>
            <a:off x="6355080" y="2490216"/>
            <a:ext cx="244602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bị từ chối đúng như dự đoán</a:t>
            </a:r>
          </a:p>
        </p:txBody>
      </p:sp>
      <p:sp>
        <p:nvSpPr>
          <p:cNvPr id="15" name="Rectangle 14"/>
          <p:cNvSpPr/>
          <p:nvPr/>
        </p:nvSpPr>
        <p:spPr>
          <a:xfrm>
            <a:off x="9075420" y="2011680"/>
            <a:ext cx="24460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5420" y="2139696"/>
            <a:ext cx="2446020" cy="457200"/>
          </a:xfrm>
          <a:prstGeom prst="rect">
            <a:avLst/>
          </a:prstGeom>
          <a:noFill/>
        </p:spPr>
        <p:txBody>
          <a:bodyPr wrap="square" lIns="0" rIns="0" tIns="0" bIns="0">
            <a:spAutoFit/>
          </a:bodyPr>
          <a:lstStyle/>
          <a:p>
            <a:r>
              <a:rPr sz="2400" b="1" i="0">
                <a:solidFill>
                  <a:srgbClr val="141821"/>
                </a:solidFill>
                <a:latin typeface="Segoe UI"/>
              </a:rPr>
              <a:t>19</a:t>
            </a:r>
          </a:p>
        </p:txBody>
      </p:sp>
      <p:sp>
        <p:nvSpPr>
          <p:cNvPr id="17" name="TextBox 16"/>
          <p:cNvSpPr txBox="1"/>
          <p:nvPr/>
        </p:nvSpPr>
        <p:spPr>
          <a:xfrm>
            <a:off x="9075420" y="2490216"/>
            <a:ext cx="2446020" cy="640080"/>
          </a:xfrm>
          <a:prstGeom prst="rect">
            <a:avLst/>
          </a:prstGeom>
          <a:noFill/>
        </p:spPr>
        <p:txBody>
          <a:bodyPr wrap="square" lIns="0" rIns="0" tIns="0" bIns="0">
            <a:spAutoFit/>
          </a:bodyPr>
          <a:lstStyle/>
          <a:p>
            <a:pPr>
              <a:lnSpc>
                <a:spcPct val="118000"/>
              </a:lnSpc>
            </a:pPr>
            <a:r>
              <a:rPr sz="1050" b="0" i="0">
                <a:solidFill>
                  <a:srgbClr val="6B7581"/>
                </a:solidFill>
                <a:latin typeface="Segoe UI"/>
              </a:rPr>
              <a:t>nhóm tấn công, trên 20 thành phần</a:t>
            </a:r>
          </a:p>
        </p:txBody>
      </p:sp>
      <p:graphicFrame>
        <p:nvGraphicFramePr>
          <p:cNvPr id="18" name="Table 17"/>
          <p:cNvGraphicFramePr>
            <a:graphicFrameLocks noGrp="1"/>
          </p:cNvGraphicFramePr>
          <p:nvPr/>
        </p:nvGraphicFramePr>
        <p:xfrm>
          <a:off x="6355080" y="3200400"/>
          <a:ext cx="5166360" cy="2048256"/>
        </p:xfrm>
        <a:graphic>
          <a:graphicData uri="http://schemas.openxmlformats.org/drawingml/2006/table">
            <a:tbl>
              <a:tblPr bandRow="1">
                <a:tableStyleId>{5C22544A-7EE6-4342-B048-85BDC9FD1C3A}</a:tableStyleId>
              </a:tblPr>
              <a:tblGrid>
                <a:gridCol w="3874770"/>
                <a:gridCol w="1291590"/>
              </a:tblGrid>
              <a:tr h="292608">
                <a:tc>
                  <a:txBody>
                    <a:bodyPr/>
                    <a:lstStyle/>
                    <a:p>
                      <a:r>
                        <a:rPr sz="950" b="1" i="0">
                          <a:solidFill>
                            <a:srgbClr val="6B7581"/>
                          </a:solidFill>
                          <a:latin typeface="Segoe UI"/>
                        </a:rPr>
                        <a:t>TẦNG BẮT ĐƯỢC</a:t>
                      </a:r>
                    </a:p>
                  </a:txBody>
                  <a:tcPr marL="64008" marR="64008" marT="27432" marB="27432" anchor="ctr">
                    <a:solidFill>
                      <a:srgbClr val="FFFFFF"/>
                    </a:solidFill>
                  </a:tcPr>
                </a:tc>
                <a:tc>
                  <a:txBody>
                    <a:bodyPr/>
                    <a:lstStyle/>
                    <a:p>
                      <a:pPr algn="r"/>
                      <a:r>
                        <a:rPr sz="950" b="1" i="0">
                          <a:solidFill>
                            <a:srgbClr val="6B7581"/>
                          </a:solidFill>
                          <a:latin typeface="Segoe UI"/>
                        </a:rPr>
                        <a:t>SỐ CA</a:t>
                      </a:r>
                    </a:p>
                  </a:txBody>
                  <a:tcPr marL="64008" marR="64008" marT="27432" marB="27432" anchor="ctr">
                    <a:solidFill>
                      <a:srgbClr val="FFFFFF"/>
                    </a:solidFill>
                  </a:tcPr>
                </a:tc>
              </a:tr>
              <a:tr h="292608">
                <a:tc>
                  <a:txBody>
                    <a:bodyPr/>
                    <a:lstStyle/>
                    <a:p>
                      <a:r>
                        <a:rPr sz="1100" b="0" i="0">
                          <a:solidFill>
                            <a:srgbClr val="39424F"/>
                          </a:solidFill>
                          <a:latin typeface="Segoe UI"/>
                        </a:rPr>
                        <a:t>oracle Python</a:t>
                      </a:r>
                    </a:p>
                  </a:txBody>
                  <a:tcPr marL="64008" marR="64008" marT="27432" marB="27432" anchor="ctr">
                    <a:solidFill>
                      <a:srgbClr val="FFFFFF"/>
                    </a:solidFill>
                  </a:tcPr>
                </a:tc>
                <a:tc>
                  <a:txBody>
                    <a:bodyPr/>
                    <a:lstStyle/>
                    <a:p>
                      <a:pPr algn="r"/>
                      <a:r>
                        <a:rPr sz="1100" b="0" i="0">
                          <a:solidFill>
                            <a:srgbClr val="39424F"/>
                          </a:solidFill>
                          <a:latin typeface="Consolas"/>
                        </a:rPr>
                        <a:t>103</a:t>
                      </a:r>
                    </a:p>
                  </a:txBody>
                  <a:tcPr marL="64008" marR="64008" marT="27432" marB="27432" anchor="ctr">
                    <a:solidFill>
                      <a:srgbClr val="FFFFFF"/>
                    </a:solidFill>
                  </a:tcPr>
                </a:tc>
              </a:tr>
              <a:tr h="292608">
                <a:tc>
                  <a:txBody>
                    <a:bodyPr/>
                    <a:lstStyle/>
                    <a:p>
                      <a:r>
                        <a:rPr sz="1100" b="1" i="0">
                          <a:solidFill>
                            <a:srgbClr val="141821"/>
                          </a:solidFill>
                          <a:latin typeface="Segoe UI"/>
                        </a:rPr>
                        <a:t>guest Rust panic (exit 101)</a:t>
                      </a:r>
                    </a:p>
                  </a:txBody>
                  <a:tcPr marL="64008" marR="64008" marT="27432" marB="27432" anchor="ctr">
                    <a:solidFill>
                      <a:srgbClr val="DCEAE8"/>
                    </a:solidFill>
                  </a:tcPr>
                </a:tc>
                <a:tc>
                  <a:txBody>
                    <a:bodyPr/>
                    <a:lstStyle/>
                    <a:p>
                      <a:pPr algn="r"/>
                      <a:r>
                        <a:rPr sz="1100" b="0" i="0">
                          <a:solidFill>
                            <a:srgbClr val="39424F"/>
                          </a:solidFill>
                          <a:latin typeface="Consolas"/>
                        </a:rPr>
                        <a:t>62</a:t>
                      </a:r>
                    </a:p>
                  </a:txBody>
                  <a:tcPr marL="64008" marR="64008" marT="27432" marB="27432" anchor="ctr">
                    <a:solidFill>
                      <a:srgbClr val="DCEAE8"/>
                    </a:solidFill>
                  </a:tcPr>
                </a:tc>
              </a:tr>
              <a:tr h="292608">
                <a:tc>
                  <a:txBody>
                    <a:bodyPr/>
                    <a:lstStyle/>
                    <a:p>
                      <a:r>
                        <a:rPr sz="1100" b="0" i="0">
                          <a:solidFill>
                            <a:srgbClr val="39424F"/>
                          </a:solidFill>
                          <a:latin typeface="Segoe UI"/>
                        </a:rPr>
                        <a:t>ràng buộc public input</a:t>
                      </a:r>
                    </a:p>
                  </a:txBody>
                  <a:tcPr marL="64008" marR="64008" marT="27432" marB="27432" anchor="ctr">
                    <a:solidFill>
                      <a:srgbClr val="FFFFFF"/>
                    </a:solidFill>
                  </a:tcPr>
                </a:tc>
                <a:tc>
                  <a:txBody>
                    <a:bodyPr/>
                    <a:lstStyle/>
                    <a:p>
                      <a:pPr algn="r"/>
                      <a:r>
                        <a:rPr sz="1100" b="0" i="0">
                          <a:solidFill>
                            <a:srgbClr val="39424F"/>
                          </a:solidFill>
                          <a:latin typeface="Consolas"/>
                        </a:rPr>
                        <a:t>57</a:t>
                      </a:r>
                    </a:p>
                  </a:txBody>
                  <a:tcPr marL="64008" marR="64008" marT="27432" marB="27432" anchor="ctr">
                    <a:solidFill>
                      <a:srgbClr val="FFFFFF"/>
                    </a:solidFill>
                  </a:tcPr>
                </a:tc>
              </a:tr>
              <a:tr h="292608">
                <a:tc>
                  <a:txBody>
                    <a:bodyPr/>
                    <a:lstStyle/>
                    <a:p>
                      <a:r>
                        <a:rPr sz="1100" b="0" i="0">
                          <a:solidFill>
                            <a:srgbClr val="39424F"/>
                          </a:solidFill>
                          <a:latin typeface="Segoe UI"/>
                        </a:rPr>
                        <a:t>cam kết dataset</a:t>
                      </a:r>
                    </a:p>
                  </a:txBody>
                  <a:tcPr marL="64008" marR="64008" marT="27432" marB="27432" anchor="ctr">
                    <a:solidFill>
                      <a:srgbClr val="FFFFFF"/>
                    </a:solidFill>
                  </a:tcPr>
                </a:tc>
                <a:tc>
                  <a:txBody>
                    <a:bodyPr/>
                    <a:lstStyle/>
                    <a:p>
                      <a:pPr algn="r"/>
                      <a:r>
                        <a:rPr sz="1100" b="0" i="0">
                          <a:solidFill>
                            <a:srgbClr val="39424F"/>
                          </a:solidFill>
                          <a:latin typeface="Consolas"/>
                        </a:rPr>
                        <a:t>7</a:t>
                      </a:r>
                    </a:p>
                  </a:txBody>
                  <a:tcPr marL="64008" marR="64008" marT="27432" marB="27432" anchor="ctr">
                    <a:solidFill>
                      <a:srgbClr val="FFFFFF"/>
                    </a:solidFill>
                  </a:tcPr>
                </a:tc>
              </a:tr>
              <a:tr h="292608">
                <a:tc>
                  <a:txBody>
                    <a:bodyPr/>
                    <a:lstStyle/>
                    <a:p>
                      <a:r>
                        <a:rPr sz="1100" b="0" i="0">
                          <a:solidFill>
                            <a:srgbClr val="39424F"/>
                          </a:solidFill>
                          <a:latin typeface="Segoe UI"/>
                        </a:rPr>
                        <a:t>kiểm toán dữ liệu</a:t>
                      </a:r>
                    </a:p>
                  </a:txBody>
                  <a:tcPr marL="64008" marR="64008" marT="27432" marB="27432" anchor="ctr">
                    <a:solidFill>
                      <a:srgbClr val="FFFFFF"/>
                    </a:solidFill>
                  </a:tcPr>
                </a:tc>
                <a:tc>
                  <a:txBody>
                    <a:bodyPr/>
                    <a:lstStyle/>
                    <a:p>
                      <a:pPr algn="r"/>
                      <a:r>
                        <a:rPr sz="1100" b="0" i="0">
                          <a:solidFill>
                            <a:srgbClr val="39424F"/>
                          </a:solidFill>
                          <a:latin typeface="Consolas"/>
                        </a:rPr>
                        <a:t>4</a:t>
                      </a:r>
                    </a:p>
                  </a:txBody>
                  <a:tcPr marL="64008" marR="64008" marT="27432" marB="27432" anchor="ctr">
                    <a:solidFill>
                      <a:srgbClr val="FFFFFF"/>
                    </a:solidFill>
                  </a:tcPr>
                </a:tc>
              </a:tr>
              <a:tr h="292608">
                <a:tc>
                  <a:txBody>
                    <a:bodyPr/>
                    <a:lstStyle/>
                    <a:p>
                      <a:r>
                        <a:rPr sz="1100" b="0" i="0">
                          <a:solidFill>
                            <a:srgbClr val="39424F"/>
                          </a:solidFill>
                          <a:latin typeface="Segoe UI"/>
                        </a:rPr>
                        <a:t>không áp dụng — đều có lý do</a:t>
                      </a:r>
                    </a:p>
                  </a:txBody>
                  <a:tcPr marL="64008" marR="64008" marT="27432" marB="27432" anchor="ctr">
                    <a:solidFill>
                      <a:srgbClr val="FFFFFF"/>
                    </a:solidFill>
                  </a:tcPr>
                </a:tc>
                <a:tc>
                  <a:txBody>
                    <a:bodyPr/>
                    <a:lstStyle/>
                    <a:p>
                      <a:pPr algn="r"/>
                      <a:r>
                        <a:rPr sz="1100" b="0" i="0">
                          <a:solidFill>
                            <a:srgbClr val="39424F"/>
                          </a:solidFill>
                          <a:latin typeface="Consolas"/>
                        </a:rPr>
                        <a:t>3</a:t>
                      </a:r>
                    </a:p>
                  </a:txBody>
                  <a:tcPr marL="64008" marR="64008" marT="27432" marB="27432" anchor="ctr">
                    <a:solidFill>
                      <a:srgbClr val="FFFFFF"/>
                    </a:solidFill>
                  </a:tcPr>
                </a:tc>
              </a:tr>
            </a:tbl>
          </a:graphicData>
        </a:graphic>
      </p:graphicFrame>
      <p:sp>
        <p:nvSpPr>
          <p:cNvPr id="19" name="TextBox 18"/>
          <p:cNvSpPr txBox="1"/>
          <p:nvPr/>
        </p:nvSpPr>
        <p:spPr>
          <a:xfrm>
            <a:off x="6355080" y="5138928"/>
            <a:ext cx="5166360" cy="365760"/>
          </a:xfrm>
          <a:prstGeom prst="rect">
            <a:avLst/>
          </a:prstGeom>
          <a:noFill/>
        </p:spPr>
        <p:txBody>
          <a:bodyPr wrap="square" lIns="0" rIns="0" tIns="0" bIns="0">
            <a:spAutoFit/>
          </a:bodyPr>
          <a:lstStyle/>
          <a:p>
            <a:pPr>
              <a:lnSpc>
                <a:spcPct val="120000"/>
              </a:lnSpc>
            </a:pPr>
            <a:r>
              <a:rPr sz="1100" b="0" i="0">
                <a:solidFill>
                  <a:srgbClr val="39424F"/>
                </a:solidFill>
                <a:latin typeface="Segoe UI"/>
              </a:rPr>
              <a:t>Bốn cách gian lận ở slide 2 đều có nhóm riêng: </a:t>
            </a:r>
            <a:r>
              <a:rPr sz="1100" b="1" i="0">
                <a:solidFill>
                  <a:srgbClr val="141821"/>
                </a:solidFill>
                <a:latin typeface="Segoe UI"/>
              </a:rPr>
              <a:t>reward 6 · done 6 · td_target 4 · gradient 7</a:t>
            </a:r>
            <a:r>
              <a:rPr sz="1100" b="0" i="0">
                <a:solidFill>
                  <a:srgbClr val="39424F"/>
                </a:solidFill>
                <a:latin typeface="Segoe UI"/>
              </a:rPr>
              <a:t>. Nhóm lớn nhất: proof_public_input 59, minibatch_index 43, checkpoint_hash 30.</a:t>
            </a:r>
          </a:p>
        </p:txBody>
      </p:sp>
      <p:sp>
        <p:nvSpPr>
          <p:cNvPr id="20" name="TextBox 19"/>
          <p:cNvSpPr txBox="1"/>
          <p:nvPr/>
        </p:nvSpPr>
        <p:spPr>
          <a:xfrm>
            <a:off x="6574536" y="5760720"/>
            <a:ext cx="476402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GIỚI HẠN — TỰ NÓI RA TRƯỚC</a:t>
            </a:r>
          </a:p>
          <a:p>
            <a:pPr>
              <a:lnSpc>
                <a:spcPct val="122000"/>
              </a:lnSpc>
            </a:pPr>
            <a:r>
              <a:rPr sz="1250" b="0" i="0">
                <a:solidFill>
                  <a:srgbClr val="39424F"/>
                </a:solidFill>
                <a:latin typeface="Segoe UI"/>
              </a:rPr>
              <a:t>Bộ này kiểm giả mạo </a:t>
            </a:r>
            <a:r>
              <a:rPr sz="1250" b="1" i="0">
                <a:solidFill>
                  <a:srgbClr val="141821"/>
                </a:solidFill>
                <a:latin typeface="Segoe UI"/>
              </a:rPr>
              <a:t>theo từng trường</a:t>
            </a:r>
            <a:r>
              <a:rPr sz="1250" b="0" i="0">
                <a:solidFill>
                  <a:srgbClr val="39424F"/>
                </a:solidFill>
                <a:latin typeface="Segoe UI"/>
              </a:rPr>
              <a:t>, nên </a:t>
            </a:r>
            <a:r>
              <a:rPr sz="1250" b="1" i="0">
                <a:solidFill>
                  <a:srgbClr val="141821"/>
                </a:solidFill>
                <a:latin typeface="Segoe UI"/>
              </a:rPr>
              <a:t>không</a:t>
            </a:r>
            <a:r>
              <a:rPr sz="1250" b="0" i="0">
                <a:solidFill>
                  <a:srgbClr val="39424F"/>
                </a:solidFill>
                <a:latin typeface="Segoe UI"/>
              </a:rPr>
              <a:t> phủ được lỗi *ngữ nghĩa*: khi không trường nào bị sửa mà quan hệ vẫn chứng minh *sai thứ*.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Rectangle 6"/>
          <p:cNvSpPr/>
          <p:nvPr/>
        </p:nvSpPr>
        <p:spPr>
          <a:xfrm>
            <a:off x="658368" y="1965960"/>
            <a:ext cx="10881360" cy="842644"/>
          </a:xfrm>
          <a:prstGeom prst="rect">
            <a:avLst/>
          </a:prstGeom>
          <a:solidFill>
            <a:srgbClr val="F5E7E4"/>
          </a:solidFill>
          <a:ln w="9525">
            <a:solidFill>
              <a:srgbClr val="8C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65960"/>
            <a:ext cx="38100" cy="842644"/>
          </a:xfrm>
          <a:prstGeom prst="rect">
            <a:avLst/>
          </a:prstGeom>
          <a:solidFill>
            <a:srgbClr val="8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TỰ PHẢN BIỆN</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Bốn lỗi tự tìm ra — và cả bốn cùng một hình dạng</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21</a:t>
            </a:r>
          </a:p>
        </p:txBody>
      </p:sp>
      <p:sp>
        <p:nvSpPr>
          <p:cNvPr id="6" name="TextBox 5"/>
          <p:cNvSpPr txBox="1"/>
          <p:nvPr/>
        </p:nvSpPr>
        <p:spPr>
          <a:xfrm>
            <a:off x="877824" y="2093976"/>
            <a:ext cx="10479024" cy="365760"/>
          </a:xfrm>
          <a:prstGeom prst="rect">
            <a:avLst/>
          </a:prstGeom>
          <a:noFill/>
        </p:spPr>
        <p:txBody>
          <a:bodyPr wrap="square" lIns="0" rIns="0" tIns="0" bIns="0">
            <a:spAutoFit/>
          </a:bodyPr>
          <a:lstStyle/>
          <a:p>
            <a:pPr>
              <a:spcAft>
                <a:spcPts val="400"/>
              </a:spcAft>
            </a:pPr>
            <a:r>
              <a:rPr sz="1000" b="1" i="0">
                <a:solidFill>
                  <a:srgbClr val="8C3A2E"/>
                </a:solidFill>
                <a:latin typeface="Segoe UI"/>
              </a:rPr>
              <a:t>HÌNH DẠNG CHUNG</a:t>
            </a:r>
          </a:p>
          <a:p>
            <a:pPr>
              <a:lnSpc>
                <a:spcPct val="122000"/>
              </a:lnSpc>
            </a:pPr>
            <a:r>
              <a:rPr sz="1250" b="0" i="0">
                <a:solidFill>
                  <a:srgbClr val="39424F"/>
                </a:solidFill>
                <a:latin typeface="Segoe UI"/>
              </a:rPr>
              <a:t>Hệ thống </a:t>
            </a:r>
            <a:r>
              <a:rPr sz="1250" b="1" i="0">
                <a:solidFill>
                  <a:srgbClr val="141821"/>
                </a:solidFill>
                <a:latin typeface="Segoe UI"/>
              </a:rPr>
              <a:t>báo xanh</a:t>
            </a:r>
            <a:r>
              <a:rPr sz="1250" b="0" i="0">
                <a:solidFill>
                  <a:srgbClr val="39424F"/>
                </a:solidFill>
                <a:latin typeface="Segoe UI"/>
              </a:rPr>
              <a:t> trong khi thứ nó kiểm </a:t>
            </a:r>
            <a:r>
              <a:rPr sz="1250" b="1" i="0">
                <a:solidFill>
                  <a:srgbClr val="141821"/>
                </a:solidFill>
                <a:latin typeface="Segoe UI"/>
              </a:rPr>
              <a:t>không phải thứ ta tưởng</a:t>
            </a:r>
            <a:r>
              <a:rPr sz="1250" b="0" i="0">
                <a:solidFill>
                  <a:srgbClr val="39424F"/>
                </a:solidFill>
                <a:latin typeface="Segoe UI"/>
              </a:rPr>
              <a:t>. Đó là chế độ hỏng nguy hiểm nhất của một hệ chứng minh — không phải hỏng ầm ĩ, mà hỏng lặng lẽ trong khi mọi đèn đều xanh.</a:t>
            </a:r>
          </a:p>
        </p:txBody>
      </p:sp>
      <p:sp>
        <p:nvSpPr>
          <p:cNvPr id="9" name="TextBox 8"/>
          <p:cNvSpPr txBox="1"/>
          <p:nvPr/>
        </p:nvSpPr>
        <p:spPr>
          <a:xfrm>
            <a:off x="658368" y="2971800"/>
            <a:ext cx="5349240" cy="365760"/>
          </a:xfrm>
          <a:prstGeom prst="rect">
            <a:avLst/>
          </a:prstGeom>
          <a:noFill/>
        </p:spPr>
        <p:txBody>
          <a:bodyPr wrap="square" lIns="0" rIns="0" tIns="0" bIns="0">
            <a:spAutoFit/>
          </a:bodyPr>
          <a:lstStyle/>
          <a:p>
            <a:pPr>
              <a:lnSpc>
                <a:spcPct val="124000"/>
              </a:lnSpc>
              <a:spcAft>
                <a:spcPts val="600"/>
              </a:spcAft>
            </a:pPr>
            <a:r>
              <a:rPr sz="1200" b="1" i="0">
                <a:solidFill>
                  <a:srgbClr val="141821"/>
                </a:solidFill>
                <a:latin typeface="Segoe UI"/>
              </a:rPr>
              <a:t>1 · Mọi chunk lấy mẫu trùng nhau.</a:t>
            </a:r>
            <a:r>
              <a:rPr sz="1200" b="0" i="0">
                <a:solidFill>
                  <a:srgbClr val="39424F"/>
                </a:solidFill>
                <a:latin typeface="Segoe UI"/>
              </a:rPr>
              <a:t> sampler_seed là hằng số và step_id đếm trong nội bộ fragment:</a:t>
            </a:r>
          </a:p>
        </p:txBody>
      </p:sp>
      <p:sp>
        <p:nvSpPr>
          <p:cNvPr id="10" name="Rectangle 9"/>
          <p:cNvSpPr/>
          <p:nvPr/>
        </p:nvSpPr>
        <p:spPr>
          <a:xfrm>
            <a:off x="658368" y="3566160"/>
            <a:ext cx="5349240" cy="689356"/>
          </a:xfrm>
          <a:prstGeom prst="rect">
            <a:avLst/>
          </a:prstGeom>
          <a:solidFill>
            <a:srgbClr val="F2F4F6"/>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675888"/>
            <a:ext cx="5056632" cy="469900"/>
          </a:xfrm>
          <a:prstGeom prst="rect">
            <a:avLst/>
          </a:prstGeom>
          <a:noFill/>
        </p:spPr>
        <p:txBody>
          <a:bodyPr wrap="square" lIns="0" rIns="0" tIns="0" bIns="0">
            <a:spAutoFit/>
          </a:bodyPr>
          <a:lstStyle/>
          <a:p>
            <a:pPr>
              <a:lnSpc>
                <a:spcPct val="134000"/>
              </a:lnSpc>
              <a:spcAft>
                <a:spcPts val="0"/>
              </a:spcAft>
            </a:pPr>
            <a:r>
              <a:rPr sz="1100" b="0" i="0">
                <a:solidFill>
                  <a:srgbClr val="39424F"/>
                </a:solidFill>
                <a:latin typeface="Consolas"/>
              </a:rPr>
              <a:t>chunk 0 → [68, 83, 22, 125, 56, 55, 42, 1]</a:t>
            </a:r>
          </a:p>
          <a:p>
            <a:pPr>
              <a:lnSpc>
                <a:spcPct val="134000"/>
              </a:lnSpc>
              <a:spcAft>
                <a:spcPts val="0"/>
              </a:spcAft>
            </a:pPr>
            <a:r>
              <a:rPr sz="1100" b="0" i="0">
                <a:solidFill>
                  <a:srgbClr val="39424F"/>
                </a:solidFill>
                <a:latin typeface="Consolas"/>
              </a:rPr>
              <a:t>chunk 1 → [68, 83, 22, 125, 56, 55, 42, 1]</a:t>
            </a:r>
          </a:p>
        </p:txBody>
      </p:sp>
      <p:sp>
        <p:nvSpPr>
          <p:cNvPr id="12" name="TextBox 11"/>
          <p:cNvSpPr txBox="1"/>
          <p:nvPr/>
        </p:nvSpPr>
        <p:spPr>
          <a:xfrm>
            <a:off x="658368" y="4343400"/>
            <a:ext cx="5349240" cy="365760"/>
          </a:xfrm>
          <a:prstGeom prst="rect">
            <a:avLst/>
          </a:prstGeom>
          <a:noFill/>
        </p:spPr>
        <p:txBody>
          <a:bodyPr wrap="square" lIns="0" rIns="0" tIns="0" bIns="0">
            <a:spAutoFit/>
          </a:bodyPr>
          <a:lstStyle/>
          <a:p>
            <a:pPr>
              <a:lnSpc>
                <a:spcPct val="124000"/>
              </a:lnSpc>
              <a:spcAft>
                <a:spcPts val="600"/>
              </a:spcAft>
            </a:pPr>
            <a:r>
              <a:rPr sz="1200" b="0" i="0">
                <a:solidFill>
                  <a:srgbClr val="39424F"/>
                </a:solidFill>
                <a:latin typeface="Segoe UI"/>
              </a:rPr>
              <a:t>“Lượt chạy 1.248 bước” thực chất là </a:t>
            </a:r>
            <a:r>
              <a:rPr sz="1200" b="1" i="0">
                <a:solidFill>
                  <a:srgbClr val="141821"/>
                </a:solidFill>
                <a:latin typeface="Segoe UI"/>
              </a:rPr>
              <a:t>156 lần lặp trên 8 dòng</a:t>
            </a:r>
            <a:r>
              <a:rPr sz="1200" b="0" i="0">
                <a:solidFill>
                  <a:srgbClr val="39424F"/>
                </a:solidFill>
                <a:latin typeface="Segoe UI"/>
              </a:rPr>
              <a:t> của một dataset 50.000 dòng. Mọi hash khớp, mọi proof hợp lệ, và </a:t>
            </a:r>
            <a:r>
              <a:rPr sz="1200" b="1" i="0">
                <a:solidFill>
                  <a:srgbClr val="141821"/>
                </a:solidFill>
                <a:latin typeface="Segoe UI"/>
              </a:rPr>
              <a:t>cả 236 phép thử tamper đều xanh</a:t>
            </a:r>
            <a:r>
              <a:rPr sz="1200" b="0" i="0">
                <a:solidFill>
                  <a:srgbClr val="39424F"/>
                </a:solidFill>
                <a:latin typeface="Segoe UI"/>
              </a:rPr>
              <a:t> — vì không trường nào bị sửa.</a:t>
            </a:r>
          </a:p>
          <a:p>
            <a:pPr>
              <a:lnSpc>
                <a:spcPct val="124000"/>
              </a:lnSpc>
              <a:spcAft>
                <a:spcPts val="600"/>
              </a:spcAft>
            </a:pPr>
            <a:r>
              <a:rPr sz="1200" b="0" i="0">
                <a:solidFill>
                  <a:srgbClr val="39424F"/>
                </a:solidFill>
                <a:latin typeface="Segoe UI"/>
              </a:rPr>
              <a:t>Sửa: sampler_seed = H(dataset_root, global_step_start) → </a:t>
            </a:r>
            <a:r>
              <a:rPr sz="1200" b="1" i="0">
                <a:solidFill>
                  <a:srgbClr val="141821"/>
                </a:solidFill>
                <a:latin typeface="Segoe UI"/>
              </a:rPr>
              <a:t>Định lý 7</a:t>
            </a:r>
            <a:r>
              <a:rPr sz="1200" b="0" i="0">
                <a:solidFill>
                  <a:srgbClr val="39424F"/>
                </a:solidFill>
                <a:latin typeface="Segoe UI"/>
              </a:rPr>
              <a:t>.</a:t>
            </a:r>
          </a:p>
        </p:txBody>
      </p:sp>
      <p:sp>
        <p:nvSpPr>
          <p:cNvPr id="13" name="TextBox 12"/>
          <p:cNvSpPr txBox="1"/>
          <p:nvPr/>
        </p:nvSpPr>
        <p:spPr>
          <a:xfrm>
            <a:off x="6309360" y="2971800"/>
            <a:ext cx="5212080" cy="365760"/>
          </a:xfrm>
          <a:prstGeom prst="rect">
            <a:avLst/>
          </a:prstGeom>
          <a:noFill/>
        </p:spPr>
        <p:txBody>
          <a:bodyPr wrap="square" lIns="0" rIns="0" tIns="0" bIns="0">
            <a:spAutoFit/>
          </a:bodyPr>
          <a:lstStyle/>
          <a:p>
            <a:pPr>
              <a:lnSpc>
                <a:spcPct val="124000"/>
              </a:lnSpc>
              <a:spcAft>
                <a:spcPts val="600"/>
              </a:spcAft>
            </a:pPr>
            <a:r>
              <a:rPr sz="1200" b="1" i="0">
                <a:solidFill>
                  <a:srgbClr val="141821"/>
                </a:solidFill>
                <a:latin typeface="Segoe UI"/>
              </a:rPr>
              <a:t>2 · Guest tràn i64 trong im lặng.</a:t>
            </a:r>
            <a:r>
              <a:rPr sz="1200" b="0" i="0">
                <a:solidFill>
                  <a:srgbClr val="39424F"/>
                </a:solidFill>
                <a:latin typeface="Segoe UI"/>
              </a:rPr>
              <a:t> Q phân kỳ ×22 mỗi 156 bước, tới 4,14×10¹⁶, vượt trần 9,32×10¹⁵ → gói vòng thành số âm, guest vẫn chứng minh bình thường. Chỉ lộ ra vì *Python và Rust bất đồng*. Sửa → </a:t>
            </a:r>
            <a:r>
              <a:rPr sz="1200" b="1" i="0">
                <a:solidFill>
                  <a:srgbClr val="141821"/>
                </a:solidFill>
                <a:latin typeface="Segoe UI"/>
              </a:rPr>
              <a:t>Định lý 8</a:t>
            </a:r>
            <a:r>
              <a:rPr sz="1200" b="0" i="0">
                <a:solidFill>
                  <a:srgbClr val="39424F"/>
                </a:solidFill>
                <a:latin typeface="Segoe UI"/>
              </a:rPr>
              <a:t>, giá +10,7% cycles.</a:t>
            </a:r>
          </a:p>
          <a:p>
            <a:pPr>
              <a:lnSpc>
                <a:spcPct val="124000"/>
              </a:lnSpc>
              <a:spcAft>
                <a:spcPts val="600"/>
              </a:spcAft>
            </a:pPr>
            <a:r>
              <a:rPr sz="1200" b="1" i="0">
                <a:solidFill>
                  <a:srgbClr val="141821"/>
                </a:solidFill>
                <a:latin typeface="Segoe UI"/>
              </a:rPr>
              <a:t>3 · Số trong paper chưa từng nối với pipeline.</a:t>
            </a:r>
            <a:r>
              <a:rPr sz="1200" b="0" i="0">
                <a:solidFill>
                  <a:srgbClr val="39424F"/>
                </a:solidFill>
                <a:latin typeface="Segoe UI"/>
              </a:rPr>
              <a:t> Bảng gõ tay, trôi tới </a:t>
            </a:r>
            <a:r>
              <a:rPr sz="1200" b="1" i="0">
                <a:solidFill>
                  <a:srgbClr val="141821"/>
                </a:solidFill>
                <a:latin typeface="Segoe UI"/>
              </a:rPr>
              <a:t>116×</a:t>
            </a:r>
            <a:r>
              <a:rPr sz="1200" b="0" i="0">
                <a:solidFill>
                  <a:srgbClr val="39424F"/>
                </a:solidFill>
                <a:latin typeface="Segoe UI"/>
              </a:rPr>
              <a:t>: 440,6 s ghi trong paper, thực tế 3,8 s. Nay cả ba bảng được *sinh* và paper \input thẳng, cộng một test ghim 28 con số.</a:t>
            </a:r>
          </a:p>
          <a:p>
            <a:pPr>
              <a:lnSpc>
                <a:spcPct val="124000"/>
              </a:lnSpc>
              <a:spcAft>
                <a:spcPts val="600"/>
              </a:spcAft>
            </a:pPr>
            <a:r>
              <a:rPr sz="1200" b="1" i="0">
                <a:solidFill>
                  <a:srgbClr val="141821"/>
                </a:solidFill>
                <a:latin typeface="Segoe UI"/>
              </a:rPr>
              <a:t>4 · Hash guest ELF định danh lần build.</a:t>
            </a:r>
            <a:r>
              <a:rPr sz="1200" b="0" i="0">
                <a:solidFill>
                  <a:srgbClr val="39424F"/>
                </a:solidFill>
                <a:latin typeface="Segoe UI"/>
              </a:rPr>
              <a:t> Cùng nguồn, khác đường dẫn → b1e7a69d vs 1e2a8a38. Dùng để bắt “prove lại một nửa” thì đúng; làm mỏ neo tái lập thì sai — và paper nói đúng như vậy.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 name="Rectangle 11"/>
          <p:cNvSpPr/>
          <p:nvPr/>
        </p:nvSpPr>
        <p:spPr>
          <a:xfrm>
            <a:off x="658368" y="5394960"/>
            <a:ext cx="576072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539496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0" y="4251960"/>
            <a:ext cx="4663440" cy="1056956"/>
          </a:xfrm>
          <a:prstGeom prst="rect">
            <a:avLst/>
          </a:prstGeom>
          <a:solidFill>
            <a:srgbClr val="DCEAE8"/>
          </a:solidFill>
          <a:ln w="9525">
            <a:solidFill>
              <a:srgbClr val="176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0" y="4251960"/>
            <a:ext cx="38100" cy="1056956"/>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58368" y="384048"/>
            <a:ext cx="10874959" cy="274320"/>
          </a:xfrm>
          <a:prstGeom prst="rect">
            <a:avLst/>
          </a:prstGeom>
          <a:noFill/>
        </p:spPr>
        <p:txBody>
          <a:bodyPr wrap="square" lIns="0" rIns="0" tIns="0" bIns="0">
            <a:spAutoFit/>
          </a:bodyPr>
          <a:lstStyle/>
          <a:p>
            <a:r>
              <a:rPr sz="1100" b="1" i="0">
                <a:solidFill>
                  <a:srgbClr val="17605B"/>
                </a:solidFill>
                <a:latin typeface="Segoe UI"/>
              </a:rPr>
              <a:t>KẾT LUẬN</a:t>
            </a:r>
          </a:p>
        </p:txBody>
      </p:sp>
      <p:sp>
        <p:nvSpPr>
          <p:cNvPr id="3" name="TextBox 2"/>
          <p:cNvSpPr txBox="1"/>
          <p:nvPr/>
        </p:nvSpPr>
        <p:spPr>
          <a:xfrm>
            <a:off x="658368" y="658368"/>
            <a:ext cx="10874959" cy="658368"/>
          </a:xfrm>
          <a:prstGeom prst="rect">
            <a:avLst/>
          </a:prstGeom>
          <a:noFill/>
        </p:spPr>
        <p:txBody>
          <a:bodyPr wrap="square" lIns="0" rIns="0" tIns="0" bIns="0">
            <a:spAutoFit/>
          </a:bodyPr>
          <a:lstStyle/>
          <a:p>
            <a:r>
              <a:rPr sz="2700" b="1" i="0">
                <a:solidFill>
                  <a:srgbClr val="141821"/>
                </a:solidFill>
                <a:latin typeface="Segoe UI"/>
              </a:rPr>
              <a:t>Đóng góp, và ranh giới</a:t>
            </a:r>
          </a:p>
        </p:txBody>
      </p:sp>
      <p:sp>
        <p:nvSpPr>
          <p:cNvPr id="4" name="Rectangle 3"/>
          <p:cNvSpPr/>
          <p:nvPr/>
        </p:nvSpPr>
        <p:spPr>
          <a:xfrm>
            <a:off x="658368" y="1389888"/>
            <a:ext cx="960120" cy="31750"/>
          </a:xfrm>
          <a:prstGeom prst="rect">
            <a:avLst/>
          </a:prstGeom>
          <a:solidFill>
            <a:srgbClr val="176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382512"/>
            <a:ext cx="10874959" cy="237744"/>
          </a:xfrm>
          <a:prstGeom prst="rect">
            <a:avLst/>
          </a:prstGeom>
          <a:noFill/>
        </p:spPr>
        <p:txBody>
          <a:bodyPr wrap="square" lIns="0" rIns="0" tIns="0" bIns="0">
            <a:spAutoFit/>
          </a:bodyPr>
          <a:lstStyle/>
          <a:p>
            <a:r>
              <a:rPr sz="900" b="0" i="0">
                <a:solidFill>
                  <a:srgbClr val="D2D7DE"/>
                </a:solidFill>
                <a:latin typeface="Segoe UI"/>
              </a:rPr>
              <a:t>zk_offline_dqn</a:t>
            </a:r>
            <a:r>
              <a:rPr sz="900" b="1" i="0">
                <a:solidFill>
                  <a:srgbClr val="6B7581"/>
                </a:solidFill>
                <a:latin typeface="Consolas"/>
              </a:rPr>
              <a:t>     22</a:t>
            </a:r>
          </a:p>
        </p:txBody>
      </p:sp>
      <p:sp>
        <p:nvSpPr>
          <p:cNvPr id="6" name="TextBox 5"/>
          <p:cNvSpPr txBox="1"/>
          <p:nvPr/>
        </p:nvSpPr>
        <p:spPr>
          <a:xfrm>
            <a:off x="658368" y="2011680"/>
            <a:ext cx="5760720" cy="365760"/>
          </a:xfrm>
          <a:prstGeom prst="rect">
            <a:avLst/>
          </a:prstGeom>
          <a:noFill/>
        </p:spPr>
        <p:txBody>
          <a:bodyPr wrap="square" lIns="0" rIns="0" tIns="0" bIns="0">
            <a:spAutoFit/>
          </a:bodyPr>
          <a:lstStyle/>
          <a:p>
            <a:pPr>
              <a:lnSpc>
                <a:spcPct val="122000"/>
              </a:lnSpc>
              <a:spcAft>
                <a:spcPts val="900"/>
              </a:spcAft>
            </a:pPr>
            <a:r>
              <a:rPr sz="1250" b="1" i="0">
                <a:solidFill>
                  <a:srgbClr val="17605B"/>
                </a:solidFill>
                <a:latin typeface="Segoe UI"/>
              </a:rPr>
              <a:t>—  </a:t>
            </a:r>
            <a:r>
              <a:rPr sz="1250" b="1" i="0">
                <a:solidFill>
                  <a:srgbClr val="141821"/>
                </a:solidFill>
                <a:latin typeface="Segoe UI"/>
              </a:rPr>
              <a:t>Ba nghĩa vụ xác minh riêng của RL</a:t>
            </a:r>
            <a:r>
              <a:rPr sz="1250" b="0" i="0">
                <a:solidFill>
                  <a:srgbClr val="39424F"/>
                </a:solidFill>
                <a:latin typeface="Segoe UI"/>
              </a:rPr>
              <a:t> — nhãn do chính mô hình sinh ra, sync target là sự kiện rời rạc, lấy mẫu replay không có thứ tự chuẩn tắc — hình thức hoá thành </a:t>
            </a:r>
            <a:r>
              <a:rPr sz="1250" b="1" i="0">
                <a:solidFill>
                  <a:srgbClr val="141821"/>
                </a:solidFill>
                <a:latin typeface="Segoe UI"/>
              </a:rPr>
              <a:t>Định lý 7</a:t>
            </a:r>
            <a:r>
              <a:rPr sz="1250" b="0" i="0">
                <a:solidFill>
                  <a:srgbClr val="39424F"/>
                </a:solidFill>
                <a:latin typeface="Segoe UI"/>
              </a:rPr>
              <a:t> (sampler binding) và </a:t>
            </a:r>
            <a:r>
              <a:rPr sz="1250" b="1" i="0">
                <a:solidFill>
                  <a:srgbClr val="141821"/>
                </a:solidFill>
                <a:latin typeface="Segoe UI"/>
              </a:rPr>
              <a:t>Định lý 8</a:t>
            </a:r>
            <a:r>
              <a:rPr sz="1250" b="0" i="0">
                <a:solidFill>
                  <a:srgbClr val="39424F"/>
                </a:solidFill>
                <a:latin typeface="Segoe UI"/>
              </a:rPr>
              <a:t> (biên số học) trong 10 định lý.</a:t>
            </a:r>
          </a:p>
          <a:p>
            <a:pPr>
              <a:lnSpc>
                <a:spcPct val="122000"/>
              </a:lnSpc>
              <a:spcAft>
                <a:spcPts val="900"/>
              </a:spcAft>
            </a:pPr>
            <a:r>
              <a:rPr sz="1250" b="1" i="0">
                <a:solidFill>
                  <a:srgbClr val="17605B"/>
                </a:solidFill>
                <a:latin typeface="Segoe UI"/>
              </a:rPr>
              <a:t>—  </a:t>
            </a:r>
            <a:r>
              <a:rPr sz="1250" b="1" i="0">
                <a:solidFill>
                  <a:srgbClr val="141821"/>
                </a:solidFill>
                <a:latin typeface="Segoe UI"/>
              </a:rPr>
              <a:t>Một lượt huấn luyện 4.992 bước dưới một proof</a:t>
            </a:r>
            <a:r>
              <a:rPr sz="1250" b="0" i="0">
                <a:solidFill>
                  <a:srgbClr val="39424F"/>
                </a:solidFill>
                <a:latin typeface="Segoe UI"/>
              </a:rPr>
              <a:t>, verify trong 54 mili giây.</a:t>
            </a:r>
          </a:p>
          <a:p>
            <a:pPr>
              <a:lnSpc>
                <a:spcPct val="122000"/>
              </a:lnSpc>
              <a:spcAft>
                <a:spcPts val="900"/>
              </a:spcAft>
            </a:pPr>
            <a:r>
              <a:rPr sz="1250" b="1" i="0">
                <a:solidFill>
                  <a:srgbClr val="17605B"/>
                </a:solidFill>
                <a:latin typeface="Segoe UI"/>
              </a:rPr>
              <a:t>—  </a:t>
            </a:r>
            <a:r>
              <a:rPr sz="1250" b="1" i="0">
                <a:solidFill>
                  <a:srgbClr val="141821"/>
                </a:solidFill>
                <a:latin typeface="Segoe UI"/>
              </a:rPr>
              <a:t>Đo bằng số cái giá của “cấu hình chứng minh được”</a:t>
            </a:r>
            <a:r>
              <a:rPr sz="1250" b="0" i="0">
                <a:solidFill>
                  <a:srgbClr val="39424F"/>
                </a:solidFill>
                <a:latin typeface="Segoe UI"/>
              </a:rPr>
              <a:t> — và chỉ ra thứ đắt (batch size) *không* phải nguyên nhân; thứ miễn phí (sync interval) mới là.</a:t>
            </a:r>
          </a:p>
          <a:p>
            <a:pPr>
              <a:lnSpc>
                <a:spcPct val="122000"/>
              </a:lnSpc>
              <a:spcAft>
                <a:spcPts val="900"/>
              </a:spcAft>
            </a:pPr>
            <a:r>
              <a:rPr sz="1250" b="1" i="0">
                <a:solidFill>
                  <a:srgbClr val="17605B"/>
                </a:solidFill>
                <a:latin typeface="Segoe UI"/>
              </a:rPr>
              <a:t>—  </a:t>
            </a:r>
            <a:r>
              <a:rPr sz="1250" b="1" i="0">
                <a:solidFill>
                  <a:srgbClr val="141821"/>
                </a:solidFill>
                <a:latin typeface="Segoe UI"/>
              </a:rPr>
              <a:t>Hai lớp tấn công phát hiện bằng chính việc dựng hệ</a:t>
            </a:r>
            <a:r>
              <a:rPr sz="1250" b="0" i="0">
                <a:solidFill>
                  <a:srgbClr val="39424F"/>
                </a:solidFill>
                <a:latin typeface="Segoe UI"/>
              </a:rPr>
              <a:t>, mà benchmark tamper theo trường về nguyên tắc không thấy được.</a:t>
            </a:r>
          </a:p>
        </p:txBody>
      </p:sp>
      <p:graphicFrame>
        <p:nvGraphicFramePr>
          <p:cNvPr id="7" name="Table 6"/>
          <p:cNvGraphicFramePr>
            <a:graphicFrameLocks noGrp="1"/>
          </p:cNvGraphicFramePr>
          <p:nvPr/>
        </p:nvGraphicFramePr>
        <p:xfrm>
          <a:off x="6858000" y="2011680"/>
          <a:ext cx="4663439" cy="2048256"/>
        </p:xfrm>
        <a:graphic>
          <a:graphicData uri="http://schemas.openxmlformats.org/drawingml/2006/table">
            <a:tbl>
              <a:tblPr bandRow="1">
                <a:tableStyleId>{5C22544A-7EE6-4342-B048-85BDC9FD1C3A}</a:tableStyleId>
              </a:tblPr>
              <a:tblGrid>
                <a:gridCol w="2119745"/>
                <a:gridCol w="2543694"/>
              </a:tblGrid>
              <a:tr h="292608">
                <a:tc>
                  <a:txBody>
                    <a:bodyPr/>
                    <a:lstStyle/>
                    <a:p>
                      <a:r>
                        <a:rPr sz="900" b="1" i="0">
                          <a:solidFill>
                            <a:srgbClr val="6B7581"/>
                          </a:solidFill>
                          <a:latin typeface="Segoe UI"/>
                        </a:rPr>
                        <a:t>CÒN LẠI</a:t>
                      </a:r>
                    </a:p>
                  </a:txBody>
                  <a:tcPr marL="64008" marR="64008" marT="27432" marB="27432" anchor="ctr">
                    <a:solidFill>
                      <a:srgbClr val="FFFFFF"/>
                    </a:solidFill>
                  </a:tcPr>
                </a:tc>
                <a:tc>
                  <a:txBody>
                    <a:bodyPr/>
                    <a:lstStyle/>
                    <a:p>
                      <a:r>
                        <a:rPr sz="900" b="1" i="0">
                          <a:solidFill>
                            <a:srgbClr val="6B7581"/>
                          </a:solidFill>
                          <a:latin typeface="Segoe UI"/>
                        </a:rPr>
                        <a:t>TRẠNG THÁI</a:t>
                      </a:r>
                    </a:p>
                  </a:txBody>
                  <a:tcPr marL="64008" marR="64008" marT="27432" marB="27432" anchor="ctr">
                    <a:solidFill>
                      <a:srgbClr val="FFFFFF"/>
                    </a:solidFill>
                  </a:tcPr>
                </a:tc>
              </a:tr>
              <a:tr h="292608">
                <a:tc>
                  <a:txBody>
                    <a:bodyPr/>
                    <a:lstStyle/>
                    <a:p>
                      <a:r>
                        <a:rPr sz="1050" b="0" i="0">
                          <a:solidFill>
                            <a:srgbClr val="39424F"/>
                          </a:solidFill>
                          <a:latin typeface="Segoe UI"/>
                        </a:rPr>
                        <a:t>Proof 4.992 bước vào Bảng 2</a:t>
                      </a:r>
                    </a:p>
                  </a:txBody>
                  <a:tcPr marL="64008" marR="64008" marT="27432" marB="27432" anchor="ctr">
                    <a:solidFill>
                      <a:srgbClr val="FFFFFF"/>
                    </a:solidFill>
                  </a:tcPr>
                </a:tc>
                <a:tc>
                  <a:txBody>
                    <a:bodyPr/>
                    <a:lstStyle/>
                    <a:p>
                      <a:r>
                        <a:rPr sz="1050" b="0" i="0">
                          <a:solidFill>
                            <a:srgbClr val="39424F"/>
                          </a:solidFill>
                          <a:latin typeface="Segoe UI"/>
                        </a:rPr>
                        <a:t>chờ hash ELF tái lập được</a:t>
                      </a:r>
                    </a:p>
                  </a:txBody>
                  <a:tcPr marL="64008" marR="64008" marT="27432" marB="27432" anchor="ctr">
                    <a:solidFill>
                      <a:srgbClr val="FFFFFF"/>
                    </a:solidFill>
                  </a:tcPr>
                </a:tc>
              </a:tr>
              <a:tr h="292608">
                <a:tc>
                  <a:txBody>
                    <a:bodyPr/>
                    <a:lstStyle/>
                    <a:p>
                      <a:r>
                        <a:rPr sz="1050" b="0" i="0">
                          <a:solidFill>
                            <a:srgbClr val="39424F"/>
                          </a:solidFill>
                          <a:latin typeface="Segoe UI"/>
                        </a:rPr>
                        <a:t>CartPole quy mô 50.000 bước</a:t>
                      </a:r>
                    </a:p>
                  </a:txBody>
                  <a:tcPr marL="64008" marR="64008" marT="27432" marB="27432" anchor="ctr">
                    <a:solidFill>
                      <a:srgbClr val="FFFFFF"/>
                    </a:solidFill>
                  </a:tcPr>
                </a:tc>
                <a:tc>
                  <a:txBody>
                    <a:bodyPr/>
                    <a:lstStyle/>
                    <a:p>
                      <a:r>
                        <a:rPr sz="1050" b="0" i="0">
                          <a:solidFill>
                            <a:srgbClr val="39424F"/>
                          </a:solidFill>
                          <a:latin typeface="Segoe UI"/>
                        </a:rPr>
                        <a:t>≈ 68 giờ GPU, ≈ $82 — ngoài ngân sách</a:t>
                      </a:r>
                    </a:p>
                  </a:txBody>
                  <a:tcPr marL="64008" marR="64008" marT="27432" marB="27432" anchor="ctr">
                    <a:solidFill>
                      <a:srgbClr val="FFFFFF"/>
                    </a:solidFill>
                  </a:tcPr>
                </a:tc>
              </a:tr>
              <a:tr h="292608">
                <a:tc>
                  <a:txBody>
                    <a:bodyPr/>
                    <a:lstStyle/>
                    <a:p>
                      <a:r>
                        <a:rPr sz="1050" b="0" i="0">
                          <a:solidFill>
                            <a:srgbClr val="39424F"/>
                          </a:solidFill>
                          <a:latin typeface="Segoe UI"/>
                        </a:rPr>
                        <a:t>Chứng minh Adam</a:t>
                      </a:r>
                    </a:p>
                  </a:txBody>
                  <a:tcPr marL="64008" marR="64008" marT="27432" marB="27432" anchor="ctr">
                    <a:solidFill>
                      <a:srgbClr val="FFFFFF"/>
                    </a:solidFill>
                  </a:tcPr>
                </a:tc>
                <a:tc>
                  <a:txBody>
                    <a:bodyPr/>
                    <a:lstStyle/>
                    <a:p>
                      <a:r>
                        <a:rPr sz="1050" b="0" i="0">
                          <a:solidFill>
                            <a:srgbClr val="39424F"/>
                          </a:solidFill>
                          <a:latin typeface="Segoe UI"/>
                        </a:rPr>
                        <a:t>không khả thi ở FP_SCALE = 1000</a:t>
                      </a:r>
                    </a:p>
                  </a:txBody>
                  <a:tcPr marL="64008" marR="64008" marT="27432" marB="27432" anchor="ctr">
                    <a:solidFill>
                      <a:srgbClr val="FFFFFF"/>
                    </a:solidFill>
                  </a:tcPr>
                </a:tc>
              </a:tr>
              <a:tr h="292608">
                <a:tc>
                  <a:txBody>
                    <a:bodyPr/>
                    <a:lstStyle/>
                    <a:p>
                      <a:r>
                        <a:rPr sz="1050" b="0" i="0">
                          <a:solidFill>
                            <a:srgbClr val="39424F"/>
                          </a:solidFill>
                          <a:latin typeface="Segoe UI"/>
                        </a:rPr>
                        <a:t>Batch size &gt; 1</a:t>
                      </a:r>
                    </a:p>
                  </a:txBody>
                  <a:tcPr marL="64008" marR="64008" marT="27432" marB="27432" anchor="ctr">
                    <a:solidFill>
                      <a:srgbClr val="FFFFFF"/>
                    </a:solidFill>
                  </a:tcPr>
                </a:tc>
                <a:tc>
                  <a:txBody>
                    <a:bodyPr/>
                    <a:lstStyle/>
                    <a:p>
                      <a:r>
                        <a:rPr sz="1050" b="0" i="0">
                          <a:solidFill>
                            <a:srgbClr val="39424F"/>
                          </a:solidFill>
                          <a:latin typeface="Segoe UI"/>
                        </a:rPr>
                        <a:t>cần sửa quan hệ; cycles nhân theo batch</a:t>
                      </a:r>
                    </a:p>
                  </a:txBody>
                  <a:tcPr marL="64008" marR="64008" marT="27432" marB="27432" anchor="ctr">
                    <a:solidFill>
                      <a:srgbClr val="FFFFFF"/>
                    </a:solidFill>
                  </a:tcPr>
                </a:tc>
              </a:tr>
              <a:tr h="292608">
                <a:tc>
                  <a:txBody>
                    <a:bodyPr/>
                    <a:lstStyle/>
                    <a:p>
                      <a:r>
                        <a:rPr sz="1050" b="0" i="0">
                          <a:solidFill>
                            <a:srgbClr val="39424F"/>
                          </a:solidFill>
                          <a:latin typeface="Segoe UI"/>
                        </a:rPr>
                        <a:t>Bọc PLONK</a:t>
                      </a:r>
                    </a:p>
                  </a:txBody>
                  <a:tcPr marL="64008" marR="64008" marT="27432" marB="27432" anchor="ctr">
                    <a:solidFill>
                      <a:srgbClr val="FFFFFF"/>
                    </a:solidFill>
                  </a:tcPr>
                </a:tc>
                <a:tc>
                  <a:txBody>
                    <a:bodyPr/>
                    <a:lstStyle/>
                    <a:p>
                      <a:r>
                        <a:rPr sz="1050" b="0" i="0">
                          <a:solidFill>
                            <a:srgbClr val="39424F"/>
                          </a:solidFill>
                          <a:latin typeface="Segoe UI"/>
                        </a:rPr>
                        <a:t>≈ 60 GB RAM, vượt máy đã thuê (32 GB)</a:t>
                      </a:r>
                    </a:p>
                  </a:txBody>
                  <a:tcPr marL="64008" marR="64008" marT="27432" marB="27432" anchor="ctr">
                    <a:solidFill>
                      <a:srgbClr val="FFFFFF"/>
                    </a:solidFill>
                  </a:tcPr>
                </a:tc>
              </a:tr>
              <a:tr h="292608">
                <a:tc>
                  <a:txBody>
                    <a:bodyPr/>
                    <a:lstStyle/>
                    <a:p>
                      <a:r>
                        <a:rPr sz="1050" b="0" i="0">
                          <a:solidFill>
                            <a:srgbClr val="39424F"/>
                          </a:solidFill>
                          <a:latin typeface="Segoe UI"/>
                        </a:rPr>
                        <a:t>Nhánh CUDA cho 6 host còn lại</a:t>
                      </a:r>
                    </a:p>
                  </a:txBody>
                  <a:tcPr marL="64008" marR="64008" marT="27432" marB="27432" anchor="ctr">
                    <a:solidFill>
                      <a:srgbClr val="FFFFFF"/>
                    </a:solidFill>
                  </a:tcPr>
                </a:tc>
                <a:tc>
                  <a:txBody>
                    <a:bodyPr/>
                    <a:lstStyle/>
                    <a:p>
                      <a:r>
                        <a:rPr sz="1050" b="0" i="0">
                          <a:solidFill>
                            <a:srgbClr val="39424F"/>
                          </a:solidFill>
                          <a:latin typeface="Segoe UI"/>
                        </a:rPr>
                        <a:t>việc kỹ thuật thật, ngoài phạm vi</a:t>
                      </a:r>
                    </a:p>
                  </a:txBody>
                  <a:tcPr marL="64008" marR="64008" marT="27432" marB="27432" anchor="ctr">
                    <a:solidFill>
                      <a:srgbClr val="FFFFFF"/>
                    </a:solidFill>
                  </a:tcPr>
                </a:tc>
              </a:tr>
            </a:tbl>
          </a:graphicData>
        </a:graphic>
      </p:graphicFrame>
      <p:sp>
        <p:nvSpPr>
          <p:cNvPr id="8" name="TextBox 7"/>
          <p:cNvSpPr txBox="1"/>
          <p:nvPr/>
        </p:nvSpPr>
        <p:spPr>
          <a:xfrm>
            <a:off x="7077456" y="4379976"/>
            <a:ext cx="426110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CÂU ĐÓNG</a:t>
            </a:r>
          </a:p>
          <a:p>
            <a:pPr>
              <a:lnSpc>
                <a:spcPct val="122000"/>
              </a:lnSpc>
            </a:pPr>
            <a:r>
              <a:rPr sz="1250" b="0" i="0">
                <a:solidFill>
                  <a:srgbClr val="39424F"/>
                </a:solidFill>
                <a:latin typeface="Segoe UI"/>
              </a:rPr>
              <a:t>Giới hạn độ dài lượt chạy là ranh giới </a:t>
            </a:r>
            <a:r>
              <a:rPr sz="1250" b="1" i="0">
                <a:solidFill>
                  <a:srgbClr val="141821"/>
                </a:solidFill>
                <a:latin typeface="Segoe UI"/>
              </a:rPr>
              <a:t>đo được</a:t>
            </a:r>
            <a:r>
              <a:rPr sz="1250" b="0" i="0">
                <a:solidFill>
                  <a:srgbClr val="39424F"/>
                </a:solidFill>
                <a:latin typeface="Segoe UI"/>
              </a:rPr>
              <a:t>, không phải chỗ né tránh: Q phân kỳ theo hàm mũ, nên </a:t>
            </a:r>
            <a:r>
              <a:rPr sz="1250" b="1" i="0">
                <a:solidFill>
                  <a:srgbClr val="141821"/>
                </a:solidFill>
                <a:latin typeface="Segoe UI"/>
              </a:rPr>
              <a:t>hết số nguyên trước khi hết tiền thuê GPU</a:t>
            </a:r>
            <a:r>
              <a:rPr sz="1250" b="0" i="0">
                <a:solidFill>
                  <a:srgbClr val="39424F"/>
                </a:solidFill>
                <a:latin typeface="Segoe UI"/>
              </a:rPr>
              <a:t>.</a:t>
            </a:r>
          </a:p>
        </p:txBody>
      </p:sp>
      <p:sp>
        <p:nvSpPr>
          <p:cNvPr id="11" name="TextBox 10"/>
          <p:cNvSpPr txBox="1"/>
          <p:nvPr/>
        </p:nvSpPr>
        <p:spPr>
          <a:xfrm>
            <a:off x="877824" y="5522976"/>
            <a:ext cx="5358384" cy="365760"/>
          </a:xfrm>
          <a:prstGeom prst="rect">
            <a:avLst/>
          </a:prstGeom>
          <a:noFill/>
        </p:spPr>
        <p:txBody>
          <a:bodyPr wrap="square" lIns="0" rIns="0" tIns="0" bIns="0">
            <a:spAutoFit/>
          </a:bodyPr>
          <a:lstStyle/>
          <a:p>
            <a:pPr>
              <a:spcAft>
                <a:spcPts val="400"/>
              </a:spcAft>
            </a:pPr>
            <a:r>
              <a:rPr sz="1000" b="1" i="0">
                <a:solidFill>
                  <a:srgbClr val="17605B"/>
                </a:solidFill>
                <a:latin typeface="Segoe UI"/>
              </a:rPr>
              <a:t>TÁI LẬP — BA MỨC, MỨC ĐẦU KHÔNG CẦN GPU</a:t>
            </a:r>
          </a:p>
          <a:p>
            <a:pPr>
              <a:lnSpc>
                <a:spcPct val="122000"/>
              </a:lnSpc>
            </a:pPr>
            <a:r>
              <a:rPr sz="1250" b="0" i="0">
                <a:solidFill>
                  <a:srgbClr val="39424F"/>
                </a:solidFill>
                <a:latin typeface="Segoe UI"/>
              </a:rPr>
              <a:t>python -m unittest discover tests → 313 test, ~43 giây, chạy trên laptop. Mức 2: verify proof đã có. Mức 3: prove lại từ đầu, cần GPU.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